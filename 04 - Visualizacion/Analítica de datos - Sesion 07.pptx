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61"/>
  </p:notesMasterIdLst>
  <p:sldIdLst>
    <p:sldId id="256" r:id="rId2"/>
    <p:sldId id="502" r:id="rId3"/>
    <p:sldId id="526" r:id="rId4"/>
    <p:sldId id="377" r:id="rId5"/>
    <p:sldId id="470" r:id="rId6"/>
    <p:sldId id="381" r:id="rId7"/>
    <p:sldId id="557" r:id="rId8"/>
    <p:sldId id="558" r:id="rId9"/>
    <p:sldId id="559" r:id="rId10"/>
    <p:sldId id="562" r:id="rId11"/>
    <p:sldId id="561" r:id="rId12"/>
    <p:sldId id="560" r:id="rId13"/>
    <p:sldId id="504" r:id="rId14"/>
    <p:sldId id="506" r:id="rId15"/>
    <p:sldId id="564" r:id="rId16"/>
    <p:sldId id="582" r:id="rId17"/>
    <p:sldId id="567" r:id="rId18"/>
    <p:sldId id="568" r:id="rId19"/>
    <p:sldId id="569" r:id="rId20"/>
    <p:sldId id="570" r:id="rId21"/>
    <p:sldId id="573" r:id="rId22"/>
    <p:sldId id="576" r:id="rId23"/>
    <p:sldId id="574" r:id="rId24"/>
    <p:sldId id="577" r:id="rId25"/>
    <p:sldId id="579" r:id="rId26"/>
    <p:sldId id="580" r:id="rId27"/>
    <p:sldId id="581" r:id="rId28"/>
    <p:sldId id="583" r:id="rId29"/>
    <p:sldId id="584" r:id="rId30"/>
    <p:sldId id="585" r:id="rId31"/>
    <p:sldId id="566" r:id="rId32"/>
    <p:sldId id="592" r:id="rId33"/>
    <p:sldId id="549" r:id="rId34"/>
    <p:sldId id="586" r:id="rId35"/>
    <p:sldId id="396" r:id="rId36"/>
    <p:sldId id="572" r:id="rId37"/>
    <p:sldId id="397" r:id="rId38"/>
    <p:sldId id="587" r:id="rId39"/>
    <p:sldId id="588" r:id="rId40"/>
    <p:sldId id="398" r:id="rId41"/>
    <p:sldId id="589" r:id="rId42"/>
    <p:sldId id="590" r:id="rId43"/>
    <p:sldId id="399" r:id="rId44"/>
    <p:sldId id="591" r:id="rId45"/>
    <p:sldId id="403" r:id="rId46"/>
    <p:sldId id="404" r:id="rId47"/>
    <p:sldId id="405" r:id="rId48"/>
    <p:sldId id="407" r:id="rId49"/>
    <p:sldId id="408" r:id="rId50"/>
    <p:sldId id="409" r:id="rId51"/>
    <p:sldId id="410" r:id="rId52"/>
    <p:sldId id="411" r:id="rId53"/>
    <p:sldId id="412" r:id="rId54"/>
    <p:sldId id="413" r:id="rId55"/>
    <p:sldId id="414" r:id="rId56"/>
    <p:sldId id="418" r:id="rId57"/>
    <p:sldId id="326" r:id="rId58"/>
    <p:sldId id="419" r:id="rId59"/>
    <p:sldId id="349" r:id="rId6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8600D-9790-C6CB-8234-88EEAD7114E3}" v="543" dt="2025-06-18T07:44:04.780"/>
    <p1510:client id="{9E934492-6349-7893-8696-B3D7F56E9F45}" v="5773" dt="2025-06-17T07:52:31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Roman Pelaez" userId="S::enrique.romanpelaez@plexus.tech::eafb5844-583e-4749-bdf2-4c5817a5a417" providerId="AD" clId="Web-{7B18600D-9790-C6CB-8234-88EEAD7114E3}"/>
    <pc:docChg chg="addSld delSld modSld">
      <pc:chgData name="Enrique Roman Pelaez" userId="S::enrique.romanpelaez@plexus.tech::eafb5844-583e-4749-bdf2-4c5817a5a417" providerId="AD" clId="Web-{7B18600D-9790-C6CB-8234-88EEAD7114E3}" dt="2025-06-18T07:44:04.780" v="288" actId="1076"/>
      <pc:docMkLst>
        <pc:docMk/>
      </pc:docMkLst>
      <pc:sldChg chg="del">
        <pc:chgData name="Enrique Roman Pelaez" userId="S::enrique.romanpelaez@plexus.tech::eafb5844-583e-4749-bdf2-4c5817a5a417" providerId="AD" clId="Web-{7B18600D-9790-C6CB-8234-88EEAD7114E3}" dt="2025-06-18T07:38:48.472" v="246"/>
        <pc:sldMkLst>
          <pc:docMk/>
          <pc:sldMk cId="1406761866" sldId="401"/>
        </pc:sldMkLst>
      </pc:sldChg>
      <pc:sldChg chg="del">
        <pc:chgData name="Enrique Roman Pelaez" userId="S::enrique.romanpelaez@plexus.tech::eafb5844-583e-4749-bdf2-4c5817a5a417" providerId="AD" clId="Web-{7B18600D-9790-C6CB-8234-88EEAD7114E3}" dt="2025-06-18T07:38:44.565" v="245"/>
        <pc:sldMkLst>
          <pc:docMk/>
          <pc:sldMk cId="2315274" sldId="402"/>
        </pc:sldMkLst>
      </pc:sldChg>
      <pc:sldChg chg="addSp modSp add replId">
        <pc:chgData name="Enrique Roman Pelaez" userId="S::enrique.romanpelaez@plexus.tech::eafb5844-583e-4749-bdf2-4c5817a5a417" providerId="AD" clId="Web-{7B18600D-9790-C6CB-8234-88EEAD7114E3}" dt="2025-06-18T07:44:04.780" v="288" actId="1076"/>
        <pc:sldMkLst>
          <pc:docMk/>
          <pc:sldMk cId="1461002479" sldId="592"/>
        </pc:sldMkLst>
        <pc:spChg chg="mod">
          <ac:chgData name="Enrique Roman Pelaez" userId="S::enrique.romanpelaez@plexus.tech::eafb5844-583e-4749-bdf2-4c5817a5a417" providerId="AD" clId="Web-{7B18600D-9790-C6CB-8234-88EEAD7114E3}" dt="2025-06-18T07:21:01.558" v="5" actId="20577"/>
          <ac:spMkLst>
            <pc:docMk/>
            <pc:sldMk cId="1461002479" sldId="592"/>
            <ac:spMk id="2" creationId="{37F6E9E1-0AA7-EB5A-B919-6423DD964919}"/>
          </ac:spMkLst>
        </pc:spChg>
        <pc:spChg chg="mod">
          <ac:chgData name="Enrique Roman Pelaez" userId="S::enrique.romanpelaez@plexus.tech::eafb5844-583e-4749-bdf2-4c5817a5a417" providerId="AD" clId="Web-{7B18600D-9790-C6CB-8234-88EEAD7114E3}" dt="2025-06-18T07:43:27.076" v="285" actId="20577"/>
          <ac:spMkLst>
            <pc:docMk/>
            <pc:sldMk cId="1461002479" sldId="592"/>
            <ac:spMk id="5" creationId="{558E2F35-18F3-0F22-325D-C2689879C432}"/>
          </ac:spMkLst>
        </pc:spChg>
        <pc:picChg chg="add mod">
          <ac:chgData name="Enrique Roman Pelaez" userId="S::enrique.romanpelaez@plexus.tech::eafb5844-583e-4749-bdf2-4c5817a5a417" providerId="AD" clId="Web-{7B18600D-9790-C6CB-8234-88EEAD7114E3}" dt="2025-06-18T07:43:31.748" v="286" actId="1076"/>
          <ac:picMkLst>
            <pc:docMk/>
            <pc:sldMk cId="1461002479" sldId="592"/>
            <ac:picMk id="3" creationId="{0FF2BBF3-CB14-B54C-8BDE-CA977BADC09B}"/>
          </ac:picMkLst>
        </pc:picChg>
        <pc:picChg chg="add mod">
          <ac:chgData name="Enrique Roman Pelaez" userId="S::enrique.romanpelaez@plexus.tech::eafb5844-583e-4749-bdf2-4c5817a5a417" providerId="AD" clId="Web-{7B18600D-9790-C6CB-8234-88EEAD7114E3}" dt="2025-06-18T07:44:04.780" v="288" actId="1076"/>
          <ac:picMkLst>
            <pc:docMk/>
            <pc:sldMk cId="1461002479" sldId="592"/>
            <ac:picMk id="6" creationId="{F9889767-5DCC-1811-0D0B-3B96214DB2E8}"/>
          </ac:picMkLst>
        </pc:picChg>
      </pc:sldChg>
    </pc:docChg>
  </pc:docChgLst>
  <pc:docChgLst>
    <pc:chgData name="Enrique Roman Pelaez" userId="S::enrique.romanpelaez@plexus.tech::eafb5844-583e-4749-bdf2-4c5817a5a417" providerId="AD" clId="Web-{9E934492-6349-7893-8696-B3D7F56E9F45}"/>
    <pc:docChg chg="addSld delSld modSld sldOrd">
      <pc:chgData name="Enrique Roman Pelaez" userId="S::enrique.romanpelaez@plexus.tech::eafb5844-583e-4749-bdf2-4c5817a5a417" providerId="AD" clId="Web-{9E934492-6349-7893-8696-B3D7F56E9F45}" dt="2025-06-17T07:52:26.250" v="3760" actId="20577"/>
      <pc:docMkLst>
        <pc:docMk/>
      </pc:docMkLst>
      <pc:sldChg chg="modSp">
        <pc:chgData name="Enrique Roman Pelaez" userId="S::enrique.romanpelaez@plexus.tech::eafb5844-583e-4749-bdf2-4c5817a5a417" providerId="AD" clId="Web-{9E934492-6349-7893-8696-B3D7F56E9F45}" dt="2025-06-16T17:07:57.426" v="9" actId="20577"/>
        <pc:sldMkLst>
          <pc:docMk/>
          <pc:sldMk cId="2406273178" sldId="256"/>
        </pc:sldMkLst>
        <pc:spChg chg="mod">
          <ac:chgData name="Enrique Roman Pelaez" userId="S::enrique.romanpelaez@plexus.tech::eafb5844-583e-4749-bdf2-4c5817a5a417" providerId="AD" clId="Web-{9E934492-6349-7893-8696-B3D7F56E9F45}" dt="2025-06-16T17:07:57.426" v="9" actId="20577"/>
          <ac:spMkLst>
            <pc:docMk/>
            <pc:sldMk cId="2406273178" sldId="256"/>
            <ac:spMk id="2" creationId="{00000000-0000-0000-0000-000000000000}"/>
          </ac:spMkLst>
        </pc:spChg>
      </pc:sldChg>
      <pc:sldChg chg="add">
        <pc:chgData name="Enrique Roman Pelaez" userId="S::enrique.romanpelaez@plexus.tech::eafb5844-583e-4749-bdf2-4c5817a5a417" providerId="AD" clId="Web-{9E934492-6349-7893-8696-B3D7F56E9F45}" dt="2025-06-17T01:24:51.899" v="3715"/>
        <pc:sldMkLst>
          <pc:docMk/>
          <pc:sldMk cId="471544701" sldId="326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7T01:24:02.520" v="3711"/>
        <pc:sldMkLst>
          <pc:docMk/>
          <pc:sldMk cId="1121080803" sldId="376"/>
        </pc:sldMkLst>
      </pc:sldChg>
      <pc:sldChg chg="modSp ord">
        <pc:chgData name="Enrique Roman Pelaez" userId="S::enrique.romanpelaez@plexus.tech::eafb5844-583e-4749-bdf2-4c5817a5a417" providerId="AD" clId="Web-{9E934492-6349-7893-8696-B3D7F56E9F45}" dt="2025-06-17T07:52:26.250" v="3760" actId="20577"/>
        <pc:sldMkLst>
          <pc:docMk/>
          <pc:sldMk cId="2402712507" sldId="377"/>
        </pc:sldMkLst>
        <pc:spChg chg="mod">
          <ac:chgData name="Enrique Roman Pelaez" userId="S::enrique.romanpelaez@plexus.tech::eafb5844-583e-4749-bdf2-4c5817a5a417" providerId="AD" clId="Web-{9E934492-6349-7893-8696-B3D7F56E9F45}" dt="2025-06-17T07:52:26.250" v="3760" actId="20577"/>
          <ac:spMkLst>
            <pc:docMk/>
            <pc:sldMk cId="2402712507" sldId="377"/>
            <ac:spMk id="3" creationId="{E665A59D-79B3-0EB9-4069-C7346BACB6D3}"/>
          </ac:spMkLst>
        </pc:spChg>
      </pc:sldChg>
      <pc:sldChg chg="add del">
        <pc:chgData name="Enrique Roman Pelaez" userId="S::enrique.romanpelaez@plexus.tech::eafb5844-583e-4749-bdf2-4c5817a5a417" providerId="AD" clId="Web-{9E934492-6349-7893-8696-B3D7F56E9F45}" dt="2025-06-16T18:47:59.693" v="201"/>
        <pc:sldMkLst>
          <pc:docMk/>
          <pc:sldMk cId="3855826105" sldId="381"/>
        </pc:sldMkLst>
      </pc:sldChg>
      <pc:sldChg chg="delSp modSp ord">
        <pc:chgData name="Enrique Roman Pelaez" userId="S::enrique.romanpelaez@plexus.tech::eafb5844-583e-4749-bdf2-4c5817a5a417" providerId="AD" clId="Web-{9E934492-6349-7893-8696-B3D7F56E9F45}" dt="2025-06-17T00:55:12.782" v="3368" actId="1076"/>
        <pc:sldMkLst>
          <pc:docMk/>
          <pc:sldMk cId="2045747625" sldId="396"/>
        </pc:sldMkLst>
        <pc:spChg chg="mod">
          <ac:chgData name="Enrique Roman Pelaez" userId="S::enrique.romanpelaez@plexus.tech::eafb5844-583e-4749-bdf2-4c5817a5a417" providerId="AD" clId="Web-{9E934492-6349-7893-8696-B3D7F56E9F45}" dt="2025-06-17T00:55:03.438" v="3366" actId="20577"/>
          <ac:spMkLst>
            <pc:docMk/>
            <pc:sldMk cId="2045747625" sldId="396"/>
            <ac:spMk id="4" creationId="{CB7F373D-57C4-BFDC-E0A3-044DF978FF5A}"/>
          </ac:spMkLst>
        </pc:spChg>
        <pc:picChg chg="mod">
          <ac:chgData name="Enrique Roman Pelaez" userId="S::enrique.romanpelaez@plexus.tech::eafb5844-583e-4749-bdf2-4c5817a5a417" providerId="AD" clId="Web-{9E934492-6349-7893-8696-B3D7F56E9F45}" dt="2025-06-17T00:55:12.782" v="3368" actId="1076"/>
          <ac:picMkLst>
            <pc:docMk/>
            <pc:sldMk cId="2045747625" sldId="396"/>
            <ac:picMk id="5" creationId="{8C0A63FC-E5D7-F54E-E41A-C7A61F0EEDC3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6T21:19:01.453" v="1038"/>
          <ac:picMkLst>
            <pc:docMk/>
            <pc:sldMk cId="2045747625" sldId="396"/>
            <ac:picMk id="6" creationId="{2722942D-5964-2E4F-358E-CE2490A9C410}"/>
          </ac:picMkLst>
        </pc:picChg>
      </pc:sldChg>
      <pc:sldChg chg="delSp modSp ord">
        <pc:chgData name="Enrique Roman Pelaez" userId="S::enrique.romanpelaez@plexus.tech::eafb5844-583e-4749-bdf2-4c5817a5a417" providerId="AD" clId="Web-{9E934492-6349-7893-8696-B3D7F56E9F45}" dt="2025-06-17T01:07:31.805" v="3522" actId="20577"/>
        <pc:sldMkLst>
          <pc:docMk/>
          <pc:sldMk cId="509740078" sldId="397"/>
        </pc:sldMkLst>
        <pc:spChg chg="mod">
          <ac:chgData name="Enrique Roman Pelaez" userId="S::enrique.romanpelaez@plexus.tech::eafb5844-583e-4749-bdf2-4c5817a5a417" providerId="AD" clId="Web-{9E934492-6349-7893-8696-B3D7F56E9F45}" dt="2025-06-17T01:07:31.805" v="3522" actId="20577"/>
          <ac:spMkLst>
            <pc:docMk/>
            <pc:sldMk cId="509740078" sldId="397"/>
            <ac:spMk id="4" creationId="{547C28D2-8044-3C78-CC36-3C5F3A2E6BFC}"/>
          </ac:spMkLst>
        </pc:spChg>
        <pc:picChg chg="mod">
          <ac:chgData name="Enrique Roman Pelaez" userId="S::enrique.romanpelaez@plexus.tech::eafb5844-583e-4749-bdf2-4c5817a5a417" providerId="AD" clId="Web-{9E934492-6349-7893-8696-B3D7F56E9F45}" dt="2025-06-17T00:58:16.420" v="3397" actId="1076"/>
          <ac:picMkLst>
            <pc:docMk/>
            <pc:sldMk cId="509740078" sldId="397"/>
            <ac:picMk id="8" creationId="{945863C0-3D28-E44A-DCFC-5B0CBEAA328E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0:57:06.275" v="3379"/>
          <ac:picMkLst>
            <pc:docMk/>
            <pc:sldMk cId="509740078" sldId="397"/>
            <ac:picMk id="9" creationId="{7D7227CC-5338-AC32-3B07-2BE832EC7AB7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0:57:06.540" v="3380"/>
          <ac:picMkLst>
            <pc:docMk/>
            <pc:sldMk cId="509740078" sldId="397"/>
            <ac:picMk id="10" creationId="{D5E358E3-C7E2-0047-A0C5-F423808731CF}"/>
          </ac:picMkLst>
        </pc:picChg>
      </pc:sldChg>
      <pc:sldChg chg="delSp modSp ord">
        <pc:chgData name="Enrique Roman Pelaez" userId="S::enrique.romanpelaez@plexus.tech::eafb5844-583e-4749-bdf2-4c5817a5a417" providerId="AD" clId="Web-{9E934492-6349-7893-8696-B3D7F56E9F45}" dt="2025-06-17T01:14:06.459" v="3589"/>
        <pc:sldMkLst>
          <pc:docMk/>
          <pc:sldMk cId="1801759749" sldId="398"/>
        </pc:sldMkLst>
        <pc:spChg chg="mod">
          <ac:chgData name="Enrique Roman Pelaez" userId="S::enrique.romanpelaez@plexus.tech::eafb5844-583e-4749-bdf2-4c5817a5a417" providerId="AD" clId="Web-{9E934492-6349-7893-8696-B3D7F56E9F45}" dt="2025-06-17T01:09:17.906" v="3530" actId="20577"/>
          <ac:spMkLst>
            <pc:docMk/>
            <pc:sldMk cId="1801759749" sldId="398"/>
            <ac:spMk id="4" creationId="{C08324D3-671D-2BAB-9304-65A884DFCCD1}"/>
          </ac:spMkLst>
        </pc:spChg>
        <pc:picChg chg="mod">
          <ac:chgData name="Enrique Roman Pelaez" userId="S::enrique.romanpelaez@plexus.tech::eafb5844-583e-4749-bdf2-4c5817a5a417" providerId="AD" clId="Web-{9E934492-6349-7893-8696-B3D7F56E9F45}" dt="2025-06-17T01:04:48.980" v="3472" actId="1076"/>
          <ac:picMkLst>
            <pc:docMk/>
            <pc:sldMk cId="1801759749" sldId="398"/>
            <ac:picMk id="3" creationId="{6145E6A2-4498-E18A-1EFB-C8A438671850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04:10.650" v="3456"/>
          <ac:picMkLst>
            <pc:docMk/>
            <pc:sldMk cId="1801759749" sldId="398"/>
            <ac:picMk id="5" creationId="{62DCE34F-875C-99A8-83C1-B004593C6DE2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04:11.493" v="3457"/>
          <ac:picMkLst>
            <pc:docMk/>
            <pc:sldMk cId="1801759749" sldId="398"/>
            <ac:picMk id="6" creationId="{5C8BEE9A-490E-3A1D-8EA6-8A8A17A8D57D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14:06.459" v="3589"/>
          <ac:picMkLst>
            <pc:docMk/>
            <pc:sldMk cId="1801759749" sldId="398"/>
            <ac:picMk id="1028" creationId="{8A651826-AC88-DA1E-0403-48809C264817}"/>
          </ac:picMkLst>
        </pc:picChg>
      </pc:sldChg>
      <pc:sldChg chg="delSp modSp ord">
        <pc:chgData name="Enrique Roman Pelaez" userId="S::enrique.romanpelaez@plexus.tech::eafb5844-583e-4749-bdf2-4c5817a5a417" providerId="AD" clId="Web-{9E934492-6349-7893-8696-B3D7F56E9F45}" dt="2025-06-17T01:14:20.179" v="3592"/>
        <pc:sldMkLst>
          <pc:docMk/>
          <pc:sldMk cId="1525329178" sldId="399"/>
        </pc:sldMkLst>
        <pc:spChg chg="mod">
          <ac:chgData name="Enrique Roman Pelaez" userId="S::enrique.romanpelaez@plexus.tech::eafb5844-583e-4749-bdf2-4c5817a5a417" providerId="AD" clId="Web-{9E934492-6349-7893-8696-B3D7F56E9F45}" dt="2025-06-17T01:13:37.019" v="3584" actId="20577"/>
          <ac:spMkLst>
            <pc:docMk/>
            <pc:sldMk cId="1525329178" sldId="399"/>
            <ac:spMk id="4" creationId="{46F0AD41-F7F4-F1EC-E4E4-B9F54F6456F7}"/>
          </ac:spMkLst>
        </pc:spChg>
        <pc:picChg chg="mod">
          <ac:chgData name="Enrique Roman Pelaez" userId="S::enrique.romanpelaez@plexus.tech::eafb5844-583e-4749-bdf2-4c5817a5a417" providerId="AD" clId="Web-{9E934492-6349-7893-8696-B3D7F56E9F45}" dt="2025-06-17T01:12:35.702" v="3554" actId="14100"/>
          <ac:picMkLst>
            <pc:docMk/>
            <pc:sldMk cId="1525329178" sldId="399"/>
            <ac:picMk id="3" creationId="{DC6B7550-FCA6-B59C-9A24-9AB79482F169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14:20.179" v="3592"/>
          <ac:picMkLst>
            <pc:docMk/>
            <pc:sldMk cId="1525329178" sldId="399"/>
            <ac:picMk id="1028" creationId="{B042D2DA-0E28-4DF0-A4AD-B21E667CC87D}"/>
          </ac:picMkLst>
        </pc:picChg>
      </pc:sldChg>
      <pc:sldChg chg="delSp modSp add">
        <pc:chgData name="Enrique Roman Pelaez" userId="S::enrique.romanpelaez@plexus.tech::eafb5844-583e-4749-bdf2-4c5817a5a417" providerId="AD" clId="Web-{9E934492-6349-7893-8696-B3D7F56E9F45}" dt="2025-06-17T01:17:36.539" v="3613" actId="14100"/>
        <pc:sldMkLst>
          <pc:docMk/>
          <pc:sldMk cId="1406761866" sldId="401"/>
        </pc:sldMkLst>
        <pc:spChg chg="mod">
          <ac:chgData name="Enrique Roman Pelaez" userId="S::enrique.romanpelaez@plexus.tech::eafb5844-583e-4749-bdf2-4c5817a5a417" providerId="AD" clId="Web-{9E934492-6349-7893-8696-B3D7F56E9F45}" dt="2025-06-17T01:17:31.304" v="3612" actId="14100"/>
          <ac:spMkLst>
            <pc:docMk/>
            <pc:sldMk cId="1406761866" sldId="401"/>
            <ac:spMk id="4" creationId="{38998846-C936-C3CE-0FDA-7424A4ED404C}"/>
          </ac:spMkLst>
        </pc:spChg>
        <pc:spChg chg="mod">
          <ac:chgData name="Enrique Roman Pelaez" userId="S::enrique.romanpelaez@plexus.tech::eafb5844-583e-4749-bdf2-4c5817a5a417" providerId="AD" clId="Web-{9E934492-6349-7893-8696-B3D7F56E9F45}" dt="2025-06-17T01:17:36.539" v="3613" actId="14100"/>
          <ac:spMkLst>
            <pc:docMk/>
            <pc:sldMk cId="1406761866" sldId="401"/>
            <ac:spMk id="7" creationId="{7DDA00DD-89B2-46C9-E64A-DB7E28DE836B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1:16:06.483" v="3599"/>
          <ac:picMkLst>
            <pc:docMk/>
            <pc:sldMk cId="1406761866" sldId="401"/>
            <ac:picMk id="1028" creationId="{4018F444-9E91-D776-8A3E-EB8319CB8F4C}"/>
          </ac:picMkLst>
        </pc:picChg>
      </pc:sldChg>
      <pc:sldChg chg="delSp add del">
        <pc:chgData name="Enrique Roman Pelaez" userId="S::enrique.romanpelaez@plexus.tech::eafb5844-583e-4749-bdf2-4c5817a5a417" providerId="AD" clId="Web-{9E934492-6349-7893-8696-B3D7F56E9F45}" dt="2025-06-17T01:16:49.535" v="3608"/>
        <pc:sldMkLst>
          <pc:docMk/>
          <pc:sldMk cId="2315274" sldId="402"/>
        </pc:sldMkLst>
        <pc:picChg chg="del">
          <ac:chgData name="Enrique Roman Pelaez" userId="S::enrique.romanpelaez@plexus.tech::eafb5844-583e-4749-bdf2-4c5817a5a417" providerId="AD" clId="Web-{9E934492-6349-7893-8696-B3D7F56E9F45}" dt="2025-06-17T01:16:49.535" v="3608"/>
          <ac:picMkLst>
            <pc:docMk/>
            <pc:sldMk cId="2315274" sldId="402"/>
            <ac:picMk id="1028" creationId="{B3C74FDD-00B1-14F6-4729-9CCDD72D59DC}"/>
          </ac:picMkLst>
        </pc:picChg>
      </pc:sldChg>
      <pc:sldChg chg="modSp add">
        <pc:chgData name="Enrique Roman Pelaez" userId="S::enrique.romanpelaez@plexus.tech::eafb5844-583e-4749-bdf2-4c5817a5a417" providerId="AD" clId="Web-{9E934492-6349-7893-8696-B3D7F56E9F45}" dt="2025-06-17T01:19:07.780" v="3632" actId="20577"/>
        <pc:sldMkLst>
          <pc:docMk/>
          <pc:sldMk cId="864141877" sldId="403"/>
        </pc:sldMkLst>
        <pc:spChg chg="mod">
          <ac:chgData name="Enrique Roman Pelaez" userId="S::enrique.romanpelaez@plexus.tech::eafb5844-583e-4749-bdf2-4c5817a5a417" providerId="AD" clId="Web-{9E934492-6349-7893-8696-B3D7F56E9F45}" dt="2025-06-17T01:19:07.780" v="3632" actId="20577"/>
          <ac:spMkLst>
            <pc:docMk/>
            <pc:sldMk cId="864141877" sldId="403"/>
            <ac:spMk id="2" creationId="{08BDC8D2-9B9E-010B-B1CE-A73B214EB0DD}"/>
          </ac:spMkLst>
        </pc:spChg>
      </pc:sldChg>
      <pc:sldChg chg="modSp add">
        <pc:chgData name="Enrique Roman Pelaez" userId="S::enrique.romanpelaez@plexus.tech::eafb5844-583e-4749-bdf2-4c5817a5a417" providerId="AD" clId="Web-{9E934492-6349-7893-8696-B3D7F56E9F45}" dt="2025-06-17T01:19:10.233" v="3633" actId="20577"/>
        <pc:sldMkLst>
          <pc:docMk/>
          <pc:sldMk cId="3026235541" sldId="404"/>
        </pc:sldMkLst>
        <pc:spChg chg="mod">
          <ac:chgData name="Enrique Roman Pelaez" userId="S::enrique.romanpelaez@plexus.tech::eafb5844-583e-4749-bdf2-4c5817a5a417" providerId="AD" clId="Web-{9E934492-6349-7893-8696-B3D7F56E9F45}" dt="2025-06-17T01:19:10.233" v="3633" actId="20577"/>
          <ac:spMkLst>
            <pc:docMk/>
            <pc:sldMk cId="3026235541" sldId="404"/>
            <ac:spMk id="2" creationId="{4A849647-D695-71C8-A2BE-889BC7480EB5}"/>
          </ac:spMkLst>
        </pc:spChg>
      </pc:sldChg>
      <pc:sldChg chg="modSp add">
        <pc:chgData name="Enrique Roman Pelaez" userId="S::enrique.romanpelaez@plexus.tech::eafb5844-583e-4749-bdf2-4c5817a5a417" providerId="AD" clId="Web-{9E934492-6349-7893-8696-B3D7F56E9F45}" dt="2025-06-17T01:19:14.421" v="3634" actId="20577"/>
        <pc:sldMkLst>
          <pc:docMk/>
          <pc:sldMk cId="4228608856" sldId="405"/>
        </pc:sldMkLst>
        <pc:spChg chg="mod">
          <ac:chgData name="Enrique Roman Pelaez" userId="S::enrique.romanpelaez@plexus.tech::eafb5844-583e-4749-bdf2-4c5817a5a417" providerId="AD" clId="Web-{9E934492-6349-7893-8696-B3D7F56E9F45}" dt="2025-06-17T01:19:14.421" v="3634" actId="20577"/>
          <ac:spMkLst>
            <pc:docMk/>
            <pc:sldMk cId="4228608856" sldId="405"/>
            <ac:spMk id="2" creationId="{3A4BCC66-4AD5-B443-C314-05F7F626B2C5}"/>
          </ac:spMkLst>
        </pc:spChg>
      </pc:sldChg>
      <pc:sldChg chg="add">
        <pc:chgData name="Enrique Roman Pelaez" userId="S::enrique.romanpelaez@plexus.tech::eafb5844-583e-4749-bdf2-4c5817a5a417" providerId="AD" clId="Web-{9E934492-6349-7893-8696-B3D7F56E9F45}" dt="2025-06-17T01:19:33.766" v="3635"/>
        <pc:sldMkLst>
          <pc:docMk/>
          <pc:sldMk cId="3441347285" sldId="407"/>
        </pc:sldMkLst>
      </pc:sldChg>
      <pc:sldChg chg="add del">
        <pc:chgData name="Enrique Roman Pelaez" userId="S::enrique.romanpelaez@plexus.tech::eafb5844-583e-4749-bdf2-4c5817a5a417" providerId="AD" clId="Web-{9E934492-6349-7893-8696-B3D7F56E9F45}" dt="2025-06-17T01:19:47.298" v="3638"/>
        <pc:sldMkLst>
          <pc:docMk/>
          <pc:sldMk cId="4210889584" sldId="408"/>
        </pc:sldMkLst>
      </pc:sldChg>
      <pc:sldChg chg="modSp">
        <pc:chgData name="Enrique Roman Pelaez" userId="S::enrique.romanpelaez@plexus.tech::eafb5844-583e-4749-bdf2-4c5817a5a417" providerId="AD" clId="Web-{9E934492-6349-7893-8696-B3D7F56E9F45}" dt="2025-06-16T19:14:20.557" v="299" actId="20577"/>
        <pc:sldMkLst>
          <pc:docMk/>
          <pc:sldMk cId="2435792898" sldId="409"/>
        </pc:sldMkLst>
        <pc:spChg chg="mod">
          <ac:chgData name="Enrique Roman Pelaez" userId="S::enrique.romanpelaez@plexus.tech::eafb5844-583e-4749-bdf2-4c5817a5a417" providerId="AD" clId="Web-{9E934492-6349-7893-8696-B3D7F56E9F45}" dt="2025-06-16T19:14:20.557" v="299" actId="20577"/>
          <ac:spMkLst>
            <pc:docMk/>
            <pc:sldMk cId="2435792898" sldId="409"/>
            <ac:spMk id="4" creationId="{83573CD4-F444-1900-6486-94E6198831BD}"/>
          </ac:spMkLst>
        </pc:spChg>
      </pc:sldChg>
      <pc:sldChg chg="delSp add">
        <pc:chgData name="Enrique Roman Pelaez" userId="S::enrique.romanpelaez@plexus.tech::eafb5844-583e-4749-bdf2-4c5817a5a417" providerId="AD" clId="Web-{9E934492-6349-7893-8696-B3D7F56E9F45}" dt="2025-06-17T01:23:02.578" v="3706"/>
        <pc:sldMkLst>
          <pc:docMk/>
          <pc:sldMk cId="797166546" sldId="412"/>
        </pc:sldMkLst>
        <pc:picChg chg="del">
          <ac:chgData name="Enrique Roman Pelaez" userId="S::enrique.romanpelaez@plexus.tech::eafb5844-583e-4749-bdf2-4c5817a5a417" providerId="AD" clId="Web-{9E934492-6349-7893-8696-B3D7F56E9F45}" dt="2025-06-17T01:23:02.578" v="3706"/>
          <ac:picMkLst>
            <pc:docMk/>
            <pc:sldMk cId="797166546" sldId="412"/>
            <ac:picMk id="1028" creationId="{3E3E9966-5DA7-297B-F9C1-1751BD82F425}"/>
          </ac:picMkLst>
        </pc:picChg>
      </pc:sldChg>
      <pc:sldChg chg="delSp add del">
        <pc:chgData name="Enrique Roman Pelaez" userId="S::enrique.romanpelaez@plexus.tech::eafb5844-583e-4749-bdf2-4c5817a5a417" providerId="AD" clId="Web-{9E934492-6349-7893-8696-B3D7F56E9F45}" dt="2025-06-17T01:23:17.704" v="3708"/>
        <pc:sldMkLst>
          <pc:docMk/>
          <pc:sldMk cId="2539628391" sldId="413"/>
        </pc:sldMkLst>
        <pc:picChg chg="del">
          <ac:chgData name="Enrique Roman Pelaez" userId="S::enrique.romanpelaez@plexus.tech::eafb5844-583e-4749-bdf2-4c5817a5a417" providerId="AD" clId="Web-{9E934492-6349-7893-8696-B3D7F56E9F45}" dt="2025-06-17T01:23:17.704" v="3708"/>
          <ac:picMkLst>
            <pc:docMk/>
            <pc:sldMk cId="2539628391" sldId="413"/>
            <ac:picMk id="1028" creationId="{95B7D135-AEFC-A939-49F8-CDA23AF97B71}"/>
          </ac:picMkLst>
        </pc:picChg>
      </pc:sldChg>
      <pc:sldChg chg="delSp add del">
        <pc:chgData name="Enrique Roman Pelaez" userId="S::enrique.romanpelaez@plexus.tech::eafb5844-583e-4749-bdf2-4c5817a5a417" providerId="AD" clId="Web-{9E934492-6349-7893-8696-B3D7F56E9F45}" dt="2025-06-17T01:23:31.455" v="3710"/>
        <pc:sldMkLst>
          <pc:docMk/>
          <pc:sldMk cId="2339681748" sldId="414"/>
        </pc:sldMkLst>
        <pc:picChg chg="del">
          <ac:chgData name="Enrique Roman Pelaez" userId="S::enrique.romanpelaez@plexus.tech::eafb5844-583e-4749-bdf2-4c5817a5a417" providerId="AD" clId="Web-{9E934492-6349-7893-8696-B3D7F56E9F45}" dt="2025-06-17T01:23:31.455" v="3710"/>
          <ac:picMkLst>
            <pc:docMk/>
            <pc:sldMk cId="2339681748" sldId="414"/>
            <ac:picMk id="1028" creationId="{EFC3CD4D-ED95-D48F-CF92-4BBE69971027}"/>
          </ac:picMkLst>
        </pc:picChg>
      </pc:sldChg>
      <pc:sldChg chg="add">
        <pc:chgData name="Enrique Roman Pelaez" userId="S::enrique.romanpelaez@plexus.tech::eafb5844-583e-4749-bdf2-4c5817a5a417" providerId="AD" clId="Web-{9E934492-6349-7893-8696-B3D7F56E9F45}" dt="2025-06-17T01:24:21.084" v="3713"/>
        <pc:sldMkLst>
          <pc:docMk/>
          <pc:sldMk cId="937909777" sldId="418"/>
        </pc:sldMkLst>
      </pc:sldChg>
      <pc:sldChg chg="add">
        <pc:chgData name="Enrique Roman Pelaez" userId="S::enrique.romanpelaez@plexus.tech::eafb5844-583e-4749-bdf2-4c5817a5a417" providerId="AD" clId="Web-{9E934492-6349-7893-8696-B3D7F56E9F45}" dt="2025-06-17T01:25:25.667" v="3716"/>
        <pc:sldMkLst>
          <pc:docMk/>
          <pc:sldMk cId="4197208011" sldId="419"/>
        </pc:sldMkLst>
      </pc:sldChg>
      <pc:sldChg chg="del ord">
        <pc:chgData name="Enrique Roman Pelaez" userId="S::enrique.romanpelaez@plexus.tech::eafb5844-583e-4749-bdf2-4c5817a5a417" providerId="AD" clId="Web-{9E934492-6349-7893-8696-B3D7F56E9F45}" dt="2025-06-16T18:48:24.975" v="204"/>
        <pc:sldMkLst>
          <pc:docMk/>
          <pc:sldMk cId="3837979203" sldId="450"/>
        </pc:sldMkLst>
      </pc:sldChg>
      <pc:sldChg chg="modSp">
        <pc:chgData name="Enrique Roman Pelaez" userId="S::enrique.romanpelaez@plexus.tech::eafb5844-583e-4749-bdf2-4c5817a5a417" providerId="AD" clId="Web-{9E934492-6349-7893-8696-B3D7F56E9F45}" dt="2025-06-16T18:48:36.631" v="218" actId="20577"/>
        <pc:sldMkLst>
          <pc:docMk/>
          <pc:sldMk cId="1729996518" sldId="470"/>
        </pc:sldMkLst>
        <pc:spChg chg="mod">
          <ac:chgData name="Enrique Roman Pelaez" userId="S::enrique.romanpelaez@plexus.tech::eafb5844-583e-4749-bdf2-4c5817a5a417" providerId="AD" clId="Web-{9E934492-6349-7893-8696-B3D7F56E9F45}" dt="2025-06-16T18:48:36.631" v="218" actId="20577"/>
          <ac:spMkLst>
            <pc:docMk/>
            <pc:sldMk cId="1729996518" sldId="470"/>
            <ac:spMk id="5" creationId="{88D399EF-2E00-9051-051B-93FCC923E50C}"/>
          </ac:spMkLst>
        </pc:spChg>
      </pc:sldChg>
      <pc:sldChg chg="del">
        <pc:chgData name="Enrique Roman Pelaez" userId="S::enrique.romanpelaez@plexus.tech::eafb5844-583e-4749-bdf2-4c5817a5a417" providerId="AD" clId="Web-{9E934492-6349-7893-8696-B3D7F56E9F45}" dt="2025-06-16T18:51:19.965" v="240"/>
        <pc:sldMkLst>
          <pc:docMk/>
          <pc:sldMk cId="2278783218" sldId="473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29:05.946" v="53"/>
        <pc:sldMkLst>
          <pc:docMk/>
          <pc:sldMk cId="1876018461" sldId="475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37.807" v="300"/>
        <pc:sldMkLst>
          <pc:docMk/>
          <pc:sldMk cId="4083632148" sldId="492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29:11.790" v="54"/>
        <pc:sldMkLst>
          <pc:docMk/>
          <pc:sldMk cId="242092177" sldId="493"/>
        </pc:sldMkLst>
      </pc:sldChg>
      <pc:sldChg chg="modSp">
        <pc:chgData name="Enrique Roman Pelaez" userId="S::enrique.romanpelaez@plexus.tech::eafb5844-583e-4749-bdf2-4c5817a5a417" providerId="AD" clId="Web-{9E934492-6349-7893-8696-B3D7F56E9F45}" dt="2025-06-16T18:26:18.812" v="26"/>
        <pc:sldMkLst>
          <pc:docMk/>
          <pc:sldMk cId="2705129091" sldId="502"/>
        </pc:sldMkLst>
        <pc:graphicFrameChg chg="mod modGraphic">
          <ac:chgData name="Enrique Roman Pelaez" userId="S::enrique.romanpelaez@plexus.tech::eafb5844-583e-4749-bdf2-4c5817a5a417" providerId="AD" clId="Web-{9E934492-6349-7893-8696-B3D7F56E9F45}" dt="2025-06-16T18:26:18.812" v="26"/>
          <ac:graphicFrameMkLst>
            <pc:docMk/>
            <pc:sldMk cId="2705129091" sldId="502"/>
            <ac:graphicFrameMk id="5" creationId="{3C091E60-4099-B3FF-A35B-A43B1F48A4CD}"/>
          </ac:graphicFrameMkLst>
        </pc:graphicFrameChg>
      </pc:sldChg>
      <pc:sldChg chg="modSp">
        <pc:chgData name="Enrique Roman Pelaez" userId="S::enrique.romanpelaez@plexus.tech::eafb5844-583e-4749-bdf2-4c5817a5a417" providerId="AD" clId="Web-{9E934492-6349-7893-8696-B3D7F56E9F45}" dt="2025-06-16T18:49:09.523" v="233" actId="20577"/>
        <pc:sldMkLst>
          <pc:docMk/>
          <pc:sldMk cId="3997111531" sldId="504"/>
        </pc:sldMkLst>
        <pc:spChg chg="mod">
          <ac:chgData name="Enrique Roman Pelaez" userId="S::enrique.romanpelaez@plexus.tech::eafb5844-583e-4749-bdf2-4c5817a5a417" providerId="AD" clId="Web-{9E934492-6349-7893-8696-B3D7F56E9F45}" dt="2025-06-16T18:49:09.523" v="233" actId="20577"/>
          <ac:spMkLst>
            <pc:docMk/>
            <pc:sldMk cId="3997111531" sldId="504"/>
            <ac:spMk id="2" creationId="{DF73E722-7975-B2B3-D706-F51907080032}"/>
          </ac:spMkLst>
        </pc:spChg>
      </pc:sldChg>
      <pc:sldChg chg="addSp delSp modSp">
        <pc:chgData name="Enrique Roman Pelaez" userId="S::enrique.romanpelaez@plexus.tech::eafb5844-583e-4749-bdf2-4c5817a5a417" providerId="AD" clId="Web-{9E934492-6349-7893-8696-B3D7F56E9F45}" dt="2025-06-17T06:41:29.142" v="3754" actId="20577"/>
        <pc:sldMkLst>
          <pc:docMk/>
          <pc:sldMk cId="2897043620" sldId="506"/>
        </pc:sldMkLst>
        <pc:spChg chg="mod">
          <ac:chgData name="Enrique Roman Pelaez" userId="S::enrique.romanpelaez@plexus.tech::eafb5844-583e-4749-bdf2-4c5817a5a417" providerId="AD" clId="Web-{9E934492-6349-7893-8696-B3D7F56E9F45}" dt="2025-06-16T18:51:05.668" v="235" actId="20577"/>
          <ac:spMkLst>
            <pc:docMk/>
            <pc:sldMk cId="2897043620" sldId="506"/>
            <ac:spMk id="2" creationId="{F642A41A-4635-71F9-5AC5-B6FD251C886F}"/>
          </ac:spMkLst>
        </pc:spChg>
        <pc:spChg chg="mod">
          <ac:chgData name="Enrique Roman Pelaez" userId="S::enrique.romanpelaez@plexus.tech::eafb5844-583e-4749-bdf2-4c5817a5a417" providerId="AD" clId="Web-{9E934492-6349-7893-8696-B3D7F56E9F45}" dt="2025-06-17T06:41:29.142" v="3754" actId="20577"/>
          <ac:spMkLst>
            <pc:docMk/>
            <pc:sldMk cId="2897043620" sldId="506"/>
            <ac:spMk id="5" creationId="{9EB2D8D1-000E-99B8-BAD4-815230FC015E}"/>
          </ac:spMkLst>
        </pc:spChg>
        <pc:picChg chg="add del mod">
          <ac:chgData name="Enrique Roman Pelaez" userId="S::enrique.romanpelaez@plexus.tech::eafb5844-583e-4749-bdf2-4c5817a5a417" providerId="AD" clId="Web-{9E934492-6349-7893-8696-B3D7F56E9F45}" dt="2025-06-16T19:24:15.094" v="301"/>
          <ac:picMkLst>
            <pc:docMk/>
            <pc:sldMk cId="2897043620" sldId="506"/>
            <ac:picMk id="3" creationId="{C92FE1D1-AF90-6A93-187D-DCB068DE3381}"/>
          </ac:picMkLst>
        </pc:picChg>
      </pc:sldChg>
      <pc:sldChg chg="del">
        <pc:chgData name="Enrique Roman Pelaez" userId="S::enrique.romanpelaez@plexus.tech::eafb5844-583e-4749-bdf2-4c5817a5a417" providerId="AD" clId="Web-{9E934492-6349-7893-8696-B3D7F56E9F45}" dt="2025-06-16T18:51:18.309" v="239"/>
        <pc:sldMkLst>
          <pc:docMk/>
          <pc:sldMk cId="3165776929" sldId="507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3:50.321" v="280"/>
        <pc:sldMkLst>
          <pc:docMk/>
          <pc:sldMk cId="36344812" sldId="508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51:11.918" v="237"/>
        <pc:sldMkLst>
          <pc:docMk/>
          <pc:sldMk cId="3349356532" sldId="510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51:17.075" v="238"/>
        <pc:sldMkLst>
          <pc:docMk/>
          <pc:sldMk cId="677877220" sldId="511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51:21.059" v="241"/>
        <pc:sldMkLst>
          <pc:docMk/>
          <pc:sldMk cId="3802122301" sldId="513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3:46.821" v="278"/>
        <pc:sldMkLst>
          <pc:docMk/>
          <pc:sldMk cId="123766961" sldId="514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3:51.728" v="281"/>
        <pc:sldMkLst>
          <pc:docMk/>
          <pc:sldMk cId="1752825287" sldId="515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3:51.993" v="282"/>
        <pc:sldMkLst>
          <pc:docMk/>
          <pc:sldMk cId="4096810455" sldId="518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3:57.603" v="283"/>
        <pc:sldMkLst>
          <pc:docMk/>
          <pc:sldMk cId="3799925436" sldId="519"/>
        </pc:sldMkLst>
      </pc:sldChg>
      <pc:sldChg chg="delSp modSp add del">
        <pc:chgData name="Enrique Roman Pelaez" userId="S::enrique.romanpelaez@plexus.tech::eafb5844-583e-4749-bdf2-4c5817a5a417" providerId="AD" clId="Web-{9E934492-6349-7893-8696-B3D7F56E9F45}" dt="2025-06-16T19:13:23.570" v="277"/>
        <pc:sldMkLst>
          <pc:docMk/>
          <pc:sldMk cId="2752589404" sldId="520"/>
        </pc:sldMkLst>
        <pc:spChg chg="mod">
          <ac:chgData name="Enrique Roman Pelaez" userId="S::enrique.romanpelaez@plexus.tech::eafb5844-583e-4749-bdf2-4c5817a5a417" providerId="AD" clId="Web-{9E934492-6349-7893-8696-B3D7F56E9F45}" dt="2025-06-16T19:01:30.456" v="265" actId="20577"/>
          <ac:spMkLst>
            <pc:docMk/>
            <pc:sldMk cId="2752589404" sldId="520"/>
            <ac:spMk id="5" creationId="{10220E41-DBDA-8862-7648-4FBE60983EA5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19:13:10.148" v="273"/>
          <ac:picMkLst>
            <pc:docMk/>
            <pc:sldMk cId="2752589404" sldId="520"/>
            <ac:picMk id="6" creationId="{0234B381-6E15-5693-40D2-F700CF264560}"/>
          </ac:picMkLst>
        </pc:picChg>
      </pc:sldChg>
      <pc:sldChg chg="del">
        <pc:chgData name="Enrique Roman Pelaez" userId="S::enrique.romanpelaez@plexus.tech::eafb5844-583e-4749-bdf2-4c5817a5a417" providerId="AD" clId="Web-{9E934492-6349-7893-8696-B3D7F56E9F45}" dt="2025-06-16T18:51:22.247" v="242"/>
        <pc:sldMkLst>
          <pc:docMk/>
          <pc:sldMk cId="1223070706" sldId="523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51:11.028" v="236"/>
        <pc:sldMkLst>
          <pc:docMk/>
          <pc:sldMk cId="351431066" sldId="524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3:58.900" v="284"/>
        <pc:sldMkLst>
          <pc:docMk/>
          <pc:sldMk cId="1810747385" sldId="525"/>
        </pc:sldMkLst>
      </pc:sldChg>
      <pc:sldChg chg="modSp">
        <pc:chgData name="Enrique Roman Pelaez" userId="S::enrique.romanpelaez@plexus.tech::eafb5844-583e-4749-bdf2-4c5817a5a417" providerId="AD" clId="Web-{9E934492-6349-7893-8696-B3D7F56E9F45}" dt="2025-06-16T18:28:33.304" v="51" actId="20577"/>
        <pc:sldMkLst>
          <pc:docMk/>
          <pc:sldMk cId="295755576" sldId="526"/>
        </pc:sldMkLst>
        <pc:spChg chg="mod">
          <ac:chgData name="Enrique Roman Pelaez" userId="S::enrique.romanpelaez@plexus.tech::eafb5844-583e-4749-bdf2-4c5817a5a417" providerId="AD" clId="Web-{9E934492-6349-7893-8696-B3D7F56E9F45}" dt="2025-06-16T18:28:33.304" v="51" actId="20577"/>
          <ac:spMkLst>
            <pc:docMk/>
            <pc:sldMk cId="295755576" sldId="526"/>
            <ac:spMk id="3" creationId="{181245F6-7A94-A38B-063F-9FF5D1EB66E2}"/>
          </ac:spMkLst>
        </pc:spChg>
      </pc:sldChg>
      <pc:sldChg chg="del">
        <pc:chgData name="Enrique Roman Pelaez" userId="S::enrique.romanpelaez@plexus.tech::eafb5844-583e-4749-bdf2-4c5817a5a417" providerId="AD" clId="Web-{9E934492-6349-7893-8696-B3D7F56E9F45}" dt="2025-06-16T19:13:59.915" v="285"/>
        <pc:sldMkLst>
          <pc:docMk/>
          <pc:sldMk cId="274687414" sldId="527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51:24.591" v="244"/>
        <pc:sldMkLst>
          <pc:docMk/>
          <pc:sldMk cId="2746160786" sldId="528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24:42.923" v="307"/>
        <pc:sldMkLst>
          <pc:docMk/>
          <pc:sldMk cId="1293252067" sldId="529"/>
        </pc:sldMkLst>
      </pc:sldChg>
      <pc:sldChg chg="add del">
        <pc:chgData name="Enrique Roman Pelaez" userId="S::enrique.romanpelaez@plexus.tech::eafb5844-583e-4749-bdf2-4c5817a5a417" providerId="AD" clId="Web-{9E934492-6349-7893-8696-B3D7F56E9F45}" dt="2025-06-16T19:24:48.798" v="311"/>
        <pc:sldMkLst>
          <pc:docMk/>
          <pc:sldMk cId="1132481638" sldId="530"/>
        </pc:sldMkLst>
      </pc:sldChg>
      <pc:sldChg chg="add del">
        <pc:chgData name="Enrique Roman Pelaez" userId="S::enrique.romanpelaez@plexus.tech::eafb5844-583e-4749-bdf2-4c5817a5a417" providerId="AD" clId="Web-{9E934492-6349-7893-8696-B3D7F56E9F45}" dt="2025-06-16T19:24:46.361" v="310"/>
        <pc:sldMkLst>
          <pc:docMk/>
          <pc:sldMk cId="3227303250" sldId="531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24:44.548" v="309"/>
        <pc:sldMkLst>
          <pc:docMk/>
          <pc:sldMk cId="250073990" sldId="532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24:43.782" v="308"/>
        <pc:sldMkLst>
          <pc:docMk/>
          <pc:sldMk cId="4041967979" sldId="533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3:49.415" v="279"/>
        <pc:sldMkLst>
          <pc:docMk/>
          <pc:sldMk cId="253211999" sldId="534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2.275" v="289"/>
        <pc:sldMkLst>
          <pc:docMk/>
          <pc:sldMk cId="1256587657" sldId="536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3.134" v="290"/>
        <pc:sldMkLst>
          <pc:docMk/>
          <pc:sldMk cId="2889968997" sldId="538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3.869" v="291"/>
        <pc:sldMkLst>
          <pc:docMk/>
          <pc:sldMk cId="3523444492" sldId="539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4.041" v="292"/>
        <pc:sldMkLst>
          <pc:docMk/>
          <pc:sldMk cId="2351345232" sldId="540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4.525" v="293"/>
        <pc:sldMkLst>
          <pc:docMk/>
          <pc:sldMk cId="2741746950" sldId="541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5.478" v="294"/>
        <pc:sldMkLst>
          <pc:docMk/>
          <pc:sldMk cId="810998146" sldId="542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5.587" v="295"/>
        <pc:sldMkLst>
          <pc:docMk/>
          <pc:sldMk cId="432805450" sldId="543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29:15.009" v="55"/>
        <pc:sldMkLst>
          <pc:docMk/>
          <pc:sldMk cId="60311649" sldId="544"/>
        </pc:sldMkLst>
      </pc:sldChg>
      <pc:sldChg chg="modSp">
        <pc:chgData name="Enrique Roman Pelaez" userId="S::enrique.romanpelaez@plexus.tech::eafb5844-583e-4749-bdf2-4c5817a5a417" providerId="AD" clId="Web-{9E934492-6349-7893-8696-B3D7F56E9F45}" dt="2025-06-16T19:14:10.150" v="296" actId="20577"/>
        <pc:sldMkLst>
          <pc:docMk/>
          <pc:sldMk cId="2665947814" sldId="549"/>
        </pc:sldMkLst>
        <pc:spChg chg="mod">
          <ac:chgData name="Enrique Roman Pelaez" userId="S::enrique.romanpelaez@plexus.tech::eafb5844-583e-4749-bdf2-4c5817a5a417" providerId="AD" clId="Web-{9E934492-6349-7893-8696-B3D7F56E9F45}" dt="2025-06-16T19:14:10.150" v="296" actId="20577"/>
          <ac:spMkLst>
            <pc:docMk/>
            <pc:sldMk cId="2665947814" sldId="549"/>
            <ac:spMk id="2" creationId="{592309A1-74C5-3E4C-0324-37A6D8BE8F52}"/>
          </ac:spMkLst>
        </pc:spChg>
      </pc:sldChg>
      <pc:sldChg chg="del">
        <pc:chgData name="Enrique Roman Pelaez" userId="S::enrique.romanpelaez@plexus.tech::eafb5844-583e-4749-bdf2-4c5817a5a417" providerId="AD" clId="Web-{9E934492-6349-7893-8696-B3D7F56E9F45}" dt="2025-06-16T19:14:00.275" v="286"/>
        <pc:sldMkLst>
          <pc:docMk/>
          <pc:sldMk cId="3067467449" sldId="550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1.134" v="287"/>
        <pc:sldMkLst>
          <pc:docMk/>
          <pc:sldMk cId="869084275" sldId="551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9:14:01.337" v="288"/>
        <pc:sldMkLst>
          <pc:docMk/>
          <pc:sldMk cId="3653121180" sldId="552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51:23.434" v="243"/>
        <pc:sldMkLst>
          <pc:docMk/>
          <pc:sldMk cId="3285601985" sldId="553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29:17.743" v="56"/>
        <pc:sldMkLst>
          <pc:docMk/>
          <pc:sldMk cId="1267683428" sldId="554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29:40.900" v="57"/>
        <pc:sldMkLst>
          <pc:docMk/>
          <pc:sldMk cId="19137275" sldId="555"/>
        </pc:sldMkLst>
      </pc:sldChg>
      <pc:sldChg chg="del">
        <pc:chgData name="Enrique Roman Pelaez" userId="S::enrique.romanpelaez@plexus.tech::eafb5844-583e-4749-bdf2-4c5817a5a417" providerId="AD" clId="Web-{9E934492-6349-7893-8696-B3D7F56E9F45}" dt="2025-06-16T18:29:03.633" v="52"/>
        <pc:sldMkLst>
          <pc:docMk/>
          <pc:sldMk cId="937545514" sldId="556"/>
        </pc:sldMkLst>
      </pc:sldChg>
      <pc:sldChg chg="add del">
        <pc:chgData name="Enrique Roman Pelaez" userId="S::enrique.romanpelaez@plexus.tech::eafb5844-583e-4749-bdf2-4c5817a5a417" providerId="AD" clId="Web-{9E934492-6349-7893-8696-B3D7F56E9F45}" dt="2025-06-16T18:47:57.411" v="200"/>
        <pc:sldMkLst>
          <pc:docMk/>
          <pc:sldMk cId="1393918837" sldId="557"/>
        </pc:sldMkLst>
      </pc:sldChg>
      <pc:sldChg chg="add del">
        <pc:chgData name="Enrique Roman Pelaez" userId="S::enrique.romanpelaez@plexus.tech::eafb5844-583e-4749-bdf2-4c5817a5a417" providerId="AD" clId="Web-{9E934492-6349-7893-8696-B3D7F56E9F45}" dt="2025-06-16T18:47:57.146" v="199"/>
        <pc:sldMkLst>
          <pc:docMk/>
          <pc:sldMk cId="2001937913" sldId="558"/>
        </pc:sldMkLst>
      </pc:sldChg>
      <pc:sldChg chg="delSp modSp add del replId">
        <pc:chgData name="Enrique Roman Pelaez" userId="S::enrique.romanpelaez@plexus.tech::eafb5844-583e-4749-bdf2-4c5817a5a417" providerId="AD" clId="Web-{9E934492-6349-7893-8696-B3D7F56E9F45}" dt="2025-06-17T00:01:17.779" v="2406"/>
        <pc:sldMkLst>
          <pc:docMk/>
          <pc:sldMk cId="366459680" sldId="563"/>
        </pc:sldMkLst>
        <pc:spChg chg="del mod">
          <ac:chgData name="Enrique Roman Pelaez" userId="S::enrique.romanpelaez@plexus.tech::eafb5844-583e-4749-bdf2-4c5817a5a417" providerId="AD" clId="Web-{9E934492-6349-7893-8696-B3D7F56E9F45}" dt="2025-06-17T00:00:32.401" v="2387"/>
          <ac:spMkLst>
            <pc:docMk/>
            <pc:sldMk cId="366459680" sldId="563"/>
            <ac:spMk id="5" creationId="{B5A1AA32-5043-FF77-44F9-80D997B90790}"/>
          </ac:spMkLst>
        </pc:spChg>
      </pc:sldChg>
      <pc:sldChg chg="add del replId">
        <pc:chgData name="Enrique Roman Pelaez" userId="S::enrique.romanpelaez@plexus.tech::eafb5844-583e-4749-bdf2-4c5817a5a417" providerId="AD" clId="Web-{9E934492-6349-7893-8696-B3D7F56E9F45}" dt="2025-06-16T18:48:42.538" v="219"/>
        <pc:sldMkLst>
          <pc:docMk/>
          <pc:sldMk cId="4248910598" sldId="563"/>
        </pc:sldMkLst>
      </pc:sldChg>
      <pc:sldChg chg="addSp modSp add replId">
        <pc:chgData name="Enrique Roman Pelaez" userId="S::enrique.romanpelaez@plexus.tech::eafb5844-583e-4749-bdf2-4c5817a5a417" providerId="AD" clId="Web-{9E934492-6349-7893-8696-B3D7F56E9F45}" dt="2025-06-17T00:41:22.424" v="3150" actId="1076"/>
        <pc:sldMkLst>
          <pc:docMk/>
          <pc:sldMk cId="117825121" sldId="564"/>
        </pc:sldMkLst>
        <pc:spChg chg="mod">
          <ac:chgData name="Enrique Roman Pelaez" userId="S::enrique.romanpelaez@plexus.tech::eafb5844-583e-4749-bdf2-4c5817a5a417" providerId="AD" clId="Web-{9E934492-6349-7893-8696-B3D7F56E9F45}" dt="2025-06-17T00:20:12.644" v="2700" actId="20577"/>
          <ac:spMkLst>
            <pc:docMk/>
            <pc:sldMk cId="117825121" sldId="564"/>
            <ac:spMk id="5" creationId="{0B157111-255A-B637-0D6F-D8A957ACDF89}"/>
          </ac:spMkLst>
        </pc:spChg>
        <pc:picChg chg="add mod">
          <ac:chgData name="Enrique Roman Pelaez" userId="S::enrique.romanpelaez@plexus.tech::eafb5844-583e-4749-bdf2-4c5817a5a417" providerId="AD" clId="Web-{9E934492-6349-7893-8696-B3D7F56E9F45}" dt="2025-06-17T00:41:22.424" v="3150" actId="1076"/>
          <ac:picMkLst>
            <pc:docMk/>
            <pc:sldMk cId="117825121" sldId="564"/>
            <ac:picMk id="3" creationId="{B1873F72-23D4-16C2-FF1E-4C965703D7EE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7T00:41:11.517" v="3148" actId="1076"/>
          <ac:picMkLst>
            <pc:docMk/>
            <pc:sldMk cId="117825121" sldId="564"/>
            <ac:picMk id="6" creationId="{BDE93DE3-D881-6A77-092F-EB5E500DA6C8}"/>
          </ac:picMkLst>
        </pc:picChg>
      </pc:sldChg>
      <pc:sldChg chg="add del replId">
        <pc:chgData name="Enrique Roman Pelaez" userId="S::enrique.romanpelaez@plexus.tech::eafb5844-583e-4749-bdf2-4c5817a5a417" providerId="AD" clId="Web-{9E934492-6349-7893-8696-B3D7F56E9F45}" dt="2025-06-16T19:56:59.763" v="736"/>
        <pc:sldMkLst>
          <pc:docMk/>
          <pc:sldMk cId="3288817661" sldId="565"/>
        </pc:sldMkLst>
      </pc:sldChg>
      <pc:sldChg chg="delSp modSp add replId">
        <pc:chgData name="Enrique Roman Pelaez" userId="S::enrique.romanpelaez@plexus.tech::eafb5844-583e-4749-bdf2-4c5817a5a417" providerId="AD" clId="Web-{9E934492-6349-7893-8696-B3D7F56E9F45}" dt="2025-06-16T23:40:42.345" v="2168" actId="20577"/>
        <pc:sldMkLst>
          <pc:docMk/>
          <pc:sldMk cId="1586101822" sldId="566"/>
        </pc:sldMkLst>
        <pc:spChg chg="mod">
          <ac:chgData name="Enrique Roman Pelaez" userId="S::enrique.romanpelaez@plexus.tech::eafb5844-583e-4749-bdf2-4c5817a5a417" providerId="AD" clId="Web-{9E934492-6349-7893-8696-B3D7F56E9F45}" dt="2025-06-16T23:40:42.345" v="2168" actId="20577"/>
          <ac:spMkLst>
            <pc:docMk/>
            <pc:sldMk cId="1586101822" sldId="566"/>
            <ac:spMk id="5" creationId="{C39CDC52-4BD7-0412-6AB1-84412F86E891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19:56:05.292" v="707"/>
          <ac:picMkLst>
            <pc:docMk/>
            <pc:sldMk cId="1586101822" sldId="566"/>
            <ac:picMk id="3" creationId="{84E96BA4-A8BB-C7E2-83D4-CDAB15234238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6T19:56:05.933" v="708"/>
          <ac:picMkLst>
            <pc:docMk/>
            <pc:sldMk cId="1586101822" sldId="566"/>
            <ac:picMk id="6" creationId="{1F884C61-6910-E4FC-B752-DBA34004F9BC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06:51.851" v="2544" actId="20577"/>
        <pc:sldMkLst>
          <pc:docMk/>
          <pc:sldMk cId="3606743397" sldId="567"/>
        </pc:sldMkLst>
        <pc:spChg chg="mod">
          <ac:chgData name="Enrique Roman Pelaez" userId="S::enrique.romanpelaez@plexus.tech::eafb5844-583e-4749-bdf2-4c5817a5a417" providerId="AD" clId="Web-{9E934492-6349-7893-8696-B3D7F56E9F45}" dt="2025-06-17T00:06:51.851" v="2544" actId="20577"/>
          <ac:spMkLst>
            <pc:docMk/>
            <pc:sldMk cId="3606743397" sldId="567"/>
            <ac:spMk id="5" creationId="{BB8FFC7E-95B2-5DE4-6A28-6DDA606333BD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20:07:56.803" v="753"/>
          <ac:picMkLst>
            <pc:docMk/>
            <pc:sldMk cId="3606743397" sldId="567"/>
            <ac:picMk id="3" creationId="{2C6A7697-B02A-D4AF-8CE8-37AD132D9B10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6T20:28:46.486" v="850" actId="1076"/>
          <ac:picMkLst>
            <pc:docMk/>
            <pc:sldMk cId="3606743397" sldId="567"/>
            <ac:picMk id="3" creationId="{CF98ACD7-65A0-7E1C-3B0A-08A59A259044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6T20:07:57.365" v="754"/>
          <ac:picMkLst>
            <pc:docMk/>
            <pc:sldMk cId="3606743397" sldId="567"/>
            <ac:picMk id="6" creationId="{6125D21B-0832-EE65-8972-CC7158081111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17:24.569" v="2667" actId="20577"/>
        <pc:sldMkLst>
          <pc:docMk/>
          <pc:sldMk cId="3631580480" sldId="568"/>
        </pc:sldMkLst>
        <pc:spChg chg="mod">
          <ac:chgData name="Enrique Roman Pelaez" userId="S::enrique.romanpelaez@plexus.tech::eafb5844-583e-4749-bdf2-4c5817a5a417" providerId="AD" clId="Web-{9E934492-6349-7893-8696-B3D7F56E9F45}" dt="2025-06-17T00:17:24.569" v="2667" actId="20577"/>
          <ac:spMkLst>
            <pc:docMk/>
            <pc:sldMk cId="3631580480" sldId="568"/>
            <ac:spMk id="5" creationId="{849FC5D8-2EAF-760E-6F64-7036D4F5F8C0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20:31:20.211" v="893"/>
          <ac:picMkLst>
            <pc:docMk/>
            <pc:sldMk cId="3631580480" sldId="568"/>
            <ac:picMk id="3" creationId="{B433ABE0-6689-1560-3BC9-5AA60D381385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6T20:31:28.773" v="896" actId="14100"/>
          <ac:picMkLst>
            <pc:docMk/>
            <pc:sldMk cId="3631580480" sldId="568"/>
            <ac:picMk id="6" creationId="{D8DA05E8-25F7-6B4C-660D-305E270C11EE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14:54.152" v="2659" actId="1076"/>
        <pc:sldMkLst>
          <pc:docMk/>
          <pc:sldMk cId="4176201314" sldId="569"/>
        </pc:sldMkLst>
        <pc:spChg chg="mod">
          <ac:chgData name="Enrique Roman Pelaez" userId="S::enrique.romanpelaez@plexus.tech::eafb5844-583e-4749-bdf2-4c5817a5a417" providerId="AD" clId="Web-{9E934492-6349-7893-8696-B3D7F56E9F45}" dt="2025-06-17T00:14:51.823" v="2658" actId="20577"/>
          <ac:spMkLst>
            <pc:docMk/>
            <pc:sldMk cId="4176201314" sldId="569"/>
            <ac:spMk id="5" creationId="{62255667-DEC3-0527-A1A2-93116E387FB9}"/>
          </ac:spMkLst>
        </pc:spChg>
        <pc:picChg chg="add mod">
          <ac:chgData name="Enrique Roman Pelaez" userId="S::enrique.romanpelaez@plexus.tech::eafb5844-583e-4749-bdf2-4c5817a5a417" providerId="AD" clId="Web-{9E934492-6349-7893-8696-B3D7F56E9F45}" dt="2025-06-17T00:14:54.152" v="2659" actId="1076"/>
          <ac:picMkLst>
            <pc:docMk/>
            <pc:sldMk cId="4176201314" sldId="569"/>
            <ac:picMk id="3" creationId="{5F284F9F-0665-CFF8-FEDC-9E7FCBF31EA3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6T20:37:30.131" v="932"/>
          <ac:picMkLst>
            <pc:docMk/>
            <pc:sldMk cId="4176201314" sldId="569"/>
            <ac:picMk id="6" creationId="{47C627B4-7623-386D-A35C-0290A49AAFD7}"/>
          </ac:picMkLst>
        </pc:picChg>
      </pc:sldChg>
      <pc:sldChg chg="delSp modSp add replId">
        <pc:chgData name="Enrique Roman Pelaez" userId="S::enrique.romanpelaez@plexus.tech::eafb5844-583e-4749-bdf2-4c5817a5a417" providerId="AD" clId="Web-{9E934492-6349-7893-8696-B3D7F56E9F45}" dt="2025-06-17T00:18:18.839" v="2672" actId="20577"/>
        <pc:sldMkLst>
          <pc:docMk/>
          <pc:sldMk cId="2166799261" sldId="570"/>
        </pc:sldMkLst>
        <pc:spChg chg="mod">
          <ac:chgData name="Enrique Roman Pelaez" userId="S::enrique.romanpelaez@plexus.tech::eafb5844-583e-4749-bdf2-4c5817a5a417" providerId="AD" clId="Web-{9E934492-6349-7893-8696-B3D7F56E9F45}" dt="2025-06-17T00:18:18.839" v="2672" actId="20577"/>
          <ac:spMkLst>
            <pc:docMk/>
            <pc:sldMk cId="2166799261" sldId="570"/>
            <ac:spMk id="5" creationId="{76DFE21F-9FF8-BD1A-B55C-111C8CFECBC9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21:07:02.626" v="953"/>
          <ac:picMkLst>
            <pc:docMk/>
            <pc:sldMk cId="2166799261" sldId="570"/>
            <ac:picMk id="3" creationId="{ABC23E02-AE3D-0987-50ED-52F503A8400D}"/>
          </ac:picMkLst>
        </pc:picChg>
      </pc:sldChg>
      <pc:sldChg chg="add del replId">
        <pc:chgData name="Enrique Roman Pelaez" userId="S::enrique.romanpelaez@plexus.tech::eafb5844-583e-4749-bdf2-4c5817a5a417" providerId="AD" clId="Web-{9E934492-6349-7893-8696-B3D7F56E9F45}" dt="2025-06-17T00:08:51.625" v="2571"/>
        <pc:sldMkLst>
          <pc:docMk/>
          <pc:sldMk cId="4168198873" sldId="571"/>
        </pc:sldMkLst>
      </pc:sldChg>
      <pc:sldChg chg="delSp modSp add ord replId">
        <pc:chgData name="Enrique Roman Pelaez" userId="S::enrique.romanpelaez@plexus.tech::eafb5844-583e-4749-bdf2-4c5817a5a417" providerId="AD" clId="Web-{9E934492-6349-7893-8696-B3D7F56E9F45}" dt="2025-06-17T01:07:28.102" v="3520" actId="20577"/>
        <pc:sldMkLst>
          <pc:docMk/>
          <pc:sldMk cId="2436278753" sldId="572"/>
        </pc:sldMkLst>
        <pc:spChg chg="mod">
          <ac:chgData name="Enrique Roman Pelaez" userId="S::enrique.romanpelaez@plexus.tech::eafb5844-583e-4749-bdf2-4c5817a5a417" providerId="AD" clId="Web-{9E934492-6349-7893-8696-B3D7F56E9F45}" dt="2025-06-17T01:07:28.102" v="3520" actId="20577"/>
          <ac:spMkLst>
            <pc:docMk/>
            <pc:sldMk cId="2436278753" sldId="572"/>
            <ac:spMk id="4" creationId="{8EF5BC57-FCB5-0028-F448-8533DF97176B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21:20:16.299" v="1047"/>
          <ac:picMkLst>
            <pc:docMk/>
            <pc:sldMk cId="2436278753" sldId="572"/>
            <ac:picMk id="5" creationId="{F851524C-9BD9-3396-0861-3A9DF5EBDB5C}"/>
          </ac:picMkLst>
        </pc:picChg>
        <pc:picChg chg="mod">
          <ac:chgData name="Enrique Roman Pelaez" userId="S::enrique.romanpelaez@plexus.tech::eafb5844-583e-4749-bdf2-4c5817a5a417" providerId="AD" clId="Web-{9E934492-6349-7893-8696-B3D7F56E9F45}" dt="2025-06-17T00:58:10.998" v="3396" actId="1076"/>
          <ac:picMkLst>
            <pc:docMk/>
            <pc:sldMk cId="2436278753" sldId="572"/>
            <ac:picMk id="6" creationId="{B1C86F32-1CF7-6245-016A-B3F6120432F7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18:10.369" v="2669" actId="20577"/>
        <pc:sldMkLst>
          <pc:docMk/>
          <pc:sldMk cId="1419908189" sldId="573"/>
        </pc:sldMkLst>
        <pc:spChg chg="mod">
          <ac:chgData name="Enrique Roman Pelaez" userId="S::enrique.romanpelaez@plexus.tech::eafb5844-583e-4749-bdf2-4c5817a5a417" providerId="AD" clId="Web-{9E934492-6349-7893-8696-B3D7F56E9F45}" dt="2025-06-17T00:18:10.369" v="2669" actId="20577"/>
          <ac:spMkLst>
            <pc:docMk/>
            <pc:sldMk cId="1419908189" sldId="573"/>
            <ac:spMk id="5" creationId="{732D5594-2508-E02F-3AFB-6DA3AAFC20F6}"/>
          </ac:spMkLst>
        </pc:spChg>
        <pc:picChg chg="add del mod">
          <ac:chgData name="Enrique Roman Pelaez" userId="S::enrique.romanpelaez@plexus.tech::eafb5844-583e-4749-bdf2-4c5817a5a417" providerId="AD" clId="Web-{9E934492-6349-7893-8696-B3D7F56E9F45}" dt="2025-06-16T23:05:16.276" v="1809"/>
          <ac:picMkLst>
            <pc:docMk/>
            <pc:sldMk cId="1419908189" sldId="573"/>
            <ac:picMk id="3" creationId="{5103B3ED-1D2F-DE96-BD3E-E582D256D97B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23:17.188" v="2712" actId="20577"/>
        <pc:sldMkLst>
          <pc:docMk/>
          <pc:sldMk cId="3890399918" sldId="574"/>
        </pc:sldMkLst>
        <pc:spChg chg="mod">
          <ac:chgData name="Enrique Roman Pelaez" userId="S::enrique.romanpelaez@plexus.tech::eafb5844-583e-4749-bdf2-4c5817a5a417" providerId="AD" clId="Web-{9E934492-6349-7893-8696-B3D7F56E9F45}" dt="2025-06-17T00:23:17.188" v="2712" actId="20577"/>
          <ac:spMkLst>
            <pc:docMk/>
            <pc:sldMk cId="3890399918" sldId="574"/>
            <ac:spMk id="5" creationId="{661F0356-9591-2591-1EC4-EF0E22480A1D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22:17:29.947" v="1202"/>
          <ac:picMkLst>
            <pc:docMk/>
            <pc:sldMk cId="3890399918" sldId="574"/>
            <ac:picMk id="3" creationId="{4B710A06-19E7-76AB-8F6B-A5AC3CC9431B}"/>
          </ac:picMkLst>
        </pc:picChg>
        <pc:picChg chg="add del mod">
          <ac:chgData name="Enrique Roman Pelaez" userId="S::enrique.romanpelaez@plexus.tech::eafb5844-583e-4749-bdf2-4c5817a5a417" providerId="AD" clId="Web-{9E934492-6349-7893-8696-B3D7F56E9F45}" dt="2025-06-16T23:07:17.113" v="1836"/>
          <ac:picMkLst>
            <pc:docMk/>
            <pc:sldMk cId="3890399918" sldId="574"/>
            <ac:picMk id="6" creationId="{9DC6EA49-E7B0-3ED1-7579-4FF7F656BBB2}"/>
          </ac:picMkLst>
        </pc:picChg>
      </pc:sldChg>
      <pc:sldChg chg="addSp delSp modSp add del replId">
        <pc:chgData name="Enrique Roman Pelaez" userId="S::enrique.romanpelaez@plexus.tech::eafb5844-583e-4749-bdf2-4c5817a5a417" providerId="AD" clId="Web-{9E934492-6349-7893-8696-B3D7F56E9F45}" dt="2025-06-17T00:24:00.098" v="2724"/>
        <pc:sldMkLst>
          <pc:docMk/>
          <pc:sldMk cId="1253677344" sldId="575"/>
        </pc:sldMkLst>
        <pc:spChg chg="mod">
          <ac:chgData name="Enrique Roman Pelaez" userId="S::enrique.romanpelaez@plexus.tech::eafb5844-583e-4749-bdf2-4c5817a5a417" providerId="AD" clId="Web-{9E934492-6349-7893-8696-B3D7F56E9F45}" dt="2025-06-17T00:20:42.052" v="2705" actId="20577"/>
          <ac:spMkLst>
            <pc:docMk/>
            <pc:sldMk cId="1253677344" sldId="575"/>
            <ac:spMk id="5" creationId="{F23400E8-27CF-AD27-2814-85E7BB2897CC}"/>
          </ac:spMkLst>
        </pc:spChg>
        <pc:picChg chg="add del mod">
          <ac:chgData name="Enrique Roman Pelaez" userId="S::enrique.romanpelaez@plexus.tech::eafb5844-583e-4749-bdf2-4c5817a5a417" providerId="AD" clId="Web-{9E934492-6349-7893-8696-B3D7F56E9F45}" dt="2025-06-16T23:42:10.711" v="2206"/>
          <ac:picMkLst>
            <pc:docMk/>
            <pc:sldMk cId="1253677344" sldId="575"/>
            <ac:picMk id="3" creationId="{186EDE57-106E-F038-0228-FB11202BB3F6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6T22:26:20.381" v="1239"/>
          <ac:picMkLst>
            <pc:docMk/>
            <pc:sldMk cId="1253677344" sldId="575"/>
            <ac:picMk id="6" creationId="{0C40E09C-7B51-59DB-D036-BB5AE26A571D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6T23:44:00.954" v="2230" actId="14100"/>
          <ac:picMkLst>
            <pc:docMk/>
            <pc:sldMk cId="1253677344" sldId="575"/>
            <ac:picMk id="7" creationId="{6D21FE80-F024-8A65-D2EA-B160FE91259C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14:24.478" v="2650" actId="20577"/>
        <pc:sldMkLst>
          <pc:docMk/>
          <pc:sldMk cId="1510974653" sldId="576"/>
        </pc:sldMkLst>
        <pc:spChg chg="mod">
          <ac:chgData name="Enrique Roman Pelaez" userId="S::enrique.romanpelaez@plexus.tech::eafb5844-583e-4749-bdf2-4c5817a5a417" providerId="AD" clId="Web-{9E934492-6349-7893-8696-B3D7F56E9F45}" dt="2025-06-17T00:14:24.478" v="2650" actId="20577"/>
          <ac:spMkLst>
            <pc:docMk/>
            <pc:sldMk cId="1510974653" sldId="576"/>
            <ac:spMk id="5" creationId="{A81DB7C9-3D1A-32F6-E922-5FF3E6E92C3C}"/>
          </ac:spMkLst>
        </pc:spChg>
        <pc:graphicFrameChg chg="add mod modGraphic">
          <ac:chgData name="Enrique Roman Pelaez" userId="S::enrique.romanpelaez@plexus.tech::eafb5844-583e-4749-bdf2-4c5817a5a417" providerId="AD" clId="Web-{9E934492-6349-7893-8696-B3D7F56E9F45}" dt="2025-06-17T00:12:03.077" v="2622" actId="1076"/>
          <ac:graphicFrameMkLst>
            <pc:docMk/>
            <pc:sldMk cId="1510974653" sldId="576"/>
            <ac:graphicFrameMk id="7" creationId="{C2A5015A-ECFC-40AE-6EC3-92E4C5F67F0E}"/>
          </ac:graphicFrameMkLst>
        </pc:graphicFrameChg>
        <pc:picChg chg="del">
          <ac:chgData name="Enrique Roman Pelaez" userId="S::enrique.romanpelaez@plexus.tech::eafb5844-583e-4749-bdf2-4c5817a5a417" providerId="AD" clId="Web-{9E934492-6349-7893-8696-B3D7F56E9F45}" dt="2025-06-16T22:31:41.030" v="1295"/>
          <ac:picMkLst>
            <pc:docMk/>
            <pc:sldMk cId="1510974653" sldId="576"/>
            <ac:picMk id="3" creationId="{DA1AFA6D-C050-A4F7-0B9B-E97A0BBBEB8B}"/>
          </ac:picMkLst>
        </pc:picChg>
        <pc:picChg chg="add del mod">
          <ac:chgData name="Enrique Roman Pelaez" userId="S::enrique.romanpelaez@plexus.tech::eafb5844-583e-4749-bdf2-4c5817a5a417" providerId="AD" clId="Web-{9E934492-6349-7893-8696-B3D7F56E9F45}" dt="2025-06-16T22:34:30.433" v="1351"/>
          <ac:picMkLst>
            <pc:docMk/>
            <pc:sldMk cId="1510974653" sldId="576"/>
            <ac:picMk id="6" creationId="{BC763AD0-0BEA-6C8C-5B0B-27266788F3C3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7T00:12:08.452" v="2623" actId="1076"/>
          <ac:picMkLst>
            <pc:docMk/>
            <pc:sldMk cId="1510974653" sldId="576"/>
            <ac:picMk id="8" creationId="{D065DB02-6AF7-D938-6ABE-DE70300BCF0E}"/>
          </ac:picMkLst>
        </pc:picChg>
      </pc:sldChg>
      <pc:sldChg chg="addSp modSp add replId">
        <pc:chgData name="Enrique Roman Pelaez" userId="S::enrique.romanpelaez@plexus.tech::eafb5844-583e-4749-bdf2-4c5817a5a417" providerId="AD" clId="Web-{9E934492-6349-7893-8696-B3D7F56E9F45}" dt="2025-06-17T00:23:40.456" v="2723" actId="1076"/>
        <pc:sldMkLst>
          <pc:docMk/>
          <pc:sldMk cId="1788687419" sldId="577"/>
        </pc:sldMkLst>
        <pc:spChg chg="mod">
          <ac:chgData name="Enrique Roman Pelaez" userId="S::enrique.romanpelaez@plexus.tech::eafb5844-583e-4749-bdf2-4c5817a5a417" providerId="AD" clId="Web-{9E934492-6349-7893-8696-B3D7F56E9F45}" dt="2025-06-17T00:23:38.487" v="2722" actId="20577"/>
          <ac:spMkLst>
            <pc:docMk/>
            <pc:sldMk cId="1788687419" sldId="577"/>
            <ac:spMk id="5" creationId="{278C12F5-B5CA-F836-B0D6-27D2FB3CCFCE}"/>
          </ac:spMkLst>
        </pc:spChg>
        <pc:picChg chg="add mod">
          <ac:chgData name="Enrique Roman Pelaez" userId="S::enrique.romanpelaez@plexus.tech::eafb5844-583e-4749-bdf2-4c5817a5a417" providerId="AD" clId="Web-{9E934492-6349-7893-8696-B3D7F56E9F45}" dt="2025-06-16T23:23:41.295" v="2096" actId="1076"/>
          <ac:picMkLst>
            <pc:docMk/>
            <pc:sldMk cId="1788687419" sldId="577"/>
            <ac:picMk id="3" creationId="{EBCCBEFF-49D5-FFEE-BA01-E7429FA0CF9A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6T23:23:25.512" v="2094" actId="14100"/>
          <ac:picMkLst>
            <pc:docMk/>
            <pc:sldMk cId="1788687419" sldId="577"/>
            <ac:picMk id="6" creationId="{97CF4B4E-C5ED-F104-333A-5A2CF1981D2B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7T00:23:40.456" v="2723" actId="1076"/>
          <ac:picMkLst>
            <pc:docMk/>
            <pc:sldMk cId="1788687419" sldId="577"/>
            <ac:picMk id="7" creationId="{64DFCA12-43E4-F441-54A5-406E3CC762E7}"/>
          </ac:picMkLst>
        </pc:picChg>
      </pc:sldChg>
      <pc:sldChg chg="delSp add del replId">
        <pc:chgData name="Enrique Roman Pelaez" userId="S::enrique.romanpelaez@plexus.tech::eafb5844-583e-4749-bdf2-4c5817a5a417" providerId="AD" clId="Web-{9E934492-6349-7893-8696-B3D7F56E9F45}" dt="2025-06-16T23:50:25.154" v="2308"/>
        <pc:sldMkLst>
          <pc:docMk/>
          <pc:sldMk cId="4097181209" sldId="578"/>
        </pc:sldMkLst>
        <pc:picChg chg="del">
          <ac:chgData name="Enrique Roman Pelaez" userId="S::enrique.romanpelaez@plexus.tech::eafb5844-583e-4749-bdf2-4c5817a5a417" providerId="AD" clId="Web-{9E934492-6349-7893-8696-B3D7F56E9F45}" dt="2025-06-16T23:50:15.965" v="2306"/>
          <ac:picMkLst>
            <pc:docMk/>
            <pc:sldMk cId="4097181209" sldId="578"/>
            <ac:picMk id="3" creationId="{1ED578B7-06CE-E648-9867-7B33A46CD8DC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6T23:50:18.028" v="2307"/>
          <ac:picMkLst>
            <pc:docMk/>
            <pc:sldMk cId="4097181209" sldId="578"/>
            <ac:picMk id="7" creationId="{8C8D2E98-6111-655B-4472-04775AE8DC37}"/>
          </ac:picMkLst>
        </pc:picChg>
      </pc:sldChg>
      <pc:sldChg chg="modSp add replId">
        <pc:chgData name="Enrique Roman Pelaez" userId="S::enrique.romanpelaez@plexus.tech::eafb5844-583e-4749-bdf2-4c5817a5a417" providerId="AD" clId="Web-{9E934492-6349-7893-8696-B3D7F56E9F45}" dt="2025-06-17T00:20:46.974" v="2706" actId="20577"/>
        <pc:sldMkLst>
          <pc:docMk/>
          <pc:sldMk cId="2743004262" sldId="579"/>
        </pc:sldMkLst>
        <pc:spChg chg="mod">
          <ac:chgData name="Enrique Roman Pelaez" userId="S::enrique.romanpelaez@plexus.tech::eafb5844-583e-4749-bdf2-4c5817a5a417" providerId="AD" clId="Web-{9E934492-6349-7893-8696-B3D7F56E9F45}" dt="2025-06-17T00:20:46.974" v="2706" actId="20577"/>
          <ac:spMkLst>
            <pc:docMk/>
            <pc:sldMk cId="2743004262" sldId="579"/>
            <ac:spMk id="5" creationId="{65C1E580-7D17-4DAF-35FB-95C3F1B12FA6}"/>
          </ac:spMkLst>
        </pc:spChg>
        <pc:picChg chg="mod">
          <ac:chgData name="Enrique Roman Pelaez" userId="S::enrique.romanpelaez@plexus.tech::eafb5844-583e-4749-bdf2-4c5817a5a417" providerId="AD" clId="Web-{9E934492-6349-7893-8696-B3D7F56E9F45}" dt="2025-06-16T23:47:10.717" v="2270" actId="1076"/>
          <ac:picMkLst>
            <pc:docMk/>
            <pc:sldMk cId="2743004262" sldId="579"/>
            <ac:picMk id="7" creationId="{107A7C1E-EABA-35B9-08C2-33E4410AA231}"/>
          </ac:picMkLst>
        </pc:picChg>
      </pc:sldChg>
      <pc:sldChg chg="add del replId">
        <pc:chgData name="Enrique Roman Pelaez" userId="S::enrique.romanpelaez@plexus.tech::eafb5844-583e-4749-bdf2-4c5817a5a417" providerId="AD" clId="Web-{9E934492-6349-7893-8696-B3D7F56E9F45}" dt="2025-06-16T23:47:25.328" v="2271"/>
        <pc:sldMkLst>
          <pc:docMk/>
          <pc:sldMk cId="187652417" sldId="580"/>
        </pc:sldMkLst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20:53.397" v="2709" actId="20577"/>
        <pc:sldMkLst>
          <pc:docMk/>
          <pc:sldMk cId="2866225748" sldId="580"/>
        </pc:sldMkLst>
        <pc:spChg chg="mod">
          <ac:chgData name="Enrique Roman Pelaez" userId="S::enrique.romanpelaez@plexus.tech::eafb5844-583e-4749-bdf2-4c5817a5a417" providerId="AD" clId="Web-{9E934492-6349-7893-8696-B3D7F56E9F45}" dt="2025-06-17T00:20:53.397" v="2709" actId="20577"/>
          <ac:spMkLst>
            <pc:docMk/>
            <pc:sldMk cId="2866225748" sldId="580"/>
            <ac:spMk id="5" creationId="{AE49255D-D9C3-0843-2841-CDD5111FEAD7}"/>
          </ac:spMkLst>
        </pc:spChg>
        <pc:picChg chg="add mod">
          <ac:chgData name="Enrique Roman Pelaez" userId="S::enrique.romanpelaez@plexus.tech::eafb5844-583e-4749-bdf2-4c5817a5a417" providerId="AD" clId="Web-{9E934492-6349-7893-8696-B3D7F56E9F45}" dt="2025-06-16T23:48:29.379" v="2294" actId="1076"/>
          <ac:picMkLst>
            <pc:docMk/>
            <pc:sldMk cId="2866225748" sldId="580"/>
            <ac:picMk id="3" creationId="{F66EDFDF-00EF-132E-9DFC-E8EABA9DD4F9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6T23:47:48.876" v="2273"/>
          <ac:picMkLst>
            <pc:docMk/>
            <pc:sldMk cId="2866225748" sldId="580"/>
            <ac:picMk id="7" creationId="{402A8256-E0A0-5A08-F77E-22560CA4B95A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20:57.710" v="2710" actId="20577"/>
        <pc:sldMkLst>
          <pc:docMk/>
          <pc:sldMk cId="1089602390" sldId="581"/>
        </pc:sldMkLst>
        <pc:spChg chg="mod">
          <ac:chgData name="Enrique Roman Pelaez" userId="S::enrique.romanpelaez@plexus.tech::eafb5844-583e-4749-bdf2-4c5817a5a417" providerId="AD" clId="Web-{9E934492-6349-7893-8696-B3D7F56E9F45}" dt="2025-06-17T00:20:57.710" v="2710" actId="20577"/>
          <ac:spMkLst>
            <pc:docMk/>
            <pc:sldMk cId="1089602390" sldId="581"/>
            <ac:spMk id="5" creationId="{0D101343-F91D-F2C6-B36B-0AF9657B0C1B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6T23:50:51.796" v="2310"/>
          <ac:picMkLst>
            <pc:docMk/>
            <pc:sldMk cId="1089602390" sldId="581"/>
            <ac:picMk id="3" creationId="{DB1D7C09-9615-9F23-91D8-CE322356EB94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6T23:52:57.993" v="2344" actId="1076"/>
          <ac:picMkLst>
            <pc:docMk/>
            <pc:sldMk cId="1089602390" sldId="581"/>
            <ac:picMk id="6" creationId="{3C9D4B85-245C-D7A5-2359-C09A5721686B}"/>
          </ac:picMkLst>
        </pc:picChg>
      </pc:sldChg>
      <pc:sldChg chg="delSp modSp add replId">
        <pc:chgData name="Enrique Roman Pelaez" userId="S::enrique.romanpelaez@plexus.tech::eafb5844-583e-4749-bdf2-4c5817a5a417" providerId="AD" clId="Web-{9E934492-6349-7893-8696-B3D7F56E9F45}" dt="2025-06-17T06:57:04.176" v="3755" actId="20577"/>
        <pc:sldMkLst>
          <pc:docMk/>
          <pc:sldMk cId="1930874606" sldId="582"/>
        </pc:sldMkLst>
        <pc:spChg chg="mod">
          <ac:chgData name="Enrique Roman Pelaez" userId="S::enrique.romanpelaez@plexus.tech::eafb5844-583e-4749-bdf2-4c5817a5a417" providerId="AD" clId="Web-{9E934492-6349-7893-8696-B3D7F56E9F45}" dt="2025-06-17T06:57:04.176" v="3755" actId="20577"/>
          <ac:spMkLst>
            <pc:docMk/>
            <pc:sldMk cId="1930874606" sldId="582"/>
            <ac:spMk id="5" creationId="{45094C51-BE79-4F83-A872-E56F6E476FFF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0:04:04.698" v="2435"/>
          <ac:picMkLst>
            <pc:docMk/>
            <pc:sldMk cId="1930874606" sldId="582"/>
            <ac:picMk id="3" creationId="{D5684AE8-B485-5488-D67C-075C80AF617F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0:04:04.338" v="2434"/>
          <ac:picMkLst>
            <pc:docMk/>
            <pc:sldMk cId="1930874606" sldId="582"/>
            <ac:picMk id="6" creationId="{653E5096-6829-DFC0-2E2F-5AA8C3AC2A4D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30:16.641" v="2907" actId="14100"/>
        <pc:sldMkLst>
          <pc:docMk/>
          <pc:sldMk cId="2739016639" sldId="583"/>
        </pc:sldMkLst>
        <pc:spChg chg="mod">
          <ac:chgData name="Enrique Roman Pelaez" userId="S::enrique.romanpelaez@plexus.tech::eafb5844-583e-4749-bdf2-4c5817a5a417" providerId="AD" clId="Web-{9E934492-6349-7893-8696-B3D7F56E9F45}" dt="2025-06-17T00:29:30.403" v="2890" actId="20577"/>
          <ac:spMkLst>
            <pc:docMk/>
            <pc:sldMk cId="2739016639" sldId="583"/>
            <ac:spMk id="5" creationId="{D56705A9-F55F-CD01-FAA3-A5CA5AC8D42C}"/>
          </ac:spMkLst>
        </pc:spChg>
        <pc:picChg chg="add mod">
          <ac:chgData name="Enrique Roman Pelaez" userId="S::enrique.romanpelaez@plexus.tech::eafb5844-583e-4749-bdf2-4c5817a5a417" providerId="AD" clId="Web-{9E934492-6349-7893-8696-B3D7F56E9F45}" dt="2025-06-17T00:30:16.641" v="2907" actId="14100"/>
          <ac:picMkLst>
            <pc:docMk/>
            <pc:sldMk cId="2739016639" sldId="583"/>
            <ac:picMk id="3" creationId="{C5E4EAAB-1FBC-E05E-CA93-0797B6992880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0:24:41.023" v="2752"/>
          <ac:picMkLst>
            <pc:docMk/>
            <pc:sldMk cId="2739016639" sldId="583"/>
            <ac:picMk id="6" creationId="{95A813C5-3006-3713-08EE-B4D369D738B0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30:27.407" v="2910" actId="14100"/>
        <pc:sldMkLst>
          <pc:docMk/>
          <pc:sldMk cId="2294207732" sldId="584"/>
        </pc:sldMkLst>
        <pc:spChg chg="mod">
          <ac:chgData name="Enrique Roman Pelaez" userId="S::enrique.romanpelaez@plexus.tech::eafb5844-583e-4749-bdf2-4c5817a5a417" providerId="AD" clId="Web-{9E934492-6349-7893-8696-B3D7F56E9F45}" dt="2025-06-17T00:30:23.548" v="2909" actId="20577"/>
          <ac:spMkLst>
            <pc:docMk/>
            <pc:sldMk cId="2294207732" sldId="584"/>
            <ac:spMk id="5" creationId="{7C4EDB8A-CCC2-0CA2-3A8B-5888318E128B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0:27:29.473" v="2830"/>
          <ac:picMkLst>
            <pc:docMk/>
            <pc:sldMk cId="2294207732" sldId="584"/>
            <ac:picMk id="3" creationId="{AEF59033-E698-5306-249E-BB56DF3F5A5D}"/>
          </ac:picMkLst>
        </pc:picChg>
        <pc:picChg chg="add mod">
          <ac:chgData name="Enrique Roman Pelaez" userId="S::enrique.romanpelaez@plexus.tech::eafb5844-583e-4749-bdf2-4c5817a5a417" providerId="AD" clId="Web-{9E934492-6349-7893-8696-B3D7F56E9F45}" dt="2025-06-17T00:30:27.407" v="2910" actId="14100"/>
          <ac:picMkLst>
            <pc:docMk/>
            <pc:sldMk cId="2294207732" sldId="584"/>
            <ac:picMk id="6" creationId="{DE2174F9-0C73-650B-F53F-0E2D83B834E3}"/>
          </ac:picMkLst>
        </pc:picChg>
      </pc:sldChg>
      <pc:sldChg chg="addSp delSp modSp add replId">
        <pc:chgData name="Enrique Roman Pelaez" userId="S::enrique.romanpelaez@plexus.tech::eafb5844-583e-4749-bdf2-4c5817a5a417" providerId="AD" clId="Web-{9E934492-6349-7893-8696-B3D7F56E9F45}" dt="2025-06-17T00:38:45.835" v="3142" actId="1076"/>
        <pc:sldMkLst>
          <pc:docMk/>
          <pc:sldMk cId="3258199091" sldId="585"/>
        </pc:sldMkLst>
        <pc:spChg chg="mod">
          <ac:chgData name="Enrique Roman Pelaez" userId="S::enrique.romanpelaez@plexus.tech::eafb5844-583e-4749-bdf2-4c5817a5a417" providerId="AD" clId="Web-{9E934492-6349-7893-8696-B3D7F56E9F45}" dt="2025-06-17T00:33:31.077" v="2963" actId="20577"/>
          <ac:spMkLst>
            <pc:docMk/>
            <pc:sldMk cId="3258199091" sldId="585"/>
            <ac:spMk id="5" creationId="{A0FF4151-CC9B-2DAB-226D-EDE2EA89B271}"/>
          </ac:spMkLst>
        </pc:spChg>
        <pc:graphicFrameChg chg="add mod modGraphic">
          <ac:chgData name="Enrique Roman Pelaez" userId="S::enrique.romanpelaez@plexus.tech::eafb5844-583e-4749-bdf2-4c5817a5a417" providerId="AD" clId="Web-{9E934492-6349-7893-8696-B3D7F56E9F45}" dt="2025-06-17T00:38:45.835" v="3142" actId="1076"/>
          <ac:graphicFrameMkLst>
            <pc:docMk/>
            <pc:sldMk cId="3258199091" sldId="585"/>
            <ac:graphicFrameMk id="7" creationId="{E02F6308-8137-5513-D4C1-CCF05D90E19B}"/>
          </ac:graphicFrameMkLst>
        </pc:graphicFrameChg>
        <pc:picChg chg="del">
          <ac:chgData name="Enrique Roman Pelaez" userId="S::enrique.romanpelaez@plexus.tech::eafb5844-583e-4749-bdf2-4c5817a5a417" providerId="AD" clId="Web-{9E934492-6349-7893-8696-B3D7F56E9F45}" dt="2025-06-17T00:33:24.061" v="2959"/>
          <ac:picMkLst>
            <pc:docMk/>
            <pc:sldMk cId="3258199091" sldId="585"/>
            <ac:picMk id="6" creationId="{94331732-F749-96D9-E9E7-99F1CE4F38F2}"/>
          </ac:picMkLst>
        </pc:picChg>
      </pc:sldChg>
      <pc:sldChg chg="modSp add ord replId">
        <pc:chgData name="Enrique Roman Pelaez" userId="S::enrique.romanpelaez@plexus.tech::eafb5844-583e-4749-bdf2-4c5817a5a417" providerId="AD" clId="Web-{9E934492-6349-7893-8696-B3D7F56E9F45}" dt="2025-06-17T01:21:51.401" v="3700" actId="20577"/>
        <pc:sldMkLst>
          <pc:docMk/>
          <pc:sldMk cId="379000961" sldId="586"/>
        </pc:sldMkLst>
        <pc:spChg chg="mod">
          <ac:chgData name="Enrique Roman Pelaez" userId="S::enrique.romanpelaez@plexus.tech::eafb5844-583e-4749-bdf2-4c5817a5a417" providerId="AD" clId="Web-{9E934492-6349-7893-8696-B3D7F56E9F45}" dt="2025-06-17T00:49:33.554" v="3246" actId="20577"/>
          <ac:spMkLst>
            <pc:docMk/>
            <pc:sldMk cId="379000961" sldId="586"/>
            <ac:spMk id="2" creationId="{38F05345-FD23-9A45-40CD-961EBCAE7724}"/>
          </ac:spMkLst>
        </pc:spChg>
        <pc:spChg chg="mod">
          <ac:chgData name="Enrique Roman Pelaez" userId="S::enrique.romanpelaez@plexus.tech::eafb5844-583e-4749-bdf2-4c5817a5a417" providerId="AD" clId="Web-{9E934492-6349-7893-8696-B3D7F56E9F45}" dt="2025-06-17T01:21:51.401" v="3700" actId="20577"/>
          <ac:spMkLst>
            <pc:docMk/>
            <pc:sldMk cId="379000961" sldId="586"/>
            <ac:spMk id="5" creationId="{9D1D3939-EE0C-4E22-540E-C9E633A9A8E5}"/>
          </ac:spMkLst>
        </pc:spChg>
      </pc:sldChg>
      <pc:sldChg chg="delSp modSp add replId">
        <pc:chgData name="Enrique Roman Pelaez" userId="S::enrique.romanpelaez@plexus.tech::eafb5844-583e-4749-bdf2-4c5817a5a417" providerId="AD" clId="Web-{9E934492-6349-7893-8696-B3D7F56E9F45}" dt="2025-06-17T01:07:38.430" v="3524" actId="20577"/>
        <pc:sldMkLst>
          <pc:docMk/>
          <pc:sldMk cId="337218700" sldId="587"/>
        </pc:sldMkLst>
        <pc:spChg chg="mod">
          <ac:chgData name="Enrique Roman Pelaez" userId="S::enrique.romanpelaez@plexus.tech::eafb5844-583e-4749-bdf2-4c5817a5a417" providerId="AD" clId="Web-{9E934492-6349-7893-8696-B3D7F56E9F45}" dt="2025-06-17T01:07:38.430" v="3524" actId="20577"/>
          <ac:spMkLst>
            <pc:docMk/>
            <pc:sldMk cId="337218700" sldId="587"/>
            <ac:spMk id="4" creationId="{9E12289C-322B-0E64-D437-2219D7E17149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0:58:23.937" v="3398"/>
          <ac:picMkLst>
            <pc:docMk/>
            <pc:sldMk cId="337218700" sldId="587"/>
            <ac:picMk id="8" creationId="{4CF9804E-27BC-7629-4EE2-C78951DA8897}"/>
          </ac:picMkLst>
        </pc:picChg>
        <pc:picChg chg="mod">
          <ac:chgData name="Enrique Roman Pelaez" userId="S::enrique.romanpelaez@plexus.tech::eafb5844-583e-4749-bdf2-4c5817a5a417" providerId="AD" clId="Web-{9E934492-6349-7893-8696-B3D7F56E9F45}" dt="2025-06-17T00:59:11.456" v="3426" actId="1076"/>
          <ac:picMkLst>
            <pc:docMk/>
            <pc:sldMk cId="337218700" sldId="587"/>
            <ac:picMk id="9" creationId="{45D47836-BD01-E40F-7EBF-48288F5E9BE0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0:58:30.359" v="3404"/>
          <ac:picMkLst>
            <pc:docMk/>
            <pc:sldMk cId="337218700" sldId="587"/>
            <ac:picMk id="10" creationId="{2AE82650-6F82-EEDB-B3F3-A66C057D37B8}"/>
          </ac:picMkLst>
        </pc:picChg>
      </pc:sldChg>
      <pc:sldChg chg="delSp modSp add replId">
        <pc:chgData name="Enrique Roman Pelaez" userId="S::enrique.romanpelaez@plexus.tech::eafb5844-583e-4749-bdf2-4c5817a5a417" providerId="AD" clId="Web-{9E934492-6349-7893-8696-B3D7F56E9F45}" dt="2025-06-17T01:09:04.499" v="3528" actId="20577"/>
        <pc:sldMkLst>
          <pc:docMk/>
          <pc:sldMk cId="162545287" sldId="588"/>
        </pc:sldMkLst>
        <pc:spChg chg="mod">
          <ac:chgData name="Enrique Roman Pelaez" userId="S::enrique.romanpelaez@plexus.tech::eafb5844-583e-4749-bdf2-4c5817a5a417" providerId="AD" clId="Web-{9E934492-6349-7893-8696-B3D7F56E9F45}" dt="2025-06-17T01:09:04.499" v="3528" actId="20577"/>
          <ac:spMkLst>
            <pc:docMk/>
            <pc:sldMk cId="162545287" sldId="588"/>
            <ac:spMk id="4" creationId="{73808455-566A-D7AA-FE81-0E3E5AED2A88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0:59:19.597" v="3427"/>
          <ac:picMkLst>
            <pc:docMk/>
            <pc:sldMk cId="162545287" sldId="588"/>
            <ac:picMk id="8" creationId="{79B04F91-090B-32E6-E8E1-3CC24504E041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0:59:20.331" v="3428"/>
          <ac:picMkLst>
            <pc:docMk/>
            <pc:sldMk cId="162545287" sldId="588"/>
            <ac:picMk id="9" creationId="{1A631782-F3EE-60D0-17D9-DCFC506E1BC5}"/>
          </ac:picMkLst>
        </pc:picChg>
        <pc:picChg chg="mod">
          <ac:chgData name="Enrique Roman Pelaez" userId="S::enrique.romanpelaez@plexus.tech::eafb5844-583e-4749-bdf2-4c5817a5a417" providerId="AD" clId="Web-{9E934492-6349-7893-8696-B3D7F56E9F45}" dt="2025-06-17T01:05:48.891" v="3475" actId="1076"/>
          <ac:picMkLst>
            <pc:docMk/>
            <pc:sldMk cId="162545287" sldId="588"/>
            <ac:picMk id="10" creationId="{7A7F2B49-9035-DCE6-6599-5B0B20AABB01}"/>
          </ac:picMkLst>
        </pc:picChg>
      </pc:sldChg>
      <pc:sldChg chg="delSp modSp add replId">
        <pc:chgData name="Enrique Roman Pelaez" userId="S::enrique.romanpelaez@plexus.tech::eafb5844-583e-4749-bdf2-4c5817a5a417" providerId="AD" clId="Web-{9E934492-6349-7893-8696-B3D7F56E9F45}" dt="2025-06-17T01:14:10.787" v="3590"/>
        <pc:sldMkLst>
          <pc:docMk/>
          <pc:sldMk cId="3615387633" sldId="589"/>
        </pc:sldMkLst>
        <pc:spChg chg="mod">
          <ac:chgData name="Enrique Roman Pelaez" userId="S::enrique.romanpelaez@plexus.tech::eafb5844-583e-4749-bdf2-4c5817a5a417" providerId="AD" clId="Web-{9E934492-6349-7893-8696-B3D7F56E9F45}" dt="2025-06-17T01:11:22.009" v="3547" actId="20577"/>
          <ac:spMkLst>
            <pc:docMk/>
            <pc:sldMk cId="3615387633" sldId="589"/>
            <ac:spMk id="4" creationId="{60189AF0-EC9F-5A02-5248-5C23A3F7C084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1:06:00.439" v="3478"/>
          <ac:picMkLst>
            <pc:docMk/>
            <pc:sldMk cId="3615387633" sldId="589"/>
            <ac:picMk id="3" creationId="{D29FFCAE-199F-B195-1CBC-6B2BF4999C17}"/>
          </ac:picMkLst>
        </pc:picChg>
        <pc:picChg chg="mod">
          <ac:chgData name="Enrique Roman Pelaez" userId="S::enrique.romanpelaez@plexus.tech::eafb5844-583e-4749-bdf2-4c5817a5a417" providerId="AD" clId="Web-{9E934492-6349-7893-8696-B3D7F56E9F45}" dt="2025-06-17T01:09:35.064" v="3531" actId="14100"/>
          <ac:picMkLst>
            <pc:docMk/>
            <pc:sldMk cId="3615387633" sldId="589"/>
            <ac:picMk id="5" creationId="{C158E0C8-BF8A-5F20-0FD0-1F5FCB808002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05:59.126" v="3477"/>
          <ac:picMkLst>
            <pc:docMk/>
            <pc:sldMk cId="3615387633" sldId="589"/>
            <ac:picMk id="6" creationId="{07B97D30-77BD-3A94-5DB9-135C95ADF470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14:10.787" v="3590"/>
          <ac:picMkLst>
            <pc:docMk/>
            <pc:sldMk cId="3615387633" sldId="589"/>
            <ac:picMk id="1028" creationId="{E52A8F9D-F1F3-1987-EC0F-AD4665DE81B7}"/>
          </ac:picMkLst>
        </pc:picChg>
      </pc:sldChg>
      <pc:sldChg chg="delSp modSp add replId">
        <pc:chgData name="Enrique Roman Pelaez" userId="S::enrique.romanpelaez@plexus.tech::eafb5844-583e-4749-bdf2-4c5817a5a417" providerId="AD" clId="Web-{9E934492-6349-7893-8696-B3D7F56E9F45}" dt="2025-06-17T01:14:15.288" v="3591"/>
        <pc:sldMkLst>
          <pc:docMk/>
          <pc:sldMk cId="1755054677" sldId="590"/>
        </pc:sldMkLst>
        <pc:spChg chg="mod">
          <ac:chgData name="Enrique Roman Pelaez" userId="S::enrique.romanpelaez@plexus.tech::eafb5844-583e-4749-bdf2-4c5817a5a417" providerId="AD" clId="Web-{9E934492-6349-7893-8696-B3D7F56E9F45}" dt="2025-06-17T01:11:06.180" v="3543" actId="20577"/>
          <ac:spMkLst>
            <pc:docMk/>
            <pc:sldMk cId="1755054677" sldId="590"/>
            <ac:spMk id="4" creationId="{6A4D26A2-70F4-7A52-E10A-B7FED6A409C7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1:07:06.397" v="3516"/>
          <ac:picMkLst>
            <pc:docMk/>
            <pc:sldMk cId="1755054677" sldId="590"/>
            <ac:picMk id="3" creationId="{79A69191-D14E-253F-4F86-7AF525DD536B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07:06.428" v="3517"/>
          <ac:picMkLst>
            <pc:docMk/>
            <pc:sldMk cId="1755054677" sldId="590"/>
            <ac:picMk id="5" creationId="{37141BD9-D3DF-652F-A17D-A0106531D119}"/>
          </ac:picMkLst>
        </pc:picChg>
        <pc:picChg chg="mod">
          <ac:chgData name="Enrique Roman Pelaez" userId="S::enrique.romanpelaez@plexus.tech::eafb5844-583e-4749-bdf2-4c5817a5a417" providerId="AD" clId="Web-{9E934492-6349-7893-8696-B3D7F56E9F45}" dt="2025-06-17T01:09:59.003" v="3537" actId="1076"/>
          <ac:picMkLst>
            <pc:docMk/>
            <pc:sldMk cId="1755054677" sldId="590"/>
            <ac:picMk id="6" creationId="{686A3E33-928C-EF12-EC4B-4A72253BBB92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14:15.288" v="3591"/>
          <ac:picMkLst>
            <pc:docMk/>
            <pc:sldMk cId="1755054677" sldId="590"/>
            <ac:picMk id="1028" creationId="{ACAA482B-8F3A-A8AF-9519-66CC5F216858}"/>
          </ac:picMkLst>
        </pc:picChg>
      </pc:sldChg>
      <pc:sldChg chg="delSp modSp add replId">
        <pc:chgData name="Enrique Roman Pelaez" userId="S::enrique.romanpelaez@plexus.tech::eafb5844-583e-4749-bdf2-4c5817a5a417" providerId="AD" clId="Web-{9E934492-6349-7893-8696-B3D7F56E9F45}" dt="2025-06-17T01:15:05.869" v="3596" actId="20577"/>
        <pc:sldMkLst>
          <pc:docMk/>
          <pc:sldMk cId="3012465672" sldId="591"/>
        </pc:sldMkLst>
        <pc:spChg chg="mod">
          <ac:chgData name="Enrique Roman Pelaez" userId="S::enrique.romanpelaez@plexus.tech::eafb5844-583e-4749-bdf2-4c5817a5a417" providerId="AD" clId="Web-{9E934492-6349-7893-8696-B3D7F56E9F45}" dt="2025-06-17T01:15:05.869" v="3596" actId="20577"/>
          <ac:spMkLst>
            <pc:docMk/>
            <pc:sldMk cId="3012465672" sldId="591"/>
            <ac:spMk id="4" creationId="{91A35A2D-324D-0BA6-7ACD-6FC338967E92}"/>
          </ac:spMkLst>
        </pc:spChg>
        <pc:picChg chg="del">
          <ac:chgData name="Enrique Roman Pelaez" userId="S::enrique.romanpelaez@plexus.tech::eafb5844-583e-4749-bdf2-4c5817a5a417" providerId="AD" clId="Web-{9E934492-6349-7893-8696-B3D7F56E9F45}" dt="2025-06-17T01:13:41.457" v="3585"/>
          <ac:picMkLst>
            <pc:docMk/>
            <pc:sldMk cId="3012465672" sldId="591"/>
            <ac:picMk id="3" creationId="{3631B9E0-E8F0-0F89-7A88-D13EF5D6A0D1}"/>
          </ac:picMkLst>
        </pc:picChg>
        <pc:picChg chg="del">
          <ac:chgData name="Enrique Roman Pelaez" userId="S::enrique.romanpelaez@plexus.tech::eafb5844-583e-4749-bdf2-4c5817a5a417" providerId="AD" clId="Web-{9E934492-6349-7893-8696-B3D7F56E9F45}" dt="2025-06-17T01:14:44.243" v="3593"/>
          <ac:picMkLst>
            <pc:docMk/>
            <pc:sldMk cId="3012465672" sldId="591"/>
            <ac:picMk id="1028" creationId="{16E19D66-9F7F-35C6-1B85-5611733A7670}"/>
          </ac:picMkLst>
        </pc:picChg>
      </pc:sldChg>
      <pc:sldChg chg="add del replId">
        <pc:chgData name="Enrique Roman Pelaez" userId="S::enrique.romanpelaez@plexus.tech::eafb5844-583e-4749-bdf2-4c5817a5a417" providerId="AD" clId="Web-{9E934492-6349-7893-8696-B3D7F56E9F45}" dt="2025-06-17T01:24:23.381" v="3714"/>
        <pc:sldMkLst>
          <pc:docMk/>
          <pc:sldMk cId="2308955776" sldId="5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8F867-230C-461D-8BB8-D2116231DDCA}" type="datetimeFigureOut"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714E0-E1B7-414D-B561-17C6C526FC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72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12F85-C84E-0794-4C5B-4E1041E3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D2561-342C-5482-093A-3E81C4D1F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E44E3-C607-52B4-C630-CAB0EC2BF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F792-C425-D379-6CB3-B374D282F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92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B032-BFDD-8190-463D-B148E9452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42457-55E5-3EDB-0F12-1253A1C9F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ABBA2-9352-E914-F17C-C081372D3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37CD7-3F20-E25F-ADE7-29BE93A36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0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583AF-38F7-D7DB-FBDF-040B3AB5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73635-D454-951A-A6D4-7C5C25721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538A6-43A3-1E73-FC91-014987FE1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EB557-C398-2C63-2AC5-1DFCB53EC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32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ACCD-D670-A050-217C-0EC7D5BF1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E9B4C-9FB4-4509-C32D-30B95C569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C13F9-3C6B-CC39-11B1-085DF8BC0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5406-63A2-3ABB-5095-B243226F2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40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7E17A-462A-2180-5AB8-0FE001E1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67F5A-EA95-2EC2-7154-A375EAF9B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F3254-9E0C-5973-8875-B56DE2E97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A83D8-DD88-7167-693A-4462580B9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219B7-6293-DD3C-442E-3D537BB3F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A7B85-B627-DD26-1758-2EA6F8A5B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83340-0549-0C71-7DE4-A6AFB6C02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FD3DC-E860-251C-4F45-B65185F43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00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1CA7-DB6C-14B8-B0DC-10CE00DE3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7A198-5CA5-F20A-7D7E-E4D61ECD6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1DCD2-F7C3-B071-1D5E-3F831A876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D0800-5FA5-B1B0-3392-ADF8FA320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36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71B9-9C79-2FC5-4455-F92127B3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32D14-29EE-8681-73BF-5B406DA5A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B62A3-BD9B-A02C-AE93-C0B5B295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1BC19-0D91-FE2E-A5A8-819C7676A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660D-7F1A-2778-7DDE-6C14781F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F42E0-011C-C7F3-C570-55AA7F513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0D62B-4AA9-BA09-96CD-E682EE44D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4AF40-EB25-66FC-CAD8-57D5E53A0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1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FC03A-1158-7DC2-FCFD-D08FB15F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738ED-E4D9-0799-51A8-36F64260E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8D5E8-6BFE-59A7-D688-47408E7C8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2C076-3D64-DC73-EBDA-E75E762FD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87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7DF7-0AD1-D9E5-742C-0A9E417D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7CE5E-3F94-11C8-EE5D-C395027C2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3153C-2EAF-0264-45C7-4AB8B7325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526B4-7B52-510A-0A0D-79CC40243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40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19E80-498F-2A40-69DF-14252FE6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309B5-5223-F1DB-D142-B8FB58C96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4AB57-C377-6332-1F77-C80442572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09F55-D1D0-17F6-9A7D-4E01F2EF8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2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3F02-83CF-A570-B610-D4043E49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DB6F1-DCAF-3E8B-6ABD-C8397B36D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FF9B0-3C1E-1CC4-E9D6-951061B21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0323A-4F08-A3F1-2A11-BF7D4B41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2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B46C1-7030-2B83-B849-877909F21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5013D-AD2B-BAE8-37B6-5B6D0F8BC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CE2F6-B562-8326-F5AB-E04A84FAB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CE54E-4E65-A6C7-225F-F9C9F31FA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97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52269-8D5E-FED5-30BE-E3C4FF57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F6B01-3D88-0E78-1AF4-2543D2373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3525E-501B-2A31-AB79-25C65DBF4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56525-38D9-4C62-F1D2-BB19FB359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29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78AC6-90F1-6166-4014-AC81409E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760AB-88E1-443C-93BE-895A047B0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BB9A1-B57E-E881-E1F3-39EA2D553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0549E-346C-C7F7-2E31-CFC30363C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71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D7FCF-FFD9-FC85-F5BA-943FC1C0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11538-3D6B-F26A-918E-3182341A2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92D8E-425D-4716-333E-0AA9FFC8B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32950-82F6-B5CF-7109-0E77FBD19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93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2DEF-5280-9828-9673-9B7D2720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9A8F0-BA3C-658F-5FAC-A673F50B0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1AA37-36F1-A159-BFB3-CF99504FC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00D32-3E0C-5EE1-10FA-8B743DE60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64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1DF1B-3787-363F-25F7-C9590776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0B801-0915-CF9C-832A-3BF064D52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C0DC0-1DC7-C286-5C98-C1C17E124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0E5B5-B6E8-7CBD-93F6-3C8F5F42E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72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1FCAE-153B-E839-1998-3F7249B0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71D2F-2ADA-D29C-DCBC-B701F7A10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AC768-20DE-8D88-A80D-210937464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1A866-01C3-C5E0-0F45-5D4D746B8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617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334A-B56E-0AE6-B985-6FE4A6FA3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C272B-7050-1FDC-DE6D-BECFEDD20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81CD1-B782-5E26-E182-F42A611FD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D0E0D-2B3E-AC23-1F99-08D37361B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84753-3BEF-9FFF-F34A-F48BB70D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B7FA0-2AAC-FD9E-A1CE-1CE69F9FC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DD283-60FB-5E57-A5B2-EB02AA32E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77A04-7EE9-6505-E58C-061F50AA6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486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E62-DF90-1FB4-FA65-6EF8A25D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8B139-6FF9-6C7C-6AB8-32E4A6389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E5E9C-D911-4580-8019-6C20B150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4389D-92E5-E7C0-F8BC-8653ABC40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211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F7DA-A8EC-791A-49F7-B69F6A6C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FB851-A00D-CEF2-8575-02D2D1C26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889AD-44E7-4D1E-C45E-B3D68C1AE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D3BF1-E8AD-E2C4-4EAE-C616BFEAB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39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E75F-D386-B03E-7BE4-DCFF9EC5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B44B9-A572-52AD-04D9-5FD3B2AB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64F15-501B-D7FC-BE36-BB35BC0F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1E8B9-7C14-F8A0-81A3-9608DD14E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662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88A35-C723-9405-61EC-F8C5F9F7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3D6C6-3F60-EDFC-C1BE-C7E453CAE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AD6C3-5C9A-D9D7-490C-8FCBB8A8B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C1FC3-14A1-C17A-4CBC-EF7905364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20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3D7F-2C25-2131-C137-176B82C9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6B153-BDF1-D1CF-C85D-2D3E8F941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C4B26-42C5-E734-9EE2-1CEC31B5D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D03DD-3717-E3D7-438A-3A45B0CF0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650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Buenas</a:t>
            </a:r>
            <a:r>
              <a:rPr lang="en-US" b="1"/>
              <a:t> </a:t>
            </a:r>
            <a:r>
              <a:rPr lang="en-US" b="1" err="1"/>
              <a:t>prácticas</a:t>
            </a:r>
            <a:r>
              <a:rPr lang="en-US" b="1"/>
              <a:t>:</a:t>
            </a:r>
            <a:endParaRPr lang="en-US"/>
          </a:p>
          <a:p>
            <a:pPr marL="171450" indent="-171450">
              <a:buFont typeface="Arial,Sans-Serif"/>
              <a:buChar char="•"/>
            </a:pPr>
            <a:r>
              <a:rPr lang="en-US"/>
              <a:t>Usa </a:t>
            </a:r>
            <a:r>
              <a:rPr lang="en-US" err="1"/>
              <a:t>filtros</a:t>
            </a:r>
            <a:r>
              <a:rPr lang="en-US"/>
              <a:t> a </a:t>
            </a:r>
            <a:r>
              <a:rPr lang="en-US" err="1"/>
              <a:t>nivel</a:t>
            </a:r>
            <a:r>
              <a:rPr lang="en-US"/>
              <a:t> de </a:t>
            </a:r>
            <a:r>
              <a:rPr lang="en-US" err="1"/>
              <a:t>visualización</a:t>
            </a:r>
            <a:r>
              <a:rPr lang="en-US"/>
              <a:t> para </a:t>
            </a:r>
            <a:r>
              <a:rPr lang="en-US" err="1"/>
              <a:t>comparaciones</a:t>
            </a:r>
            <a:r>
              <a:rPr lang="en-US"/>
              <a:t> </a:t>
            </a:r>
            <a:r>
              <a:rPr lang="en-US" err="1"/>
              <a:t>específicas</a:t>
            </a:r>
            <a:r>
              <a:rPr lang="en-US"/>
              <a:t>.</a:t>
            </a:r>
          </a:p>
          <a:p>
            <a:pPr marL="171450" indent="-171450">
              <a:buFont typeface="Arial,Sans-Serif"/>
              <a:buChar char="•"/>
            </a:pPr>
            <a:r>
              <a:rPr lang="en-US"/>
              <a:t>Documenta o indica </a:t>
            </a:r>
            <a:r>
              <a:rPr lang="en-US" err="1"/>
              <a:t>claramente</a:t>
            </a:r>
            <a:r>
              <a:rPr lang="en-US"/>
              <a:t> </a:t>
            </a:r>
            <a:r>
              <a:rPr lang="en-US" err="1"/>
              <a:t>qué</a:t>
            </a:r>
            <a:r>
              <a:rPr lang="en-US"/>
              <a:t> </a:t>
            </a:r>
            <a:r>
              <a:rPr lang="en-US" err="1"/>
              <a:t>filtros</a:t>
            </a:r>
            <a:r>
              <a:rPr lang="en-US"/>
              <a:t> </a:t>
            </a:r>
            <a:r>
              <a:rPr lang="en-US" err="1"/>
              <a:t>están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.</a:t>
            </a:r>
          </a:p>
          <a:p>
            <a:pPr marL="171450" indent="-171450">
              <a:buFont typeface="Arial,Sans-Serif"/>
              <a:buChar char="•"/>
            </a:pPr>
            <a:r>
              <a:rPr lang="en-US"/>
              <a:t>Evita </a:t>
            </a:r>
            <a:r>
              <a:rPr lang="en-US" err="1"/>
              <a:t>filtros</a:t>
            </a:r>
            <a:r>
              <a:rPr lang="en-US"/>
              <a:t> </a:t>
            </a:r>
            <a:r>
              <a:rPr lang="en-US" err="1"/>
              <a:t>ocultos</a:t>
            </a:r>
            <a:r>
              <a:rPr lang="en-US"/>
              <a:t> que </a:t>
            </a:r>
            <a:r>
              <a:rPr lang="en-US" err="1"/>
              <a:t>puedan</a:t>
            </a:r>
            <a:r>
              <a:rPr lang="en-US"/>
              <a:t> </a:t>
            </a:r>
            <a:r>
              <a:rPr lang="en-US" err="1"/>
              <a:t>confundir</a:t>
            </a:r>
            <a:r>
              <a:rPr lang="en-US"/>
              <a:t> al </a:t>
            </a:r>
            <a:r>
              <a:rPr lang="en-US" err="1"/>
              <a:t>usuario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22E7B-5746-4936-B7A3-349494A2EEE6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41730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DC2E-37E1-D514-2B4B-EE7EFB9E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F6667-E610-D421-385C-9F91DE473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FAD93-9008-7436-B321-DBBF9BBE3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Buenas</a:t>
            </a:r>
            <a:r>
              <a:rPr lang="en-US" b="1"/>
              <a:t> </a:t>
            </a:r>
            <a:r>
              <a:rPr lang="en-US" b="1" err="1"/>
              <a:t>prácticas</a:t>
            </a:r>
            <a:r>
              <a:rPr lang="en-US" b="1"/>
              <a:t>:</a:t>
            </a:r>
            <a:endParaRPr lang="en-US"/>
          </a:p>
          <a:p>
            <a:pPr marL="171450" indent="-171450">
              <a:buFont typeface="Arial,Sans-Serif"/>
              <a:buChar char="•"/>
            </a:pPr>
            <a:r>
              <a:rPr lang="en-US"/>
              <a:t>Usa </a:t>
            </a:r>
            <a:r>
              <a:rPr lang="en-US" err="1"/>
              <a:t>filtros</a:t>
            </a:r>
            <a:r>
              <a:rPr lang="en-US"/>
              <a:t> a </a:t>
            </a:r>
            <a:r>
              <a:rPr lang="en-US" err="1"/>
              <a:t>nivel</a:t>
            </a:r>
            <a:r>
              <a:rPr lang="en-US"/>
              <a:t> de </a:t>
            </a:r>
            <a:r>
              <a:rPr lang="en-US" err="1"/>
              <a:t>visualización</a:t>
            </a:r>
            <a:r>
              <a:rPr lang="en-US"/>
              <a:t> para </a:t>
            </a:r>
            <a:r>
              <a:rPr lang="en-US" err="1"/>
              <a:t>comparaciones</a:t>
            </a:r>
            <a:r>
              <a:rPr lang="en-US"/>
              <a:t> </a:t>
            </a:r>
            <a:r>
              <a:rPr lang="en-US" err="1"/>
              <a:t>específicas</a:t>
            </a:r>
            <a:r>
              <a:rPr lang="en-US"/>
              <a:t>.</a:t>
            </a:r>
          </a:p>
          <a:p>
            <a:pPr marL="171450" indent="-171450">
              <a:buFont typeface="Arial,Sans-Serif"/>
              <a:buChar char="•"/>
            </a:pPr>
            <a:r>
              <a:rPr lang="en-US"/>
              <a:t>Documenta o indica </a:t>
            </a:r>
            <a:r>
              <a:rPr lang="en-US" err="1"/>
              <a:t>claramente</a:t>
            </a:r>
            <a:r>
              <a:rPr lang="en-US"/>
              <a:t> </a:t>
            </a:r>
            <a:r>
              <a:rPr lang="en-US" err="1"/>
              <a:t>qué</a:t>
            </a:r>
            <a:r>
              <a:rPr lang="en-US"/>
              <a:t> </a:t>
            </a:r>
            <a:r>
              <a:rPr lang="en-US" err="1"/>
              <a:t>filtros</a:t>
            </a:r>
            <a:r>
              <a:rPr lang="en-US"/>
              <a:t> </a:t>
            </a:r>
            <a:r>
              <a:rPr lang="en-US" err="1"/>
              <a:t>están</a:t>
            </a:r>
            <a:r>
              <a:rPr lang="en-US"/>
              <a:t> </a:t>
            </a:r>
            <a:r>
              <a:rPr lang="en-US" err="1"/>
              <a:t>activos</a:t>
            </a:r>
            <a:r>
              <a:rPr lang="en-US"/>
              <a:t>.</a:t>
            </a:r>
          </a:p>
          <a:p>
            <a:pPr marL="171450" indent="-171450">
              <a:buFont typeface="Arial,Sans-Serif"/>
              <a:buChar char="•"/>
            </a:pPr>
            <a:r>
              <a:rPr lang="en-US"/>
              <a:t>Evita </a:t>
            </a:r>
            <a:r>
              <a:rPr lang="en-US" err="1"/>
              <a:t>filtros</a:t>
            </a:r>
            <a:r>
              <a:rPr lang="en-US"/>
              <a:t> </a:t>
            </a:r>
            <a:r>
              <a:rPr lang="en-US" err="1"/>
              <a:t>ocultos</a:t>
            </a:r>
            <a:r>
              <a:rPr lang="en-US"/>
              <a:t> que </a:t>
            </a:r>
            <a:r>
              <a:rPr lang="en-US" err="1"/>
              <a:t>puedan</a:t>
            </a:r>
            <a:r>
              <a:rPr lang="en-US"/>
              <a:t> </a:t>
            </a:r>
            <a:r>
              <a:rPr lang="en-US" err="1"/>
              <a:t>confundir</a:t>
            </a:r>
            <a:r>
              <a:rPr lang="en-US"/>
              <a:t> al </a:t>
            </a:r>
            <a:r>
              <a:rPr lang="en-US" err="1"/>
              <a:t>usuario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89515-7748-FB74-B41E-83C19FFDD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22E7B-5746-4936-B7A3-349494A2EEE6}" type="slidenum">
              <a:rPr lang="es-ES" smtClean="0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754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8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8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1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4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2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9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1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Gráfico económico digital">
            <a:extLst>
              <a:ext uri="{FF2B5EF4-FFF2-40B4-BE49-F238E27FC236}">
                <a16:creationId xmlns:a16="http://schemas.microsoft.com/office/drawing/2014/main" id="{61B78A45-B1FB-99A6-9A7D-62BA39178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920574" cy="45905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ES" sz="4800">
                <a:solidFill>
                  <a:srgbClr val="FFFFFF"/>
                </a:solidFill>
              </a:rPr>
              <a:t>ANALÍTICA DE DATOS </a:t>
            </a:r>
            <a:br>
              <a:rPr lang="es-ES" sz="4800"/>
            </a:br>
            <a:r>
              <a:rPr lang="es-ES" sz="4800">
                <a:solidFill>
                  <a:srgbClr val="FFFFFF"/>
                </a:solidFill>
              </a:rPr>
              <a:t>Y POWER BI</a:t>
            </a:r>
            <a:br>
              <a:rPr lang="es-ES" sz="5400"/>
            </a:br>
            <a:br>
              <a:rPr lang="es-ES" sz="5400"/>
            </a:br>
            <a:r>
              <a:rPr lang="es-ES" sz="7300">
                <a:solidFill>
                  <a:srgbClr val="FFFFFF"/>
                </a:solidFill>
              </a:rPr>
              <a:t>SESION 07</a:t>
            </a:r>
            <a:r>
              <a:rPr lang="es-ES" sz="6700">
                <a:solidFill>
                  <a:srgbClr val="FFFFFF"/>
                </a:solidFill>
              </a:rPr>
              <a:t> </a:t>
            </a:r>
            <a:br>
              <a:rPr lang="es-ES" sz="6700"/>
            </a:br>
            <a:r>
              <a:rPr lang="es-ES" sz="4900">
                <a:solidFill>
                  <a:srgbClr val="FFFFFF"/>
                </a:solidFill>
              </a:rPr>
              <a:t>MODELADO Y VISUALIZACION DE DATOS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70C6F-5843-788C-E66A-316BB2E7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39" y="6171871"/>
            <a:ext cx="1777233" cy="461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A126D8-33B9-5D37-7D77-F3DD0A16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76" y="6171543"/>
            <a:ext cx="1841281" cy="4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46B6A-386A-54EB-3777-9723270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784D-03E4-B3AA-9BCA-C99A0A07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06630"/>
            <a:ext cx="11160942" cy="889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SESIONES PENDIENTES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091E60-4099-B3FF-A35B-A43B1F48A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324157"/>
              </p:ext>
            </p:extLst>
          </p:nvPr>
        </p:nvGraphicFramePr>
        <p:xfrm>
          <a:off x="604097" y="1526709"/>
          <a:ext cx="11050107" cy="458371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21656">
                  <a:extLst>
                    <a:ext uri="{9D8B030D-6E8A-4147-A177-3AD203B41FA5}">
                      <a16:colId xmlns:a16="http://schemas.microsoft.com/office/drawing/2014/main" val="3256238080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1312472185"/>
                    </a:ext>
                  </a:extLst>
                </a:gridCol>
                <a:gridCol w="7430608">
                  <a:extLst>
                    <a:ext uri="{9D8B030D-6E8A-4147-A177-3AD203B41FA5}">
                      <a16:colId xmlns:a16="http://schemas.microsoft.com/office/drawing/2014/main" val="2903575754"/>
                    </a:ext>
                  </a:extLst>
                </a:gridCol>
              </a:tblGrid>
              <a:tr h="444575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TEMARIO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06245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1"/>
                        <a:t>07/05/2025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07/05/2025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i="1"/>
                        <a:t>SESION 01 - ANALÍTICA DE DATOS (</a:t>
                      </a:r>
                      <a:r>
                        <a:rPr lang="en-US" sz="1600" i="1" err="1"/>
                        <a:t>Sesión</a:t>
                      </a:r>
                      <a:r>
                        <a:rPr lang="en-US" sz="1600" i="1"/>
                        <a:t> </a:t>
                      </a:r>
                      <a:r>
                        <a:rPr lang="en-US" sz="1600" i="1" err="1"/>
                        <a:t>conjunta</a:t>
                      </a:r>
                      <a:r>
                        <a:rPr lang="en-US" sz="1600" i="1"/>
                        <a:t> 02 horas)</a:t>
                      </a:r>
                      <a:endParaRPr lang="en-US" sz="1600" b="0" i="1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45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14/05/2025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14/05/2025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02 – INTRODUCCION POWER BI 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Sesión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conjunta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05513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20/05/2025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21/05/2025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SESION 03 - TRANSFORMACIÓN DE DATOS I (</a:t>
                      </a:r>
                      <a:r>
                        <a:rPr lang="en-US" sz="1600" b="0" err="1"/>
                        <a:t>Básica</a:t>
                      </a:r>
                      <a:r>
                        <a:rPr lang="en-US" sz="1600" b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258542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27/05/2025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28/05/2025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SESION 04 -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TRANSFORMACIÓN DE DATOS II  (Intermedia)</a:t>
                      </a:r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76922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03/06/2025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04/06/2025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05 – TRANSFORMACIÓN DE DATOS III (Avanzada)</a:t>
                      </a:r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55308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/>
                        <a:t>10/06/2025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/>
                        <a:t>11/06/2025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06 –MODELADO DE DATOS E INFORMES </a:t>
                      </a:r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140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1"/>
                        <a:t>17/06/2025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1"/>
                        <a:t>18/06/2025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1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07 – VISUALIZACIÓN DE DATOS</a:t>
                      </a:r>
                      <a:endParaRPr lang="en-US" sz="2000" b="1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804357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24/06/2025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25/06/2025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08 – CASOS PRÁCTICOS I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89651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 b="1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 b="1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09 – CASOS PRÁCTICOS II Y BUENAS PRÁCTICAS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718880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/>
                        <a:t>02/07/2025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02/07/2025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SESION 10 – EVALUACIÓN FINAL Y CIERRE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Sesión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conjunta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 02 horas)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312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12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DE5FA-B5C6-6D92-9DD3-B5385243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6635-8952-4361-6C1F-3F5A9A74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06630"/>
            <a:ext cx="11160942" cy="889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SOBRE ESTE CURSO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245F6-7A94-A38B-063F-9FF5D1EB66E2}"/>
              </a:ext>
            </a:extLst>
          </p:cNvPr>
          <p:cNvSpPr txBox="1"/>
          <p:nvPr/>
        </p:nvSpPr>
        <p:spPr>
          <a:xfrm>
            <a:off x="576470" y="1318591"/>
            <a:ext cx="11092069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b="1"/>
              <a:t>CRITERIOS DE EVALUACIÓN: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 sz="2800" b="1"/>
              <a:t>01 EVALUACION FINAL O SUMATIVA (02/07/2025)</a:t>
            </a:r>
            <a:endParaRPr lang="en-US" sz="2800"/>
          </a:p>
          <a:p>
            <a:pPr marL="800100" lvl="1" indent="-342900">
              <a:buFont typeface="Calibri"/>
              <a:buChar char="-"/>
            </a:pPr>
            <a:r>
              <a:rPr lang="en-US" err="1"/>
              <a:t>Ejercicio</a:t>
            </a:r>
            <a:r>
              <a:rPr lang="en-US"/>
              <a:t> que </a:t>
            </a:r>
            <a:r>
              <a:rPr lang="en-US" err="1"/>
              <a:t>será</a:t>
            </a:r>
            <a:r>
              <a:rPr lang="en-US"/>
              <a:t> </a:t>
            </a:r>
            <a:r>
              <a:rPr lang="en-US" err="1"/>
              <a:t>casi</a:t>
            </a:r>
            <a:r>
              <a:rPr lang="en-US"/>
              <a:t> </a:t>
            </a:r>
            <a:r>
              <a:rPr lang="en-US" err="1"/>
              <a:t>igual</a:t>
            </a:r>
            <a:r>
              <a:rPr lang="en-US"/>
              <a:t> que la </a:t>
            </a:r>
            <a:r>
              <a:rPr lang="en-US" err="1"/>
              <a:t>actividad</a:t>
            </a:r>
            <a:r>
              <a:rPr lang="en-US"/>
              <a:t> </a:t>
            </a:r>
            <a:r>
              <a:rPr lang="en-US" err="1"/>
              <a:t>mandada</a:t>
            </a:r>
            <a:r>
              <a:rPr lang="en-US"/>
              <a:t> para hoy. La </a:t>
            </a:r>
            <a:r>
              <a:rPr lang="en-US" err="1"/>
              <a:t>prueba</a:t>
            </a:r>
            <a:r>
              <a:rPr lang="en-US"/>
              <a:t> </a:t>
            </a:r>
            <a:r>
              <a:rPr lang="en-US" err="1"/>
              <a:t>tendrá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duración</a:t>
            </a:r>
            <a:r>
              <a:rPr lang="en-US"/>
              <a:t> de 01 hora.</a:t>
            </a:r>
          </a:p>
          <a:p>
            <a:pPr lvl="1"/>
            <a:endParaRPr lang="en-US" sz="2400" b="1"/>
          </a:p>
          <a:p>
            <a:pPr lvl="1"/>
            <a:r>
              <a:rPr lang="en-US" sz="2800" b="1"/>
              <a:t>02 PRUEBA DE CREACIÓN DE INFORME:</a:t>
            </a:r>
            <a:endParaRPr lang="en-US" sz="2800"/>
          </a:p>
          <a:p>
            <a:pPr marL="800100" lvl="1" indent="-342900">
              <a:buFont typeface="Calibri"/>
              <a:buChar char="-"/>
            </a:pPr>
            <a:r>
              <a:rPr lang="en-US" err="1"/>
              <a:t>Consistirá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hacer</a:t>
            </a:r>
            <a:r>
              <a:rPr lang="en-US"/>
              <a:t> uno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siguientes</a:t>
            </a:r>
            <a:r>
              <a:rPr lang="en-US"/>
              <a:t> </a:t>
            </a:r>
            <a:r>
              <a:rPr lang="en-US" err="1"/>
              <a:t>informes</a:t>
            </a:r>
            <a:r>
              <a:rPr lang="en-US"/>
              <a:t> y </a:t>
            </a:r>
            <a:r>
              <a:rPr lang="en-US" err="1"/>
              <a:t>enviármelo</a:t>
            </a:r>
            <a:r>
              <a:rPr lang="en-US"/>
              <a:t>.</a:t>
            </a:r>
          </a:p>
          <a:p>
            <a:pPr marL="1257300" lvl="2" indent="-342900">
              <a:buFont typeface="Wingdings"/>
              <a:buChar char="§"/>
            </a:pPr>
            <a:r>
              <a:rPr lang="en-US" sz="1600"/>
              <a:t>VENTAS Y RENTABILIDAD. </a:t>
            </a:r>
          </a:p>
          <a:p>
            <a:pPr marL="1257300" lvl="2" indent="-342900">
              <a:buFont typeface="Wingdings"/>
              <a:buChar char="§"/>
            </a:pPr>
            <a:r>
              <a:rPr lang="en-US" sz="1600"/>
              <a:t>RECURSOS HUMANOS.</a:t>
            </a:r>
          </a:p>
          <a:p>
            <a:pPr marL="1257300" lvl="2" indent="-342900">
              <a:buFont typeface="Wingdings"/>
              <a:buChar char="§"/>
            </a:pPr>
            <a:r>
              <a:rPr lang="en-US" sz="1600"/>
              <a:t>INVENTARIO Y STOCK.</a:t>
            </a:r>
          </a:p>
          <a:p>
            <a:pPr marL="1257300" lvl="2" indent="-342900">
              <a:buFont typeface="Wingdings"/>
              <a:buChar char="§"/>
            </a:pPr>
            <a:r>
              <a:rPr lang="en-US" sz="1600"/>
              <a:t>DESEMPEÑO DE PRODUCTOS. </a:t>
            </a:r>
          </a:p>
          <a:p>
            <a:pPr marL="1257300" lvl="2" indent="-342900">
              <a:buFont typeface="Wingdings"/>
              <a:buChar char="§"/>
            </a:pPr>
            <a:r>
              <a:rPr lang="en-US" sz="1600"/>
              <a:t>MARKETING DIGITAL.</a:t>
            </a:r>
          </a:p>
          <a:p>
            <a:pPr marL="1257300" lvl="2" indent="-342900">
              <a:buFont typeface="Wingdings"/>
              <a:buChar char="§"/>
            </a:pPr>
            <a:r>
              <a:rPr lang="en-US" sz="1600"/>
              <a:t>ATENCIÓN AL CLIENTE.</a:t>
            </a:r>
          </a:p>
          <a:p>
            <a:pPr marL="1257300" lvl="2" indent="-342900">
              <a:buFont typeface="Wingdings"/>
              <a:buChar char="§"/>
            </a:pPr>
            <a:r>
              <a:rPr lang="en-US" sz="1600"/>
              <a:t>SEGUIMIENTO DE PROYECTOS.</a:t>
            </a:r>
          </a:p>
        </p:txBody>
      </p:sp>
    </p:spTree>
    <p:extLst>
      <p:ext uri="{BB962C8B-B14F-4D97-AF65-F5344CB8AC3E}">
        <p14:creationId xmlns:p14="http://schemas.microsoft.com/office/powerpoint/2010/main" val="29575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87EDF-AF46-8C06-4FA5-63BAE54F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810E-35ED-916D-3CE1-74710C4D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06630"/>
            <a:ext cx="11160942" cy="889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SOBRE ESTE CURSO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5A59D-79B3-0EB9-4069-C7346BACB6D3}"/>
              </a:ext>
            </a:extLst>
          </p:cNvPr>
          <p:cNvSpPr txBox="1"/>
          <p:nvPr/>
        </p:nvSpPr>
        <p:spPr>
          <a:xfrm>
            <a:off x="576470" y="1318591"/>
            <a:ext cx="11092069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b="1"/>
          </a:p>
          <a:p>
            <a:r>
              <a:rPr lang="en-US" sz="2800" b="1"/>
              <a:t>SESION 09 -  (</a:t>
            </a:r>
            <a:r>
              <a:rPr lang="en-US" sz="2800" b="1" err="1"/>
              <a:t>Conjunta</a:t>
            </a:r>
            <a:r>
              <a:rPr lang="en-US" sz="2800" b="1"/>
              <a:t> 03h)</a:t>
            </a:r>
            <a:r>
              <a:rPr lang="en-US" sz="2800"/>
              <a:t> </a:t>
            </a:r>
          </a:p>
          <a:p>
            <a:r>
              <a:rPr lang="en-US" sz="2400"/>
              <a:t>PROPUESTA DE FECHA: </a:t>
            </a:r>
            <a:r>
              <a:rPr lang="en-US" sz="2400" b="1" strike="sngStrike"/>
              <a:t>19/06/2025</a:t>
            </a:r>
            <a:r>
              <a:rPr lang="en-US" sz="2400" strike="sngStrike"/>
              <a:t>​</a:t>
            </a:r>
            <a:r>
              <a:rPr lang="en-US" sz="2400"/>
              <a:t> -&gt; PROPUESTA -&gt; </a:t>
            </a:r>
            <a:r>
              <a:rPr lang="en-US" sz="2400" b="1"/>
              <a:t>Semana del 23</a:t>
            </a:r>
            <a:endParaRPr lang="en-US" b="1"/>
          </a:p>
          <a:p>
            <a:endParaRPr lang="en-US" sz="2400" b="1"/>
          </a:p>
          <a:p>
            <a:r>
              <a:rPr lang="en-US" sz="2400" b="1"/>
              <a:t>CONTENIDO DE LA SESIÓN:</a:t>
            </a:r>
            <a:endParaRPr lang="en-US"/>
          </a:p>
          <a:p>
            <a:pPr marL="342900" indent="-342900">
              <a:buFont typeface="Calibri"/>
              <a:buChar char="-"/>
            </a:pPr>
            <a:r>
              <a:rPr lang="en-US" sz="2000"/>
              <a:t>Casos </a:t>
            </a:r>
            <a:r>
              <a:rPr lang="en-US" sz="2000" err="1"/>
              <a:t>prácticos</a:t>
            </a:r>
            <a:r>
              <a:rPr lang="en-US" sz="2000"/>
              <a:t> II </a:t>
            </a:r>
          </a:p>
          <a:p>
            <a:pPr marL="342900" indent="-342900">
              <a:buFont typeface="Calibri"/>
              <a:buChar char="-"/>
            </a:pPr>
            <a:r>
              <a:rPr lang="en-US" sz="2000" err="1"/>
              <a:t>Buenas</a:t>
            </a:r>
            <a:r>
              <a:rPr lang="en-US" sz="2000"/>
              <a:t> </a:t>
            </a:r>
            <a:r>
              <a:rPr lang="en-US" sz="2000" err="1"/>
              <a:t>Prácticas</a:t>
            </a:r>
            <a:r>
              <a:rPr lang="en-US" sz="2000"/>
              <a:t> </a:t>
            </a:r>
          </a:p>
          <a:p>
            <a:pPr marL="342900" indent="-342900">
              <a:buFont typeface="Calibri"/>
              <a:buChar char="-"/>
            </a:pPr>
            <a:r>
              <a:rPr lang="en-US" sz="2000" err="1"/>
              <a:t>Manejo</a:t>
            </a:r>
            <a:r>
              <a:rPr lang="en-US" sz="2000"/>
              <a:t> de </a:t>
            </a:r>
            <a:r>
              <a:rPr lang="en-US" sz="2000" err="1"/>
              <a:t>centro</a:t>
            </a:r>
            <a:r>
              <a:rPr lang="en-US" sz="2000"/>
              <a:t> de </a:t>
            </a:r>
            <a:r>
              <a:rPr lang="en-US" sz="2000" err="1"/>
              <a:t>administración</a:t>
            </a:r>
            <a:r>
              <a:rPr lang="en-US" sz="2000"/>
              <a:t> de </a:t>
            </a:r>
            <a:r>
              <a:rPr lang="en-US" sz="2000" err="1"/>
              <a:t>PowerBI</a:t>
            </a:r>
            <a:endParaRPr lang="en-US" sz="2000"/>
          </a:p>
          <a:p>
            <a:pPr marL="342900" indent="-342900">
              <a:buFont typeface="Calibri"/>
              <a:buChar char="-"/>
            </a:pPr>
            <a:endParaRPr lang="en-US" sz="2400"/>
          </a:p>
          <a:p>
            <a:pPr marL="342900" indent="-342900">
              <a:buFont typeface="Calibri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1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C1CF-A011-22D0-15B2-97BCFC6BD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7C50-7D3E-97CD-CCBB-695C4512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REPASO SESIÓN ANTERIOR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A4BC72-1D4B-96B0-965E-8585DB48E436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399EF-2E00-9051-051B-93FCC923E50C}"/>
              </a:ext>
            </a:extLst>
          </p:cNvPr>
          <p:cNvSpPr txBox="1"/>
          <p:nvPr/>
        </p:nvSpPr>
        <p:spPr>
          <a:xfrm>
            <a:off x="517003" y="1721757"/>
            <a:ext cx="11159738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MODELADO DE DATOS</a:t>
            </a:r>
          </a:p>
          <a:p>
            <a:endParaRPr lang="en-US" sz="2400" b="1"/>
          </a:p>
          <a:p>
            <a:r>
              <a:rPr lang="en-US" sz="2400"/>
              <a:t>01 – FUNCIONES PERSONALIZADAS</a:t>
            </a:r>
          </a:p>
          <a:p>
            <a:r>
              <a:rPr lang="en-US" sz="2400"/>
              <a:t>02 – DIFERENCIA ENTRE MODELADO Y VISUALIZACION</a:t>
            </a:r>
          </a:p>
          <a:p>
            <a:r>
              <a:rPr lang="en-US" sz="2400"/>
              <a:t>03 - FLUJO DE TRABAJO EN POWER BI</a:t>
            </a:r>
          </a:p>
          <a:p>
            <a:r>
              <a:rPr lang="en-US" sz="2400"/>
              <a:t>04 - ELEMENTOS CLAVE EN EL MODELADO</a:t>
            </a:r>
          </a:p>
          <a:p>
            <a:r>
              <a:rPr lang="en-US" sz="2400"/>
              <a:t>05 - BUENAS PRÁCTICAS Y OPTIMIZACIÓN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2999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A9C6B-8CF6-4181-3BEA-DA04DD2E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C100CD8-F92C-FE85-A24B-4EFB4B638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1AF9CE0-AB89-D44B-F1E7-A64DDE2EC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AA3E703-63BF-BDC8-2E30-365D7FE5F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B68DD651-815B-49CB-689C-A089A0D5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D8AFBD2-3766-6B5C-1FBB-921254B46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D0C86-71CB-420F-DB8C-46DEE714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8800">
                <a:solidFill>
                  <a:srgbClr val="FFFFFF"/>
                </a:solidFill>
              </a:rPr>
              <a:t>BLOQUE 01</a:t>
            </a:r>
            <a:r>
              <a:rPr lang="en-US" sz="6600">
                <a:solidFill>
                  <a:srgbClr val="FFFFFF"/>
                </a:solidFill>
              </a:rPr>
              <a:t> </a:t>
            </a:r>
            <a:br>
              <a:rPr lang="en-US" sz="6600"/>
            </a:br>
            <a:r>
              <a:rPr lang="en-US" sz="6600"/>
              <a:t>FUNCIONES PERSONALIZADAS EN POWER QUERY</a:t>
            </a:r>
            <a:br>
              <a:rPr lang="en-US" sz="6600"/>
            </a:br>
            <a:endParaRPr lang="en-US" sz="5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20A50E-89F5-3598-47D0-8F9243BA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26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2F90-9667-06C9-5EC8-7C9A8C5E9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DCE7-1ACF-21D3-0032-8EEC45C8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PERSONALIZADAS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2CFB06-C5D2-1E98-B44F-525F3277F400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17E49-2477-2BCD-6A18-05B10439E436}"/>
              </a:ext>
            </a:extLst>
          </p:cNvPr>
          <p:cNvSpPr txBox="1"/>
          <p:nvPr/>
        </p:nvSpPr>
        <p:spPr>
          <a:xfrm>
            <a:off x="517003" y="1721757"/>
            <a:ext cx="11159738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¿QUE ES UNA FUNCION?</a:t>
            </a:r>
          </a:p>
          <a:p>
            <a:r>
              <a:rPr lang="en-US"/>
              <a:t>Una </a:t>
            </a:r>
            <a:r>
              <a:rPr lang="en-US" err="1"/>
              <a:t>funcion</a:t>
            </a:r>
            <a:r>
              <a:rPr lang="en-US"/>
              <a:t> es </a:t>
            </a:r>
            <a:r>
              <a:rPr lang="en-US" err="1"/>
              <a:t>una</a:t>
            </a:r>
            <a:r>
              <a:rPr lang="en-US"/>
              <a:t> formula o </a:t>
            </a:r>
            <a:r>
              <a:rPr lang="en-US" err="1"/>
              <a:t>bloque</a:t>
            </a:r>
            <a:r>
              <a:rPr lang="en-US"/>
              <a:t> de </a:t>
            </a:r>
            <a:r>
              <a:rPr lang="en-US" err="1"/>
              <a:t>instrucciones</a:t>
            </a:r>
            <a:r>
              <a:rPr lang="en-US"/>
              <a:t> que </a:t>
            </a:r>
            <a:r>
              <a:rPr lang="en-US" err="1"/>
              <a:t>toma</a:t>
            </a:r>
            <a:r>
              <a:rPr lang="en-US"/>
              <a:t> uno o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valores</a:t>
            </a:r>
            <a:r>
              <a:rPr lang="en-US"/>
              <a:t> de entrada (</a:t>
            </a:r>
            <a:r>
              <a:rPr lang="en-US" err="1"/>
              <a:t>llado</a:t>
            </a:r>
            <a:r>
              <a:rPr lang="en-US"/>
              <a:t> </a:t>
            </a:r>
            <a:r>
              <a:rPr lang="en-US" err="1"/>
              <a:t>parámetros</a:t>
            </a:r>
            <a:r>
              <a:rPr lang="en-US"/>
              <a:t>), </a:t>
            </a:r>
            <a:r>
              <a:rPr lang="en-US" err="1"/>
              <a:t>realiza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operacion</a:t>
            </a:r>
            <a:r>
              <a:rPr lang="en-US"/>
              <a:t> con </a:t>
            </a:r>
            <a:r>
              <a:rPr lang="en-US" err="1"/>
              <a:t>ellos</a:t>
            </a:r>
            <a:r>
              <a:rPr lang="en-US"/>
              <a:t> y </a:t>
            </a:r>
            <a:r>
              <a:rPr lang="en-US" err="1"/>
              <a:t>devuelve</a:t>
            </a:r>
            <a:r>
              <a:rPr lang="en-US"/>
              <a:t> un </a:t>
            </a:r>
            <a:r>
              <a:rPr lang="en-US" err="1"/>
              <a:t>resultado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 sz="2400" b="1"/>
              <a:t>EN POWER BI (POWER QUERY) UNA FUNCIÓN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Es </a:t>
            </a:r>
            <a:r>
              <a:rPr lang="en-US" err="1"/>
              <a:t>una</a:t>
            </a:r>
            <a:r>
              <a:rPr lang="en-US"/>
              <a:t> </a:t>
            </a:r>
            <a:r>
              <a:rPr lang="en-US" err="1"/>
              <a:t>pieza</a:t>
            </a:r>
            <a:r>
              <a:rPr lang="en-US"/>
              <a:t> </a:t>
            </a:r>
            <a:r>
              <a:rPr lang="en-US" err="1"/>
              <a:t>reutilizable</a:t>
            </a:r>
            <a:r>
              <a:rPr lang="en-US"/>
              <a:t> de </a:t>
            </a:r>
            <a:r>
              <a:rPr lang="en-US" err="1"/>
              <a:t>código</a:t>
            </a:r>
            <a:r>
              <a:rPr lang="en-US"/>
              <a:t> </a:t>
            </a:r>
            <a:r>
              <a:rPr lang="en-US" err="1"/>
              <a:t>escrita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lenguaje</a:t>
            </a:r>
            <a:r>
              <a:rPr lang="en-US"/>
              <a:t> M.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Puede</a:t>
            </a:r>
            <a:r>
              <a:rPr lang="en-US"/>
              <a:t> </a:t>
            </a:r>
            <a:r>
              <a:rPr lang="en-US" err="1"/>
              <a:t>aceptar</a:t>
            </a:r>
            <a:r>
              <a:rPr lang="en-US"/>
              <a:t> </a:t>
            </a:r>
            <a:r>
              <a:rPr lang="en-US" err="1"/>
              <a:t>parámetros</a:t>
            </a:r>
            <a:r>
              <a:rPr lang="en-US"/>
              <a:t> (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texto</a:t>
            </a:r>
            <a:r>
              <a:rPr lang="en-US"/>
              <a:t>, </a:t>
            </a:r>
            <a:r>
              <a:rPr lang="en-US" err="1"/>
              <a:t>números</a:t>
            </a:r>
            <a:r>
              <a:rPr lang="en-US"/>
              <a:t>, </a:t>
            </a:r>
            <a:r>
              <a:rPr lang="en-US" err="1"/>
              <a:t>fechas</a:t>
            </a:r>
            <a:r>
              <a:rPr lang="en-US"/>
              <a:t>, etc.).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Devuelve</a:t>
            </a:r>
            <a:r>
              <a:rPr lang="en-US"/>
              <a:t> un </a:t>
            </a:r>
            <a:r>
              <a:rPr lang="en-US" err="1"/>
              <a:t>resultado</a:t>
            </a:r>
            <a:r>
              <a:rPr lang="en-US"/>
              <a:t> que </a:t>
            </a:r>
            <a:r>
              <a:rPr lang="en-US" err="1"/>
              <a:t>puede</a:t>
            </a:r>
            <a:r>
              <a:rPr lang="en-US"/>
              <a:t> ser un valor,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tabla</a:t>
            </a:r>
            <a:r>
              <a:rPr lang="en-US"/>
              <a:t>,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lista</a:t>
            </a:r>
            <a:r>
              <a:rPr lang="en-US"/>
              <a:t>, etc.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Se </a:t>
            </a:r>
            <a:r>
              <a:rPr lang="en-US" err="1"/>
              <a:t>puede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a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columna</a:t>
            </a:r>
            <a:r>
              <a:rPr lang="en-US"/>
              <a:t> o a </a:t>
            </a:r>
            <a:r>
              <a:rPr lang="en-US" err="1"/>
              <a:t>múltiples</a:t>
            </a:r>
            <a:r>
              <a:rPr lang="en-US"/>
              <a:t> </a:t>
            </a:r>
            <a:r>
              <a:rPr lang="en-US" err="1"/>
              <a:t>filas</a:t>
            </a:r>
            <a:r>
              <a:rPr lang="en-US"/>
              <a:t> de </a:t>
            </a:r>
            <a:r>
              <a:rPr lang="en-US" err="1"/>
              <a:t>datos</a:t>
            </a:r>
            <a:r>
              <a:rPr lang="en-US"/>
              <a:t>.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9391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B418-AD14-3ADF-5912-826D1AAF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A55-8CC1-E261-1254-329DBD87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PERSONALIZADAS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B6421C-D6EA-AB16-915E-33294F39382A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FAE08-3C2E-2C16-94B4-377D9D5A7A13}"/>
              </a:ext>
            </a:extLst>
          </p:cNvPr>
          <p:cNvSpPr txBox="1"/>
          <p:nvPr/>
        </p:nvSpPr>
        <p:spPr>
          <a:xfrm>
            <a:off x="517003" y="1721757"/>
            <a:ext cx="11159738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¿PORQUÉ UTILIZAR FUNCIONES?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Para </a:t>
            </a:r>
            <a:r>
              <a:rPr lang="en-US" err="1"/>
              <a:t>evitar</a:t>
            </a:r>
            <a:r>
              <a:rPr lang="en-US"/>
              <a:t> </a:t>
            </a:r>
            <a:r>
              <a:rPr lang="en-US" err="1"/>
              <a:t>repetir</a:t>
            </a:r>
            <a:r>
              <a:rPr lang="en-US"/>
              <a:t> </a:t>
            </a:r>
            <a:r>
              <a:rPr lang="en-US" err="1"/>
              <a:t>código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Para </a:t>
            </a:r>
            <a:r>
              <a:rPr lang="en-US" err="1"/>
              <a:t>modularizar</a:t>
            </a:r>
            <a:r>
              <a:rPr lang="en-US"/>
              <a:t> </a:t>
            </a:r>
            <a:r>
              <a:rPr lang="en-US" err="1"/>
              <a:t>tareas</a:t>
            </a:r>
            <a:r>
              <a:rPr lang="en-US"/>
              <a:t> </a:t>
            </a:r>
            <a:r>
              <a:rPr lang="en-US" err="1"/>
              <a:t>complejas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Para </a:t>
            </a:r>
            <a:r>
              <a:rPr lang="en-US" err="1"/>
              <a:t>automatizar</a:t>
            </a:r>
            <a:r>
              <a:rPr lang="en-US"/>
              <a:t> </a:t>
            </a:r>
            <a:r>
              <a:rPr lang="en-US" err="1"/>
              <a:t>transformaciones</a:t>
            </a:r>
            <a:r>
              <a:rPr lang="en-US"/>
              <a:t> de </a:t>
            </a:r>
            <a:r>
              <a:rPr lang="en-US" err="1"/>
              <a:t>datos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Para </a:t>
            </a:r>
            <a:r>
              <a:rPr lang="en-US" err="1"/>
              <a:t>reutilizar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 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diferentes</a:t>
            </a:r>
            <a:r>
              <a:rPr lang="en-US"/>
              <a:t> </a:t>
            </a:r>
            <a:r>
              <a:rPr lang="en-US" err="1"/>
              <a:t>consultas</a:t>
            </a:r>
            <a:r>
              <a:rPr lang="en-US"/>
              <a:t> o </a:t>
            </a:r>
            <a:r>
              <a:rPr lang="en-US" err="1"/>
              <a:t>archivos</a:t>
            </a:r>
            <a:r>
              <a:rPr lang="en-US"/>
              <a:t>.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00193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9D44-EFFC-35AF-0592-EC56AA12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F89E-BC71-BD53-E423-C9788812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PERSONALIZADAS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E44320-31DA-E3F3-9E13-02A07FE39A27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DFE33-22BF-489F-C672-C4748E3A98B9}"/>
              </a:ext>
            </a:extLst>
          </p:cNvPr>
          <p:cNvSpPr txBox="1"/>
          <p:nvPr/>
        </p:nvSpPr>
        <p:spPr>
          <a:xfrm>
            <a:off x="517003" y="1721757"/>
            <a:ext cx="11159738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¿COMO SE DECLARAN FUNCIONES EN POWER QUERY?</a:t>
            </a:r>
          </a:p>
          <a:p>
            <a:endParaRPr lang="en-US"/>
          </a:p>
          <a:p>
            <a:r>
              <a:rPr lang="en-US"/>
              <a:t>Las </a:t>
            </a:r>
            <a:r>
              <a:rPr lang="en-US" err="1"/>
              <a:t>funciones</a:t>
            </a:r>
            <a:r>
              <a:rPr lang="en-US"/>
              <a:t> se </a:t>
            </a:r>
            <a:r>
              <a:rPr lang="en-US" err="1"/>
              <a:t>declaran</a:t>
            </a:r>
            <a:r>
              <a:rPr lang="en-US"/>
              <a:t> </a:t>
            </a:r>
            <a:r>
              <a:rPr lang="en-US" err="1"/>
              <a:t>utilizando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lenguaje</a:t>
            </a:r>
            <a:r>
              <a:rPr lang="en-US"/>
              <a:t> M. La </a:t>
            </a:r>
            <a:r>
              <a:rPr lang="en-US" err="1"/>
              <a:t>sintaxis</a:t>
            </a:r>
            <a:r>
              <a:rPr lang="en-US"/>
              <a:t> es </a:t>
            </a:r>
            <a:r>
              <a:rPr lang="en-US" err="1"/>
              <a:t>bastante</a:t>
            </a:r>
            <a:r>
              <a:rPr lang="en-US"/>
              <a:t> </a:t>
            </a:r>
            <a:r>
              <a:rPr lang="en-US" err="1"/>
              <a:t>sencilla</a:t>
            </a:r>
            <a:r>
              <a:rPr lang="en-US"/>
              <a:t> y se </a:t>
            </a:r>
            <a:r>
              <a:rPr lang="en-US" err="1"/>
              <a:t>basa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uso</a:t>
            </a:r>
            <a:r>
              <a:rPr lang="en-US"/>
              <a:t> de la palabra clave let para </a:t>
            </a:r>
            <a:r>
              <a:rPr lang="en-US" err="1"/>
              <a:t>definir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cuerpo</a:t>
            </a:r>
            <a:r>
              <a:rPr lang="en-US"/>
              <a:t> de la </a:t>
            </a:r>
            <a:r>
              <a:rPr lang="en-US" err="1"/>
              <a:t>función</a:t>
            </a:r>
            <a:r>
              <a:rPr lang="en-US"/>
              <a:t> y in para </a:t>
            </a:r>
            <a:r>
              <a:rPr lang="en-US" err="1"/>
              <a:t>devolver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resultado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sz="2000"/>
          </a:p>
          <a:p>
            <a:endParaRPr lang="en-US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35C35-ACA9-BEC1-2259-E86D45BCB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3" y="2994505"/>
            <a:ext cx="11153775" cy="289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44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412E-A4AF-AA21-98EC-BD829A507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ABDF5-EDD8-FCBC-3680-6FC70D14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PERSONALIZADAS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F0F533-04C5-CC72-D3B3-47024B5C93BB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ACEDA-C5DB-EF02-5841-09042996A602}"/>
              </a:ext>
            </a:extLst>
          </p:cNvPr>
          <p:cNvSpPr txBox="1"/>
          <p:nvPr/>
        </p:nvSpPr>
        <p:spPr>
          <a:xfrm>
            <a:off x="517003" y="1721757"/>
            <a:ext cx="1115973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EJEMPLOS DE FUNCIONES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E12A0D-B5CD-0F32-C7B4-18BDD0034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25" y="2095256"/>
            <a:ext cx="5351829" cy="1319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3E238B-66DA-5467-3652-48B3EB64C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631" y="3052396"/>
            <a:ext cx="6279662" cy="16031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174FF2-E9A6-7445-13FE-C84E7FF06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925" y="3853716"/>
            <a:ext cx="6709997" cy="172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4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8EA9-5299-B1CA-2E1E-563D10AF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7291-B05A-D3AE-9AA4-7C013202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PERSONALIZADAS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20671F-1F05-A0E9-464D-840878896763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7F12F-C480-A67A-AD41-97BDF2F9EB74}"/>
              </a:ext>
            </a:extLst>
          </p:cNvPr>
          <p:cNvSpPr txBox="1"/>
          <p:nvPr/>
        </p:nvSpPr>
        <p:spPr>
          <a:xfrm>
            <a:off x="517003" y="1721757"/>
            <a:ext cx="11159738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¿COMO INVOCAR FUNCIONES PERSONALIZADAS?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 sz="2000"/>
              <a:t>El </a:t>
            </a:r>
            <a:r>
              <a:rPr lang="en-US" sz="2000" err="1"/>
              <a:t>botón</a:t>
            </a:r>
            <a:r>
              <a:rPr lang="en-US" sz="2000"/>
              <a:t> "</a:t>
            </a:r>
            <a:r>
              <a:rPr lang="en-US" sz="2000" b="1" err="1"/>
              <a:t>Invocar</a:t>
            </a:r>
            <a:r>
              <a:rPr lang="en-US" sz="2000" b="1"/>
              <a:t> </a:t>
            </a:r>
            <a:r>
              <a:rPr lang="en-US" sz="2000" b="1" err="1"/>
              <a:t>función</a:t>
            </a:r>
            <a:r>
              <a:rPr lang="en-US" sz="2000" b="1"/>
              <a:t> </a:t>
            </a:r>
            <a:r>
              <a:rPr lang="en-US" sz="2000" b="1" err="1"/>
              <a:t>personalizada</a:t>
            </a:r>
            <a:r>
              <a:rPr lang="en-US" sz="2000"/>
              <a:t>" es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err="1"/>
              <a:t>herramienta</a:t>
            </a:r>
            <a:r>
              <a:rPr lang="en-US" sz="2000"/>
              <a:t> </a:t>
            </a:r>
            <a:r>
              <a:rPr lang="en-US" sz="2000" err="1"/>
              <a:t>muy</a:t>
            </a:r>
            <a:r>
              <a:rPr lang="en-US" sz="2000"/>
              <a:t> </a:t>
            </a:r>
            <a:r>
              <a:rPr lang="en-US" sz="2000" err="1"/>
              <a:t>útil</a:t>
            </a:r>
            <a:r>
              <a:rPr lang="en-US" sz="2000"/>
              <a:t> </a:t>
            </a:r>
            <a:r>
              <a:rPr lang="en-US" sz="2000" err="1"/>
              <a:t>cuando</a:t>
            </a:r>
            <a:r>
              <a:rPr lang="en-US" sz="2000"/>
              <a:t> se  </a:t>
            </a:r>
            <a:r>
              <a:rPr lang="en-US" sz="2000" err="1"/>
              <a:t>creado</a:t>
            </a:r>
            <a:r>
              <a:rPr lang="en-US" sz="2000"/>
              <a:t>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err="1"/>
              <a:t>función</a:t>
            </a:r>
            <a:r>
              <a:rPr lang="en-US" sz="2000"/>
              <a:t> </a:t>
            </a:r>
            <a:r>
              <a:rPr lang="en-US" sz="2000" err="1"/>
              <a:t>personalizada</a:t>
            </a:r>
            <a:r>
              <a:rPr lang="en-US" sz="2000"/>
              <a:t> y se </a:t>
            </a:r>
            <a:r>
              <a:rPr lang="en-US" sz="2000" err="1"/>
              <a:t>desea</a:t>
            </a:r>
            <a:r>
              <a:rPr lang="en-US" sz="2000"/>
              <a:t> </a:t>
            </a:r>
            <a:r>
              <a:rPr lang="en-US" sz="2000" err="1"/>
              <a:t>aplicar</a:t>
            </a:r>
            <a:r>
              <a:rPr lang="en-US" sz="2000"/>
              <a:t> a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err="1"/>
              <a:t>tabla</a:t>
            </a:r>
            <a:r>
              <a:rPr lang="en-US" sz="2000"/>
              <a:t> o </a:t>
            </a:r>
            <a:r>
              <a:rPr lang="en-US" sz="2000" err="1"/>
              <a:t>columna</a:t>
            </a:r>
            <a:r>
              <a:rPr lang="en-US" sz="2000"/>
              <a:t> de </a:t>
            </a:r>
            <a:r>
              <a:rPr lang="en-US" sz="2000" err="1"/>
              <a:t>datos</a:t>
            </a:r>
            <a:r>
              <a:rPr lang="en-US" sz="2000"/>
              <a:t>.</a:t>
            </a:r>
          </a:p>
          <a:p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07868-5370-1874-E5AB-ADC214332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587" y="2203013"/>
            <a:ext cx="5088578" cy="2149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9B6D78-BD33-A6EB-CAA3-3751D2FD4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63" y="2331061"/>
            <a:ext cx="28003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6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4BB8-6BA9-561C-132D-A082ADB9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39E9-C403-C4A2-F264-F2699284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PERSONALIZADAS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E63975-3830-704E-2526-AF2E968CB9F9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C331B-EFF4-9D57-6E1A-FDED7A4588EC}"/>
              </a:ext>
            </a:extLst>
          </p:cNvPr>
          <p:cNvSpPr txBox="1"/>
          <p:nvPr/>
        </p:nvSpPr>
        <p:spPr>
          <a:xfrm>
            <a:off x="517003" y="1721757"/>
            <a:ext cx="1115973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¿COMO INVOCAR FUNCIONES PERSONALIZADAS?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 sz="2000" err="1"/>
              <a:t>Cuando</a:t>
            </a:r>
            <a:r>
              <a:rPr lang="en-US" sz="2000"/>
              <a:t> se </a:t>
            </a:r>
            <a:r>
              <a:rPr lang="en-US" sz="2000" err="1"/>
              <a:t>hace</a:t>
            </a:r>
            <a:r>
              <a:rPr lang="en-US" sz="2000"/>
              <a:t> </a:t>
            </a:r>
            <a:r>
              <a:rPr lang="en-US" sz="2000" err="1"/>
              <a:t>clic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 "</a:t>
            </a:r>
            <a:r>
              <a:rPr lang="en-US" sz="2000" b="1" err="1"/>
              <a:t>Invocar</a:t>
            </a:r>
            <a:r>
              <a:rPr lang="en-US" sz="2000" b="1"/>
              <a:t> </a:t>
            </a:r>
            <a:r>
              <a:rPr lang="en-US" sz="2000" b="1" err="1"/>
              <a:t>función</a:t>
            </a:r>
            <a:r>
              <a:rPr lang="en-US" sz="2000" b="1"/>
              <a:t> </a:t>
            </a:r>
            <a:r>
              <a:rPr lang="en-US" sz="2000" b="1" err="1"/>
              <a:t>personalizada</a:t>
            </a:r>
            <a:r>
              <a:rPr lang="en-US" sz="2000"/>
              <a:t>", Power Query </a:t>
            </a:r>
            <a:r>
              <a:rPr lang="en-US" sz="2000" err="1"/>
              <a:t>permite</a:t>
            </a:r>
            <a:r>
              <a:rPr lang="en-US" sz="200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2000" b="1" err="1"/>
              <a:t>Seleccionar</a:t>
            </a:r>
            <a:r>
              <a:rPr lang="en-US" sz="2000" b="1"/>
              <a:t> </a:t>
            </a:r>
            <a:r>
              <a:rPr lang="en-US" sz="2000" b="1" err="1"/>
              <a:t>una</a:t>
            </a:r>
            <a:r>
              <a:rPr lang="en-US" sz="2000" b="1"/>
              <a:t> </a:t>
            </a:r>
            <a:r>
              <a:rPr lang="en-US" sz="2000" b="1" err="1"/>
              <a:t>función</a:t>
            </a:r>
            <a:r>
              <a:rPr lang="en-US" sz="2000" b="1"/>
              <a:t> </a:t>
            </a:r>
            <a:r>
              <a:rPr lang="en-US" sz="2000" b="1" err="1"/>
              <a:t>personalizada</a:t>
            </a:r>
            <a:r>
              <a:rPr lang="en-US" sz="2000"/>
              <a:t> que </a:t>
            </a:r>
            <a:r>
              <a:rPr lang="en-US" sz="2000" err="1"/>
              <a:t>hayas</a:t>
            </a:r>
            <a:r>
              <a:rPr lang="en-US" sz="2000"/>
              <a:t> </a:t>
            </a:r>
            <a:r>
              <a:rPr lang="en-US" sz="2000" err="1"/>
              <a:t>definido</a:t>
            </a:r>
            <a:r>
              <a:rPr lang="en-US" sz="2000"/>
              <a:t> </a:t>
            </a:r>
            <a:r>
              <a:rPr lang="en-US" sz="2000" err="1"/>
              <a:t>previamente</a:t>
            </a:r>
            <a:r>
              <a:rPr lang="en-US" sz="200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2000" b="1" err="1"/>
              <a:t>Asignar</a:t>
            </a:r>
            <a:r>
              <a:rPr lang="en-US" sz="2000" b="1"/>
              <a:t> </a:t>
            </a:r>
            <a:r>
              <a:rPr lang="en-US" sz="2000" b="1" err="1"/>
              <a:t>valores</a:t>
            </a:r>
            <a:r>
              <a:rPr lang="en-US" sz="2000" b="1"/>
              <a:t> a </a:t>
            </a:r>
            <a:r>
              <a:rPr lang="en-US" sz="2000" b="1" err="1"/>
              <a:t>los</a:t>
            </a:r>
            <a:r>
              <a:rPr lang="en-US" sz="2000" b="1"/>
              <a:t> </a:t>
            </a:r>
            <a:r>
              <a:rPr lang="en-US" sz="2000" b="1" err="1"/>
              <a:t>parámetros</a:t>
            </a:r>
            <a:r>
              <a:rPr lang="en-US" sz="2000" b="1"/>
              <a:t> de </a:t>
            </a:r>
            <a:r>
              <a:rPr lang="en-US" sz="2000" b="1" err="1"/>
              <a:t>esa</a:t>
            </a:r>
            <a:r>
              <a:rPr lang="en-US" sz="2000" b="1"/>
              <a:t> </a:t>
            </a:r>
            <a:r>
              <a:rPr lang="en-US" sz="2000" b="1" err="1"/>
              <a:t>función</a:t>
            </a:r>
            <a:r>
              <a:rPr lang="en-US" sz="2000"/>
              <a:t>, </a:t>
            </a:r>
            <a:r>
              <a:rPr lang="en-US" sz="2000" err="1"/>
              <a:t>usando</a:t>
            </a:r>
            <a:r>
              <a:rPr lang="en-US" sz="2000"/>
              <a:t> </a:t>
            </a:r>
            <a:r>
              <a:rPr lang="en-US" sz="2000" err="1"/>
              <a:t>columnas</a:t>
            </a:r>
            <a:r>
              <a:rPr lang="en-US" sz="2000"/>
              <a:t> de </a:t>
            </a:r>
            <a:r>
              <a:rPr lang="en-US" sz="2000" err="1"/>
              <a:t>tu</a:t>
            </a:r>
            <a:r>
              <a:rPr lang="en-US" sz="2000"/>
              <a:t> </a:t>
            </a:r>
            <a:r>
              <a:rPr lang="en-US" sz="2000" err="1"/>
              <a:t>tabla</a:t>
            </a:r>
            <a:r>
              <a:rPr lang="en-US" sz="2000"/>
              <a:t> actual o </a:t>
            </a:r>
            <a:r>
              <a:rPr lang="en-US" sz="2000" err="1"/>
              <a:t>valores</a:t>
            </a:r>
            <a:r>
              <a:rPr lang="en-US" sz="2000"/>
              <a:t> </a:t>
            </a:r>
            <a:r>
              <a:rPr lang="en-US" sz="2000" err="1"/>
              <a:t>fijos</a:t>
            </a:r>
            <a:r>
              <a:rPr lang="en-US" sz="200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2000" b="1"/>
              <a:t>Crear </a:t>
            </a:r>
            <a:r>
              <a:rPr lang="en-US" sz="2000" b="1" err="1"/>
              <a:t>una</a:t>
            </a:r>
            <a:r>
              <a:rPr lang="en-US" sz="2000" b="1"/>
              <a:t> </a:t>
            </a:r>
            <a:r>
              <a:rPr lang="en-US" sz="2000" b="1" err="1"/>
              <a:t>nueva</a:t>
            </a:r>
            <a:r>
              <a:rPr lang="en-US" sz="2000" b="1"/>
              <a:t> </a:t>
            </a:r>
            <a:r>
              <a:rPr lang="en-US" sz="2000" b="1" err="1"/>
              <a:t>columna</a:t>
            </a:r>
            <a:r>
              <a:rPr lang="en-US" sz="2000"/>
              <a:t> 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tu</a:t>
            </a:r>
            <a:r>
              <a:rPr lang="en-US" sz="2000"/>
              <a:t> </a:t>
            </a:r>
            <a:r>
              <a:rPr lang="en-US" sz="2000" err="1"/>
              <a:t>tabla</a:t>
            </a:r>
            <a:r>
              <a:rPr lang="en-US" sz="2000"/>
              <a:t> con </a:t>
            </a:r>
            <a:r>
              <a:rPr lang="en-US" sz="2000" err="1"/>
              <a:t>los</a:t>
            </a:r>
            <a:r>
              <a:rPr lang="en-US" sz="2000"/>
              <a:t> </a:t>
            </a:r>
            <a:r>
              <a:rPr lang="en-US" sz="2000" err="1"/>
              <a:t>resultados</a:t>
            </a:r>
            <a:r>
              <a:rPr lang="en-US" sz="2000"/>
              <a:t> </a:t>
            </a:r>
            <a:r>
              <a:rPr lang="en-US" sz="2000" err="1"/>
              <a:t>devueltos</a:t>
            </a:r>
            <a:r>
              <a:rPr lang="en-US" sz="2000"/>
              <a:t> </a:t>
            </a:r>
            <a:r>
              <a:rPr lang="en-US" sz="2000" err="1"/>
              <a:t>por</a:t>
            </a:r>
            <a:r>
              <a:rPr lang="en-US" sz="2000"/>
              <a:t> la </a:t>
            </a:r>
            <a:r>
              <a:rPr lang="en-US" sz="2000" err="1"/>
              <a:t>función</a:t>
            </a:r>
            <a:r>
              <a:rPr lang="en-US" sz="2000"/>
              <a:t>.</a:t>
            </a:r>
            <a:br>
              <a:rPr lang="en-US"/>
            </a:br>
            <a:endParaRPr lang="en-US"/>
          </a:p>
          <a:p>
            <a:r>
              <a:rPr lang="en-US" sz="2000" err="1"/>
              <a:t>Ejemplo</a:t>
            </a:r>
            <a:r>
              <a:rPr lang="en-US" sz="200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Entrada: "</a:t>
            </a:r>
            <a:r>
              <a:rPr lang="en-US" sz="1600" err="1"/>
              <a:t>málaga</a:t>
            </a:r>
            <a:r>
              <a:rPr lang="en-US" sz="1600"/>
              <a:t>"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Salida: "MÁLAGA"</a:t>
            </a:r>
          </a:p>
          <a:p>
            <a:pPr marL="285750" indent="-285750">
              <a:buFont typeface="Arial"/>
              <a:buChar char="•"/>
            </a:pPr>
            <a:endParaRPr lang="en-US" sz="2000"/>
          </a:p>
          <a:p>
            <a:endParaRPr lang="en-US" sz="2000"/>
          </a:p>
          <a:p>
            <a:endParaRPr lang="en-US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E2A57-A116-B776-CF60-3C0C6394A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87" y="5205856"/>
            <a:ext cx="4923317" cy="128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16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E3180-CEBC-A3EE-3050-920E0428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9A06B0-3FA4-B015-688B-8EDA8618B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D039641-5B40-87CF-FD9F-BE07E186F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ED65C66-09F0-17D7-1868-C7D0F145A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94DEF3FC-8A57-E5DE-5501-72E1BA847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AA8074A-72B4-9859-349F-AC587E817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3E722-7975-B2B3-D706-F5190708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9600">
                <a:solidFill>
                  <a:srgbClr val="FFFFFF"/>
                </a:solidFill>
              </a:rPr>
              <a:t>BLOQUE 02</a:t>
            </a:r>
            <a:r>
              <a:rPr lang="en-US" sz="7300">
                <a:solidFill>
                  <a:srgbClr val="FFFFFF"/>
                </a:solidFill>
              </a:rPr>
              <a:t> </a:t>
            </a:r>
            <a:br>
              <a:rPr lang="en-US" sz="7300">
                <a:solidFill>
                  <a:srgbClr val="FFFFFF"/>
                </a:solidFill>
              </a:rPr>
            </a:br>
            <a:r>
              <a:rPr lang="en-US" sz="7300">
                <a:solidFill>
                  <a:srgbClr val="FFFFFF"/>
                </a:solidFill>
              </a:rPr>
              <a:t>FUNCIONES DAX</a:t>
            </a:r>
            <a:br>
              <a:rPr lang="en-US" sz="9600">
                <a:solidFill>
                  <a:srgbClr val="FFFFFF"/>
                </a:solidFill>
              </a:rPr>
            </a:br>
            <a:endParaRPr lang="en-US" sz="96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6A07DD-304B-C164-6D0F-CED8E0945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11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1847-DF3A-79A9-D17F-BA6A9D7D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A41A-4635-71F9-5AC5-B6FD251C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94C0CD-1598-EC68-AED2-4EDA20B27E04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2D8D1-000E-99B8-BAD4-815230FC015E}"/>
              </a:ext>
            </a:extLst>
          </p:cNvPr>
          <p:cNvSpPr txBox="1"/>
          <p:nvPr/>
        </p:nvSpPr>
        <p:spPr>
          <a:xfrm>
            <a:off x="516094" y="1722666"/>
            <a:ext cx="11120610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INTRODUCCIÓN A DAX (Data </a:t>
            </a:r>
            <a:r>
              <a:rPr lang="en-US" sz="2400" b="1" err="1"/>
              <a:t>Analysys</a:t>
            </a:r>
            <a:r>
              <a:rPr lang="en-US" sz="2400" b="1"/>
              <a:t> Expressions)</a:t>
            </a:r>
          </a:p>
          <a:p>
            <a:endParaRPr lang="en-US" sz="16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Significa</a:t>
            </a:r>
            <a:r>
              <a:rPr lang="en-US" sz="2000"/>
              <a:t>: </a:t>
            </a:r>
            <a:r>
              <a:rPr lang="en-US" sz="2000" b="1" u="sng"/>
              <a:t>Data </a:t>
            </a:r>
            <a:r>
              <a:rPr lang="en-US" sz="2000" b="1" u="sng" err="1"/>
              <a:t>Análysis</a:t>
            </a:r>
            <a:r>
              <a:rPr lang="en-US" sz="2000" b="1" u="sng"/>
              <a:t> Expressions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Se </a:t>
            </a:r>
            <a:r>
              <a:rPr lang="en-US" sz="2000" err="1"/>
              <a:t>trata</a:t>
            </a:r>
            <a:r>
              <a:rPr lang="en-US" sz="2000"/>
              <a:t> de un </a:t>
            </a:r>
            <a:r>
              <a:rPr lang="en-US" sz="2000" b="1" err="1"/>
              <a:t>lenguaje</a:t>
            </a:r>
            <a:r>
              <a:rPr lang="en-US" sz="2000" b="1"/>
              <a:t> de formulas</a:t>
            </a:r>
            <a:r>
              <a:rPr lang="en-US" sz="2000"/>
              <a:t> </a:t>
            </a:r>
            <a:r>
              <a:rPr lang="en-US" sz="2000" err="1"/>
              <a:t>utilizado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Power BI, Power Pivot y SQL Server Analysis Services.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Inspirado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Excel, </a:t>
            </a:r>
            <a:r>
              <a:rPr lang="en-US" sz="2000" err="1"/>
              <a:t>pero</a:t>
            </a:r>
            <a:r>
              <a:rPr lang="en-US" sz="2000"/>
              <a:t> con </a:t>
            </a:r>
            <a:r>
              <a:rPr lang="en-US" sz="2000" err="1"/>
              <a:t>capacidades</a:t>
            </a:r>
            <a:r>
              <a:rPr lang="en-US" sz="2000"/>
              <a:t> </a:t>
            </a:r>
            <a:r>
              <a:rPr lang="en-US" sz="2000" err="1"/>
              <a:t>más</a:t>
            </a:r>
            <a:r>
              <a:rPr lang="en-US" sz="2000"/>
              <a:t> </a:t>
            </a:r>
            <a:r>
              <a:rPr lang="en-US" sz="2000" err="1"/>
              <a:t>potentes</a:t>
            </a:r>
            <a:r>
              <a:rPr lang="en-US" sz="2000"/>
              <a:t> para </a:t>
            </a:r>
            <a:r>
              <a:rPr lang="en-US" sz="2000" err="1"/>
              <a:t>modelado</a:t>
            </a:r>
            <a:r>
              <a:rPr lang="en-US" sz="2000"/>
              <a:t> de </a:t>
            </a:r>
            <a:r>
              <a:rPr lang="en-US" sz="2000" err="1"/>
              <a:t>datos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Permite </a:t>
            </a:r>
            <a:r>
              <a:rPr lang="en-US" sz="2000" err="1"/>
              <a:t>crear</a:t>
            </a:r>
            <a:r>
              <a:rPr lang="en-US" sz="2000"/>
              <a:t>: </a:t>
            </a:r>
            <a:r>
              <a:rPr lang="en-US" sz="2000" b="1" err="1"/>
              <a:t>Medidas</a:t>
            </a:r>
            <a:r>
              <a:rPr lang="en-US" sz="2000" b="1"/>
              <a:t>, </a:t>
            </a:r>
            <a:r>
              <a:rPr lang="en-US" sz="2000" b="1" err="1"/>
              <a:t>Columnas</a:t>
            </a:r>
            <a:r>
              <a:rPr lang="en-US" sz="2000" b="1"/>
              <a:t> y </a:t>
            </a:r>
            <a:r>
              <a:rPr lang="en-US" sz="2000" b="1" err="1"/>
              <a:t>tablas</a:t>
            </a:r>
            <a:r>
              <a:rPr lang="en-US" sz="2000" b="1"/>
              <a:t> </a:t>
            </a:r>
            <a:r>
              <a:rPr lang="en-US" sz="2000" b="1" err="1"/>
              <a:t>calculadas</a:t>
            </a:r>
            <a:r>
              <a:rPr lang="en-US" sz="2000" b="1"/>
              <a:t>.</a:t>
            </a: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b="1" err="1"/>
              <a:t>Diseñada</a:t>
            </a:r>
            <a:r>
              <a:rPr lang="en-US" sz="2000" b="1"/>
              <a:t> para </a:t>
            </a:r>
            <a:r>
              <a:rPr lang="en-US" sz="2000" b="1" err="1"/>
              <a:t>recplicar</a:t>
            </a:r>
            <a:r>
              <a:rPr lang="en-US" sz="2000" b="1"/>
              <a:t> </a:t>
            </a:r>
            <a:r>
              <a:rPr lang="en-US" sz="2000" b="1" err="1"/>
              <a:t>todo</a:t>
            </a:r>
            <a:r>
              <a:rPr lang="en-US" sz="2000" b="1"/>
              <a:t> lo que se </a:t>
            </a:r>
            <a:r>
              <a:rPr lang="en-US" sz="2000" b="1" err="1"/>
              <a:t>puede</a:t>
            </a:r>
            <a:r>
              <a:rPr lang="en-US" sz="2000" b="1"/>
              <a:t> </a:t>
            </a:r>
            <a:r>
              <a:rPr lang="en-US" sz="2000" b="1" err="1"/>
              <a:t>hacer</a:t>
            </a:r>
            <a:r>
              <a:rPr lang="en-US" sz="2000" b="1"/>
              <a:t> </a:t>
            </a:r>
            <a:r>
              <a:rPr lang="en-US" sz="2000" b="1" err="1"/>
              <a:t>en</a:t>
            </a:r>
            <a:r>
              <a:rPr lang="en-US" sz="2000" b="1"/>
              <a:t> SQL SERVER</a:t>
            </a:r>
          </a:p>
          <a:p>
            <a:pPr marL="342900" indent="-342900">
              <a:buFont typeface="Calibri,Sans-Serif"/>
              <a:buChar char="-"/>
            </a:pPr>
            <a:endParaRPr lang="en-US" sz="2000" b="1"/>
          </a:p>
          <a:p>
            <a:r>
              <a:rPr lang="en-US" sz="2400" b="1"/>
              <a:t>¿PARA QUE SE UTILIZA DAX?</a:t>
            </a:r>
            <a:endParaRPr lang="en-US" sz="2400"/>
          </a:p>
          <a:p>
            <a:pPr marL="342900" indent="-342900">
              <a:buFont typeface="Calibri,Sans-Serif"/>
              <a:buChar char="-"/>
            </a:pPr>
            <a:r>
              <a:rPr lang="en-US" sz="2000" b="1"/>
              <a:t>Crear KPIs, </a:t>
            </a:r>
            <a:r>
              <a:rPr lang="en-US" sz="2000" b="1" err="1"/>
              <a:t>métricas</a:t>
            </a:r>
            <a:r>
              <a:rPr lang="en-US" sz="2000" b="1"/>
              <a:t> y </a:t>
            </a:r>
            <a:r>
              <a:rPr lang="en-US" sz="2000" b="1" err="1"/>
              <a:t>análisis</a:t>
            </a:r>
            <a:r>
              <a:rPr lang="en-US" sz="2000" b="1"/>
              <a:t> personalizados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Realizar</a:t>
            </a:r>
            <a:r>
              <a:rPr lang="en-US" sz="2000"/>
              <a:t> </a:t>
            </a:r>
            <a:r>
              <a:rPr lang="en-US" sz="2000" b="1" err="1"/>
              <a:t>cálculos</a:t>
            </a:r>
            <a:r>
              <a:rPr lang="en-US" sz="2000" b="1"/>
              <a:t> </a:t>
            </a:r>
            <a:r>
              <a:rPr lang="en-US" sz="2000" b="1" err="1"/>
              <a:t>dinámicos</a:t>
            </a:r>
            <a:r>
              <a:rPr lang="en-US" sz="2000"/>
              <a:t> </a:t>
            </a:r>
            <a:r>
              <a:rPr lang="en-US" sz="2000" err="1"/>
              <a:t>sobre</a:t>
            </a:r>
            <a:r>
              <a:rPr lang="en-US" sz="2000"/>
              <a:t> </a:t>
            </a:r>
            <a:r>
              <a:rPr lang="en-US" sz="2000" err="1"/>
              <a:t>los</a:t>
            </a:r>
            <a:r>
              <a:rPr lang="en-US" sz="2000"/>
              <a:t> </a:t>
            </a:r>
            <a:r>
              <a:rPr lang="en-US" sz="2000" err="1"/>
              <a:t>datos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Ejemplos</a:t>
            </a:r>
            <a:r>
              <a:rPr lang="en-US" sz="2000"/>
              <a:t> de </a:t>
            </a:r>
            <a:r>
              <a:rPr lang="en-US" sz="2000" err="1"/>
              <a:t>uso</a:t>
            </a:r>
            <a:r>
              <a:rPr lang="en-US" sz="2000"/>
              <a:t>: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err="1"/>
              <a:t>Calcular</a:t>
            </a:r>
            <a:r>
              <a:rPr lang="en-US"/>
              <a:t> </a:t>
            </a:r>
            <a:r>
              <a:rPr lang="en-US" err="1"/>
              <a:t>ventas</a:t>
            </a:r>
            <a:r>
              <a:rPr lang="en-US"/>
              <a:t> </a:t>
            </a:r>
            <a:r>
              <a:rPr lang="en-US" err="1"/>
              <a:t>acumuladas</a:t>
            </a:r>
            <a:endParaRPr lang="en-US"/>
          </a:p>
          <a:p>
            <a:pPr marL="800100" lvl="1" indent="-342900">
              <a:buFont typeface="Courier New,monospace"/>
              <a:buChar char="o"/>
            </a:pPr>
            <a:r>
              <a:rPr lang="en-US" err="1"/>
              <a:t>Comparar</a:t>
            </a:r>
            <a:r>
              <a:rPr lang="en-US"/>
              <a:t> </a:t>
            </a:r>
            <a:r>
              <a:rPr lang="en-US" err="1"/>
              <a:t>valores</a:t>
            </a:r>
            <a:r>
              <a:rPr lang="en-US"/>
              <a:t> </a:t>
            </a:r>
            <a:r>
              <a:rPr lang="en-US" err="1"/>
              <a:t>año</a:t>
            </a:r>
            <a:r>
              <a:rPr lang="en-US"/>
              <a:t> a </a:t>
            </a:r>
            <a:r>
              <a:rPr lang="en-US" err="1"/>
              <a:t>año</a:t>
            </a:r>
            <a:endParaRPr lang="en-US"/>
          </a:p>
          <a:p>
            <a:pPr marL="800100" lvl="1" indent="-342900">
              <a:buFont typeface="Courier New,monospace"/>
              <a:buChar char="o"/>
            </a:pPr>
            <a:r>
              <a:rPr lang="en-US" err="1"/>
              <a:t>Filtrar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según</a:t>
            </a:r>
            <a:r>
              <a:rPr lang="en-US"/>
              <a:t> </a:t>
            </a:r>
            <a:r>
              <a:rPr lang="en-US" err="1"/>
              <a:t>condiciones</a:t>
            </a:r>
            <a:r>
              <a:rPr lang="en-US"/>
              <a:t> </a:t>
            </a:r>
            <a:r>
              <a:rPr lang="en-US" err="1"/>
              <a:t>específicas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43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1A3F5-5DA9-FB59-525D-FFA383A0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B6A7-5C38-083C-7773-A3C2E5DB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A91A9F-3743-2395-716B-FCBDBD11E7A9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57111-255A-B637-0D6F-D8A957ACDF89}"/>
              </a:ext>
            </a:extLst>
          </p:cNvPr>
          <p:cNvSpPr txBox="1"/>
          <p:nvPr/>
        </p:nvSpPr>
        <p:spPr>
          <a:xfrm>
            <a:off x="516094" y="1722666"/>
            <a:ext cx="1112061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ESTRUCTURA DE UNA FÓRMULA DAX </a:t>
            </a:r>
          </a:p>
          <a:p>
            <a:endParaRPr lang="en-US" sz="1600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La </a:t>
            </a:r>
            <a:r>
              <a:rPr lang="en-US" sz="2000" err="1"/>
              <a:t>sintaxis</a:t>
            </a:r>
            <a:r>
              <a:rPr lang="en-US" sz="2000"/>
              <a:t> </a:t>
            </a:r>
            <a:r>
              <a:rPr lang="en-US" sz="2000" err="1"/>
              <a:t>básica</a:t>
            </a:r>
            <a:r>
              <a:rPr lang="en-US" sz="2000"/>
              <a:t> es la </a:t>
            </a:r>
            <a:r>
              <a:rPr lang="en-US" sz="2000" err="1"/>
              <a:t>siguiente</a:t>
            </a:r>
            <a:r>
              <a:rPr lang="en-US" sz="2000"/>
              <a:t>: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Componentes:</a:t>
            </a:r>
          </a:p>
          <a:p>
            <a:pPr marL="800100" lvl="1" indent="-342900">
              <a:buFont typeface="Courier New"/>
              <a:buChar char="o"/>
            </a:pPr>
            <a:r>
              <a:rPr lang="en-US"/>
              <a:t>Nombre de la </a:t>
            </a:r>
            <a:r>
              <a:rPr lang="en-US" err="1"/>
              <a:t>medida</a:t>
            </a:r>
            <a:r>
              <a:rPr lang="en-US"/>
              <a:t> (</a:t>
            </a:r>
            <a:r>
              <a:rPr lang="en-US" b="1" err="1"/>
              <a:t>TotalVentas</a:t>
            </a:r>
            <a:r>
              <a:rPr lang="en-US"/>
              <a:t>)</a:t>
            </a:r>
          </a:p>
          <a:p>
            <a:pPr marL="800100" lvl="1" indent="-342900">
              <a:buFont typeface="Courier New"/>
              <a:buChar char="o"/>
            </a:pPr>
            <a:r>
              <a:rPr lang="en-US"/>
              <a:t>Signo </a:t>
            </a:r>
            <a:r>
              <a:rPr lang="en-US" err="1"/>
              <a:t>igual</a:t>
            </a:r>
            <a:r>
              <a:rPr lang="en-US"/>
              <a:t> (</a:t>
            </a:r>
            <a:r>
              <a:rPr lang="en-US" b="1"/>
              <a:t>=</a:t>
            </a:r>
            <a:r>
              <a:rPr lang="en-US"/>
              <a:t>)</a:t>
            </a:r>
          </a:p>
          <a:p>
            <a:pPr marL="800100" lvl="1" indent="-342900">
              <a:buFont typeface="Courier New"/>
              <a:buChar char="o"/>
            </a:pPr>
            <a:r>
              <a:rPr lang="en-US" err="1"/>
              <a:t>Función</a:t>
            </a:r>
            <a:r>
              <a:rPr lang="en-US"/>
              <a:t> DAX (</a:t>
            </a:r>
            <a:r>
              <a:rPr lang="en-US" b="1"/>
              <a:t>SUM</a:t>
            </a:r>
            <a:r>
              <a:rPr lang="en-US"/>
              <a:t>)</a:t>
            </a:r>
          </a:p>
          <a:p>
            <a:pPr marL="800100" lvl="1" indent="-342900">
              <a:buFont typeface="Courier New"/>
              <a:buChar char="o"/>
            </a:pPr>
            <a:r>
              <a:rPr lang="en-US" err="1"/>
              <a:t>Referencia</a:t>
            </a:r>
            <a:r>
              <a:rPr lang="en-US"/>
              <a:t> a </a:t>
            </a:r>
            <a:r>
              <a:rPr lang="en-US" err="1"/>
              <a:t>tabla</a:t>
            </a:r>
            <a:r>
              <a:rPr lang="en-US"/>
              <a:t>(Ventas) y </a:t>
            </a:r>
            <a:r>
              <a:rPr lang="en-US" err="1"/>
              <a:t>columna</a:t>
            </a:r>
            <a:r>
              <a:rPr lang="en-US"/>
              <a:t> (</a:t>
            </a:r>
            <a:r>
              <a:rPr lang="en-US" b="1" err="1"/>
              <a:t>Importe</a:t>
            </a:r>
            <a:r>
              <a:rPr lang="en-US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73F72-23D4-16C2-FF1E-4C965703D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480" y="2139606"/>
            <a:ext cx="5989851" cy="1171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E93DE3-D881-6A77-092F-EB5E500DA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63" y="5066143"/>
            <a:ext cx="5333314" cy="13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5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6784-AF2A-E35B-EE85-500F49CD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6CF1E-0079-1A00-5516-3DA6B3F8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77D347-43C6-1577-01D5-63AD9979330B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94C51-BE79-4F83-A872-E56F6E476FFF}"/>
              </a:ext>
            </a:extLst>
          </p:cNvPr>
          <p:cNvSpPr txBox="1"/>
          <p:nvPr/>
        </p:nvSpPr>
        <p:spPr>
          <a:xfrm>
            <a:off x="516094" y="1722666"/>
            <a:ext cx="1112061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TIPOS DE FUNCIONES EN DAX: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/>
          </a:p>
          <a:p>
            <a:pPr marL="342900" indent="-342900">
              <a:buFont typeface="Calibri"/>
              <a:buChar char="-"/>
            </a:pPr>
            <a:endParaRPr lang="en-US"/>
          </a:p>
          <a:p>
            <a:r>
              <a:rPr lang="en-US" sz="2400" b="1"/>
              <a:t>01 - MATEMÁTICAS Y ESTADÍSTICAS</a:t>
            </a:r>
          </a:p>
          <a:p>
            <a:r>
              <a:rPr lang="en-US" sz="2400" b="1"/>
              <a:t>02 – FUNCIONES LÓGICAS</a:t>
            </a:r>
          </a:p>
          <a:p>
            <a:r>
              <a:rPr lang="en-US" sz="2400" b="1"/>
              <a:t>03 – FUNCIONES DE TEXTO</a:t>
            </a:r>
          </a:p>
          <a:p>
            <a:endParaRPr lang="en-US" sz="2000"/>
          </a:p>
          <a:p>
            <a:pPr marL="342900" indent="-342900">
              <a:buFont typeface="Calibri"/>
              <a:buChar char="-"/>
            </a:pPr>
            <a:endParaRPr lang="en-US"/>
          </a:p>
          <a:p>
            <a:pPr marL="342900" indent="-342900">
              <a:buFont typeface="Calibri"/>
              <a:buChar char="-"/>
            </a:pPr>
            <a:endParaRPr lang="en-US"/>
          </a:p>
          <a:p>
            <a:endParaRPr lang="en-US" sz="1600"/>
          </a:p>
          <a:p>
            <a:pPr marL="342900" indent="-342900">
              <a:buFont typeface="Calibri"/>
              <a:buChar char="-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30874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AC7B1-7301-EA38-30AF-376D9D5E2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7D95-B2CD-0DEA-894D-22064E3B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007ADE-DFFA-B5EC-2685-1AC8CDAD63B5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FFC7E-95B2-5DE4-6A28-6DDA606333BD}"/>
              </a:ext>
            </a:extLst>
          </p:cNvPr>
          <p:cNvSpPr txBox="1"/>
          <p:nvPr/>
        </p:nvSpPr>
        <p:spPr>
          <a:xfrm>
            <a:off x="516094" y="1715801"/>
            <a:ext cx="11120610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01 - FUNCIONES MATEMÁTICAS Y ESTADÍSTICAS</a:t>
            </a:r>
          </a:p>
          <a:p>
            <a:endParaRPr lang="en-US" sz="1600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Se </a:t>
            </a:r>
            <a:r>
              <a:rPr lang="en-US" sz="2000" err="1"/>
              <a:t>utilizan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agregaciones</a:t>
            </a:r>
            <a:r>
              <a:rPr lang="en-US" sz="2000"/>
              <a:t> </a:t>
            </a:r>
            <a:r>
              <a:rPr lang="en-US" sz="2000" err="1"/>
              <a:t>básicas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informes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Funciones</a:t>
            </a:r>
            <a:r>
              <a:rPr lang="en-US" sz="2000"/>
              <a:t> </a:t>
            </a:r>
            <a:r>
              <a:rPr lang="en-US" sz="2000" err="1"/>
              <a:t>comunes</a:t>
            </a:r>
            <a:r>
              <a:rPr lang="en-US" sz="2000"/>
              <a:t>:</a:t>
            </a:r>
          </a:p>
          <a:p>
            <a:pPr marL="800100" lvl="1" indent="-342900">
              <a:buFont typeface="Courier New"/>
              <a:buChar char="o"/>
            </a:pPr>
            <a:r>
              <a:rPr lang="en-US" i="1"/>
              <a:t>SUM(), AVERAGE(), MIN(), MAX(), COUNT(), DISTINCTCOUNT()</a:t>
            </a:r>
          </a:p>
          <a:p>
            <a:pPr marL="342900" indent="-342900">
              <a:buFont typeface="Calibri,Sans-Serif"/>
              <a:buChar char="-"/>
            </a:pPr>
            <a:endParaRPr lang="en-US" sz="24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Ejemplo</a:t>
            </a:r>
            <a:r>
              <a:rPr lang="en-US" sz="2000"/>
              <a:t>: </a:t>
            </a:r>
            <a:r>
              <a:rPr lang="en-US" sz="2000" err="1"/>
              <a:t>Cálculo</a:t>
            </a:r>
            <a:r>
              <a:rPr lang="en-US" sz="2000"/>
              <a:t> de </a:t>
            </a:r>
            <a:r>
              <a:rPr lang="en-US" sz="2000" err="1"/>
              <a:t>sumatorio</a:t>
            </a:r>
            <a:r>
              <a:rPr lang="en-US" sz="2000"/>
              <a:t> de Ventas</a:t>
            </a:r>
          </a:p>
          <a:p>
            <a:pPr marL="800100" lvl="1" indent="-342900">
              <a:buFont typeface="Courier New"/>
              <a:buChar char="o"/>
            </a:pPr>
            <a:endParaRPr lang="en-US"/>
          </a:p>
          <a:p>
            <a:pPr marL="342900" indent="-342900">
              <a:buFont typeface="Calibri,Sans-Serif"/>
              <a:buChar char="-"/>
            </a:pPr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98ACD7-65A0-7E1C-3B0A-08A59A259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4550208"/>
            <a:ext cx="5772150" cy="124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43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172B-B2FC-E0F0-5818-EB2A1898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7004-EC36-306B-7D13-D223E1C3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77C2F4-AB8C-F190-5331-5B1794E01FCF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FC5D8-2EAF-760E-6F64-7036D4F5F8C0}"/>
              </a:ext>
            </a:extLst>
          </p:cNvPr>
          <p:cNvSpPr txBox="1"/>
          <p:nvPr/>
        </p:nvSpPr>
        <p:spPr>
          <a:xfrm>
            <a:off x="516094" y="1722666"/>
            <a:ext cx="11120610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02 - FUNCIONES LÓGICAS</a:t>
            </a:r>
          </a:p>
          <a:p>
            <a:endParaRPr lang="en-US" sz="1600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Se </a:t>
            </a:r>
            <a:r>
              <a:rPr lang="en-US" sz="2000" err="1"/>
              <a:t>utilizan</a:t>
            </a:r>
            <a:r>
              <a:rPr lang="en-US" sz="2000"/>
              <a:t> para </a:t>
            </a:r>
            <a:r>
              <a:rPr lang="en-US" sz="2000" err="1"/>
              <a:t>crear</a:t>
            </a:r>
            <a:r>
              <a:rPr lang="en-US" sz="2000"/>
              <a:t> </a:t>
            </a:r>
            <a:r>
              <a:rPr lang="en-US" sz="2000" err="1"/>
              <a:t>condiciones</a:t>
            </a:r>
            <a:r>
              <a:rPr lang="en-US" sz="2000"/>
              <a:t> y </a:t>
            </a:r>
            <a:r>
              <a:rPr lang="en-US" sz="2000" err="1"/>
              <a:t>clasificaciones</a:t>
            </a:r>
            <a:r>
              <a:rPr lang="en-US" sz="2000"/>
              <a:t> .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Funciones</a:t>
            </a:r>
            <a:r>
              <a:rPr lang="en-US" sz="2000"/>
              <a:t> </a:t>
            </a:r>
            <a:r>
              <a:rPr lang="en-US" sz="2000" err="1"/>
              <a:t>comunes</a:t>
            </a:r>
            <a:r>
              <a:rPr lang="en-US" sz="2000"/>
              <a:t>:</a:t>
            </a:r>
          </a:p>
          <a:p>
            <a:pPr marL="1257300" lvl="1" indent="-342900">
              <a:buFont typeface="Courier New"/>
              <a:buChar char="o"/>
            </a:pPr>
            <a:r>
              <a:rPr lang="en-US" sz="2000" i="1"/>
              <a:t>IF(), SWITCH(), AND(), OR(), NOT()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Ejemplo</a:t>
            </a:r>
            <a:r>
              <a:rPr lang="en-US" sz="2000"/>
              <a:t>: </a:t>
            </a:r>
            <a:r>
              <a:rPr lang="en-US" sz="2000" err="1"/>
              <a:t>Cálculo</a:t>
            </a:r>
            <a:r>
              <a:rPr lang="en-US" sz="2000"/>
              <a:t> de </a:t>
            </a:r>
            <a:r>
              <a:rPr lang="en-US" sz="2000" err="1"/>
              <a:t>sumatorio</a:t>
            </a:r>
            <a:r>
              <a:rPr lang="en-US" sz="2000"/>
              <a:t> de Ventas</a:t>
            </a:r>
          </a:p>
          <a:p>
            <a:pPr marL="800100" lvl="1" indent="-342900">
              <a:buFont typeface="Courier New"/>
              <a:buChar char="o"/>
            </a:pPr>
            <a:endParaRPr lang="en-US"/>
          </a:p>
          <a:p>
            <a:pPr marL="342900" indent="-342900">
              <a:buFont typeface="Calibri,Sans-Serif"/>
              <a:buChar char="-"/>
            </a:pP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DA05E8-25F7-6B4C-660D-305E270C1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74" y="4514421"/>
            <a:ext cx="8180945" cy="103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80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32F3-D48E-962C-32B1-DB8A1FBC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7153-EA73-1096-DFA9-BFB9A002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F8E70A7-BB6C-0739-3C38-9290FC13FA0C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55667-DEC3-0527-A1A2-93116E387FB9}"/>
              </a:ext>
            </a:extLst>
          </p:cNvPr>
          <p:cNvSpPr txBox="1"/>
          <p:nvPr/>
        </p:nvSpPr>
        <p:spPr>
          <a:xfrm>
            <a:off x="516094" y="1722666"/>
            <a:ext cx="11120610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03 - FUNCIONES TEXTO</a:t>
            </a:r>
          </a:p>
          <a:p>
            <a:endParaRPr lang="en-US" sz="1600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Se </a:t>
            </a:r>
            <a:r>
              <a:rPr lang="en-US" sz="2000" err="1"/>
              <a:t>utilizan</a:t>
            </a:r>
            <a:r>
              <a:rPr lang="en-US" sz="2000"/>
              <a:t> para </a:t>
            </a:r>
            <a:r>
              <a:rPr lang="en-US" sz="2000" err="1"/>
              <a:t>crear</a:t>
            </a:r>
            <a:r>
              <a:rPr lang="en-US" sz="2000"/>
              <a:t> </a:t>
            </a:r>
            <a:r>
              <a:rPr lang="en-US" sz="2000" err="1"/>
              <a:t>etiquetas</a:t>
            </a:r>
            <a:r>
              <a:rPr lang="en-US" sz="2000"/>
              <a:t> o campos </a:t>
            </a:r>
            <a:r>
              <a:rPr lang="en-US" sz="2000" err="1"/>
              <a:t>personalizados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Funciones</a:t>
            </a:r>
            <a:r>
              <a:rPr lang="en-US" sz="2000"/>
              <a:t> </a:t>
            </a:r>
            <a:r>
              <a:rPr lang="en-US" sz="2000" err="1"/>
              <a:t>comunes</a:t>
            </a:r>
            <a:r>
              <a:rPr lang="en-US" sz="2000"/>
              <a:t>:</a:t>
            </a:r>
          </a:p>
          <a:p>
            <a:pPr marL="1714500" lvl="1" indent="-342900">
              <a:buFont typeface="Courier New"/>
              <a:buChar char="o"/>
            </a:pPr>
            <a:r>
              <a:rPr lang="en-US" i="1"/>
              <a:t> CONCATENATE(), LEFT(), RIGHT(), LEN(), UPPER(), LOWER()</a:t>
            </a:r>
          </a:p>
          <a:p>
            <a:pPr marL="342900" indent="-342900">
              <a:buFont typeface="Calibri,Sans-Serif"/>
              <a:buChar char="-"/>
            </a:pPr>
            <a:endParaRPr lang="en-US" sz="24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Ejemplo</a:t>
            </a:r>
            <a:r>
              <a:rPr lang="en-US" sz="2400"/>
              <a:t>: </a:t>
            </a:r>
          </a:p>
          <a:p>
            <a:pPr marL="342900" indent="-342900">
              <a:buFont typeface="Calibri,Sans-Serif"/>
              <a:buChar char="-"/>
            </a:pPr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284F9F-0665-CFF8-FEDC-9E7FCBF31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0" y="4221762"/>
            <a:ext cx="10230965" cy="125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01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A3A4-F4F9-8DD3-5FEB-88876A50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AF91-65B6-1EF4-7C2E-6737787F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72B055-086D-817B-64B1-28C0A28F311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FE21F-9FF8-BD1A-B55C-111C8CFECBC9}"/>
              </a:ext>
            </a:extLst>
          </p:cNvPr>
          <p:cNvSpPr txBox="1"/>
          <p:nvPr/>
        </p:nvSpPr>
        <p:spPr>
          <a:xfrm>
            <a:off x="516094" y="1722666"/>
            <a:ext cx="11120610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¿QUE ES EL CONTEXTO EN DAX?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El </a:t>
            </a:r>
            <a:r>
              <a:rPr lang="en-US" sz="2000" b="1" err="1"/>
              <a:t>contexto</a:t>
            </a:r>
            <a:r>
              <a:rPr lang="en-US" sz="2000" b="1"/>
              <a:t> </a:t>
            </a:r>
            <a:r>
              <a:rPr lang="en-US" sz="2000" err="1"/>
              <a:t>determina</a:t>
            </a:r>
            <a:r>
              <a:rPr lang="en-US" sz="2000"/>
              <a:t> </a:t>
            </a:r>
            <a:r>
              <a:rPr lang="en-US" sz="2000" err="1"/>
              <a:t>qué</a:t>
            </a:r>
            <a:r>
              <a:rPr lang="en-US" sz="2000"/>
              <a:t> </a:t>
            </a:r>
            <a:r>
              <a:rPr lang="en-US" sz="2000" err="1"/>
              <a:t>datos</a:t>
            </a:r>
            <a:r>
              <a:rPr lang="en-US" sz="2000"/>
              <a:t> se </a:t>
            </a:r>
            <a:r>
              <a:rPr lang="en-US" sz="2000" err="1"/>
              <a:t>consideran</a:t>
            </a:r>
            <a:r>
              <a:rPr lang="en-US" sz="2000"/>
              <a:t> al </a:t>
            </a:r>
            <a:r>
              <a:rPr lang="en-US" sz="2000" err="1"/>
              <a:t>evaluar</a:t>
            </a:r>
            <a:r>
              <a:rPr lang="en-US" sz="2000"/>
              <a:t>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err="1"/>
              <a:t>fórmula</a:t>
            </a:r>
            <a:r>
              <a:rPr lang="en-US" sz="2000"/>
              <a:t> DAX.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Existen</a:t>
            </a:r>
            <a:r>
              <a:rPr lang="en-US" sz="2000"/>
              <a:t> dos </a:t>
            </a:r>
            <a:r>
              <a:rPr lang="en-US" sz="2000" err="1"/>
              <a:t>tipos</a:t>
            </a:r>
            <a:r>
              <a:rPr lang="en-US" sz="2000"/>
              <a:t> </a:t>
            </a:r>
            <a:r>
              <a:rPr lang="en-US" sz="2000" err="1"/>
              <a:t>principales</a:t>
            </a:r>
            <a:r>
              <a:rPr lang="en-US" sz="2000"/>
              <a:t>: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b="1"/>
              <a:t>01 - </a:t>
            </a:r>
            <a:r>
              <a:rPr lang="en-US" sz="2000" b="1" err="1"/>
              <a:t>Contexto</a:t>
            </a:r>
            <a:r>
              <a:rPr lang="en-US" sz="2000" b="1"/>
              <a:t> de Fila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 b="1"/>
              <a:t>02 - </a:t>
            </a:r>
            <a:r>
              <a:rPr lang="en-US" sz="2000" b="1" err="1"/>
              <a:t>Contexto</a:t>
            </a:r>
            <a:r>
              <a:rPr lang="en-US" sz="2000" b="1"/>
              <a:t> de </a:t>
            </a:r>
            <a:r>
              <a:rPr lang="en-US" sz="2000" b="1" err="1"/>
              <a:t>Filtro</a:t>
            </a:r>
            <a:endParaRPr lang="en-US" sz="2000" b="1"/>
          </a:p>
          <a:p>
            <a:pPr marL="800100" lvl="1" indent="-342900">
              <a:buFont typeface="Courier New"/>
              <a:buChar char="o"/>
            </a:pPr>
            <a:r>
              <a:rPr lang="en-US" sz="2000" b="1"/>
              <a:t>03 - </a:t>
            </a:r>
            <a:r>
              <a:rPr lang="en-US" sz="2000" b="1" err="1"/>
              <a:t>Integración</a:t>
            </a:r>
            <a:r>
              <a:rPr lang="en-US" sz="2000" b="1"/>
              <a:t> de ambos </a:t>
            </a:r>
            <a:r>
              <a:rPr lang="en-US" sz="2000" b="1" err="1"/>
              <a:t>contextos</a:t>
            </a:r>
            <a:endParaRPr lang="en-US" sz="2000" b="1"/>
          </a:p>
          <a:p>
            <a:pPr lvl="1"/>
            <a:endParaRPr lang="en-US" b="1"/>
          </a:p>
          <a:p>
            <a:pPr marL="342900" indent="-342900">
              <a:buFont typeface="Calibri,Sans-Serif"/>
              <a:buChar char="-"/>
            </a:pPr>
            <a:r>
              <a:rPr lang="en-US" sz="2000" b="1" err="1"/>
              <a:t>Importancia</a:t>
            </a:r>
            <a:r>
              <a:rPr lang="en-US" sz="2000"/>
              <a:t>: </a:t>
            </a:r>
            <a:r>
              <a:rPr lang="en-US" sz="2000" err="1"/>
              <a:t>afecta</a:t>
            </a:r>
            <a:r>
              <a:rPr lang="en-US" sz="2000"/>
              <a:t> </a:t>
            </a:r>
            <a:r>
              <a:rPr lang="en-US" sz="2000" err="1"/>
              <a:t>directamente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 </a:t>
            </a:r>
            <a:r>
              <a:rPr lang="en-US" sz="2000" err="1"/>
              <a:t>resultado</a:t>
            </a:r>
            <a:r>
              <a:rPr lang="en-US" sz="2000"/>
              <a:t> de las </a:t>
            </a:r>
            <a:r>
              <a:rPr lang="en-US" sz="2000" err="1"/>
              <a:t>medidas</a:t>
            </a:r>
            <a:r>
              <a:rPr lang="en-US" sz="2000"/>
              <a:t> y </a:t>
            </a:r>
            <a:r>
              <a:rPr lang="en-US" sz="2000" err="1"/>
              <a:t>columnas</a:t>
            </a:r>
            <a:r>
              <a:rPr lang="en-US" sz="2000"/>
              <a:t> </a:t>
            </a:r>
            <a:r>
              <a:rPr lang="en-US" sz="2000" err="1"/>
              <a:t>calculadas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66799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E845-EE07-A316-95E5-0723BAA9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62EC-4F67-F299-794D-7C60D8ED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032839-13E7-CA39-67AF-0B3044CA5791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D5594-2508-E02F-3AFB-6DA3AAFC20F6}"/>
              </a:ext>
            </a:extLst>
          </p:cNvPr>
          <p:cNvSpPr txBox="1"/>
          <p:nvPr/>
        </p:nvSpPr>
        <p:spPr>
          <a:xfrm>
            <a:off x="516094" y="1722666"/>
            <a:ext cx="11120610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01 - CONTEXTO DE FILA</a:t>
            </a:r>
          </a:p>
          <a:p>
            <a:endParaRPr lang="en-US" sz="2400" b="1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Se </a:t>
            </a:r>
            <a:r>
              <a:rPr lang="en-US" sz="2000" err="1"/>
              <a:t>refiere</a:t>
            </a:r>
            <a:r>
              <a:rPr lang="en-US" sz="2000"/>
              <a:t> a la </a:t>
            </a:r>
            <a:r>
              <a:rPr lang="en-US" sz="2000" b="1"/>
              <a:t>fila actual</a:t>
            </a:r>
            <a:r>
              <a:rPr lang="en-US" sz="2000"/>
              <a:t> que se </a:t>
            </a:r>
            <a:r>
              <a:rPr lang="en-US" sz="2000" err="1"/>
              <a:t>está</a:t>
            </a:r>
            <a:r>
              <a:rPr lang="en-US" sz="2000"/>
              <a:t> </a:t>
            </a:r>
            <a:r>
              <a:rPr lang="en-US" sz="2000" err="1"/>
              <a:t>evaluando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err="1"/>
              <a:t>tabla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Aplica</a:t>
            </a:r>
            <a:r>
              <a:rPr lang="en-US" sz="2000"/>
              <a:t> </a:t>
            </a:r>
            <a:r>
              <a:rPr lang="en-US" sz="2000" err="1"/>
              <a:t>principalmente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:</a:t>
            </a:r>
            <a:endParaRPr lang="en-US"/>
          </a:p>
          <a:p>
            <a:pPr marL="800100" lvl="1" indent="-342900">
              <a:buFont typeface="Courier New"/>
              <a:buChar char="o"/>
            </a:pPr>
            <a:r>
              <a:rPr lang="en-US" sz="2000" err="1"/>
              <a:t>Columnas</a:t>
            </a:r>
            <a:r>
              <a:rPr lang="en-US" sz="2000"/>
              <a:t> </a:t>
            </a:r>
            <a:r>
              <a:rPr lang="en-US" sz="2000" err="1"/>
              <a:t>calculadas</a:t>
            </a:r>
            <a:endParaRPr lang="en-US" sz="2000"/>
          </a:p>
          <a:p>
            <a:pPr marL="800100" lvl="1" indent="-342900">
              <a:buFont typeface="Courier New"/>
              <a:buChar char="o"/>
            </a:pPr>
            <a:r>
              <a:rPr lang="en-US" sz="2000" err="1"/>
              <a:t>Funciones</a:t>
            </a:r>
            <a:r>
              <a:rPr lang="en-US" sz="2000"/>
              <a:t> </a:t>
            </a:r>
            <a:r>
              <a:rPr lang="en-US" sz="2000" err="1"/>
              <a:t>iterativas</a:t>
            </a:r>
            <a:r>
              <a:rPr lang="en-US" sz="2000"/>
              <a:t> </a:t>
            </a:r>
            <a:r>
              <a:rPr lang="en-US" sz="2000" err="1"/>
              <a:t>como</a:t>
            </a:r>
            <a:r>
              <a:rPr lang="en-US" sz="2000"/>
              <a:t> </a:t>
            </a:r>
            <a:r>
              <a:rPr lang="en-US" sz="2000" b="1"/>
              <a:t>SUMX, FILTER, </a:t>
            </a:r>
            <a:r>
              <a:rPr lang="en-US" sz="2000" b="1" err="1"/>
              <a:t>ADDColumns</a:t>
            </a:r>
            <a:endParaRPr lang="en-US" sz="2000" b="1"/>
          </a:p>
          <a:p>
            <a:pPr marL="342900" indent="-342900">
              <a:buFont typeface="Calibri,Sans-Serif"/>
              <a:buChar char="-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19908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F574-39C6-D4B2-4693-7B54ACA5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12D8-182C-56EC-081C-E3E2DD55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7A6CD8-1E8E-7FEF-36C7-918C7B634971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DB7C9-3D1A-32F6-E922-5FF3E6E92C3C}"/>
              </a:ext>
            </a:extLst>
          </p:cNvPr>
          <p:cNvSpPr txBox="1"/>
          <p:nvPr/>
        </p:nvSpPr>
        <p:spPr>
          <a:xfrm>
            <a:off x="516094" y="1722666"/>
            <a:ext cx="11120610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01 - CONTEXTO DE FILA</a:t>
            </a:r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/>
              <a:t>En 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siguiente</a:t>
            </a:r>
            <a:r>
              <a:rPr lang="en-US"/>
              <a:t> </a:t>
            </a:r>
            <a:r>
              <a:rPr lang="en-US" err="1"/>
              <a:t>ejemplo</a:t>
            </a:r>
            <a:r>
              <a:rPr lang="en-US"/>
              <a:t>, se </a:t>
            </a:r>
            <a:r>
              <a:rPr lang="en-US" err="1"/>
              <a:t>muestra</a:t>
            </a:r>
            <a:r>
              <a:rPr lang="en-US"/>
              <a:t>, </a:t>
            </a:r>
            <a:r>
              <a:rPr lang="en-US" err="1"/>
              <a:t>cómo</a:t>
            </a:r>
            <a:r>
              <a:rPr lang="en-US"/>
              <a:t> se </a:t>
            </a:r>
            <a:r>
              <a:rPr lang="en-US" err="1"/>
              <a:t>evalúa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fórmula</a:t>
            </a:r>
            <a:r>
              <a:rPr lang="en-US"/>
              <a:t> DAX </a:t>
            </a:r>
            <a:r>
              <a:rPr lang="en-US" b="1"/>
              <a:t>fila </a:t>
            </a:r>
            <a:r>
              <a:rPr lang="en-US" b="1" err="1"/>
              <a:t>por</a:t>
            </a:r>
            <a:r>
              <a:rPr lang="en-US" b="1"/>
              <a:t> fila 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una</a:t>
            </a:r>
            <a:r>
              <a:rPr lang="en-US" b="1"/>
              <a:t> </a:t>
            </a:r>
            <a:r>
              <a:rPr lang="en-US" b="1" err="1"/>
              <a:t>tabla</a:t>
            </a:r>
            <a:r>
              <a:rPr lang="en-US"/>
              <a:t>. </a:t>
            </a:r>
          </a:p>
          <a:p>
            <a:pPr marL="342900" indent="-342900">
              <a:buFont typeface="Calibri,Sans-Serif"/>
              <a:buChar char="-"/>
            </a:pPr>
            <a:r>
              <a:rPr lang="en-US"/>
              <a:t>Cada fila  se </a:t>
            </a:r>
            <a:r>
              <a:rPr lang="en-US" err="1"/>
              <a:t>encuentra</a:t>
            </a:r>
            <a:r>
              <a:rPr lang="en-US"/>
              <a:t> </a:t>
            </a:r>
            <a:r>
              <a:rPr lang="en-US" err="1"/>
              <a:t>resaltada</a:t>
            </a:r>
            <a:r>
              <a:rPr lang="en-US"/>
              <a:t> con un color </a:t>
            </a:r>
            <a:r>
              <a:rPr lang="en-US" err="1"/>
              <a:t>diferente</a:t>
            </a:r>
            <a:r>
              <a:rPr lang="en-US"/>
              <a:t> para </a:t>
            </a:r>
            <a:r>
              <a:rPr lang="en-US" err="1"/>
              <a:t>indicar</a:t>
            </a:r>
            <a:r>
              <a:rPr lang="en-US"/>
              <a:t> </a:t>
            </a:r>
            <a:r>
              <a:rPr lang="en-US" err="1"/>
              <a:t>cómo</a:t>
            </a:r>
            <a:r>
              <a:rPr lang="en-US"/>
              <a:t> se </a:t>
            </a:r>
            <a:r>
              <a:rPr lang="en-US" err="1"/>
              <a:t>aplica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cálculo</a:t>
            </a:r>
            <a:r>
              <a:rPr lang="en-US"/>
              <a:t> </a:t>
            </a:r>
            <a:r>
              <a:rPr lang="en-US" err="1"/>
              <a:t>individualmente</a:t>
            </a:r>
            <a:r>
              <a:rPr lang="en-US"/>
              <a:t>:</a:t>
            </a:r>
          </a:p>
          <a:p>
            <a:pPr marL="800100" lvl="1" indent="-342900">
              <a:buFont typeface="Courier New"/>
              <a:buChar char="o"/>
            </a:pPr>
            <a:r>
              <a:rPr lang="en-US" b="1" err="1"/>
              <a:t>Cantidad</a:t>
            </a:r>
            <a:r>
              <a:rPr lang="en-US" b="1"/>
              <a:t> y </a:t>
            </a:r>
            <a:r>
              <a:rPr lang="en-US" b="1" err="1"/>
              <a:t>PrecioUnitario</a:t>
            </a:r>
            <a:r>
              <a:rPr lang="en-US"/>
              <a:t> son </a:t>
            </a:r>
            <a:r>
              <a:rPr lang="en-US" err="1"/>
              <a:t>columnas</a:t>
            </a:r>
            <a:r>
              <a:rPr lang="en-US"/>
              <a:t> de </a:t>
            </a:r>
            <a:r>
              <a:rPr lang="en-US" err="1"/>
              <a:t>datos</a:t>
            </a:r>
            <a:r>
              <a:rPr lang="en-US"/>
              <a:t>.</a:t>
            </a:r>
          </a:p>
          <a:p>
            <a:pPr marL="800100" lvl="1" indent="-342900">
              <a:buFont typeface="Courier New"/>
              <a:buChar char="o"/>
            </a:pPr>
            <a:r>
              <a:rPr lang="en-US" b="1" err="1"/>
              <a:t>PrecioTotal</a:t>
            </a:r>
            <a:r>
              <a:rPr lang="en-US"/>
              <a:t> es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columna</a:t>
            </a:r>
            <a:r>
              <a:rPr lang="en-US"/>
              <a:t> </a:t>
            </a:r>
            <a:r>
              <a:rPr lang="en-US" err="1"/>
              <a:t>calculada</a:t>
            </a:r>
            <a:r>
              <a:rPr lang="en-US"/>
              <a:t> con la </a:t>
            </a:r>
            <a:r>
              <a:rPr lang="en-US" err="1"/>
              <a:t>fórmula</a:t>
            </a:r>
            <a:endParaRPr lang="en-US"/>
          </a:p>
          <a:p>
            <a:pPr marL="800100" indent="-342900">
              <a:buFont typeface="Courier New"/>
              <a:buChar char="o"/>
            </a:pPr>
            <a:r>
              <a:rPr lang="en-US"/>
              <a:t>Cada fila </a:t>
            </a:r>
            <a:r>
              <a:rPr lang="en-US" err="1"/>
              <a:t>representa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evaluación</a:t>
            </a:r>
            <a:r>
              <a:rPr lang="en-US"/>
              <a:t> </a:t>
            </a:r>
            <a:r>
              <a:rPr lang="en-US" err="1"/>
              <a:t>independiente</a:t>
            </a:r>
            <a:r>
              <a:rPr lang="en-US"/>
              <a:t> del </a:t>
            </a:r>
            <a:r>
              <a:rPr lang="en-US" err="1"/>
              <a:t>cálculo</a:t>
            </a:r>
            <a:r>
              <a:rPr lang="en-US"/>
              <a:t>, lo que </a:t>
            </a:r>
            <a:r>
              <a:rPr lang="en-US" err="1"/>
              <a:t>ilustra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 </a:t>
            </a:r>
            <a:r>
              <a:rPr lang="en-US" err="1"/>
              <a:t>contexto</a:t>
            </a:r>
            <a:r>
              <a:rPr lang="en-US"/>
              <a:t> de fila </a:t>
            </a:r>
            <a:r>
              <a:rPr lang="en-US" err="1"/>
              <a:t>en</a:t>
            </a:r>
            <a:r>
              <a:rPr lang="en-US"/>
              <a:t> DAX.</a:t>
            </a:r>
          </a:p>
          <a:p>
            <a:pPr lvl="1"/>
            <a:br>
              <a:rPr lang="en-US"/>
            </a:br>
            <a:endParaRPr lang="en-US"/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endParaRPr lang="en-US" sz="2000" err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A5015A-ECFC-40AE-6EC3-92E4C5F67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54121"/>
              </p:ext>
            </p:extLst>
          </p:nvPr>
        </p:nvGraphicFramePr>
        <p:xfrm>
          <a:off x="1057465" y="4923676"/>
          <a:ext cx="3473734" cy="14477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1222">
                  <a:extLst>
                    <a:ext uri="{9D8B030D-6E8A-4147-A177-3AD203B41FA5}">
                      <a16:colId xmlns:a16="http://schemas.microsoft.com/office/drawing/2014/main" val="651406379"/>
                    </a:ext>
                  </a:extLst>
                </a:gridCol>
                <a:gridCol w="1151668">
                  <a:extLst>
                    <a:ext uri="{9D8B030D-6E8A-4147-A177-3AD203B41FA5}">
                      <a16:colId xmlns:a16="http://schemas.microsoft.com/office/drawing/2014/main" val="1501626412"/>
                    </a:ext>
                  </a:extLst>
                </a:gridCol>
                <a:gridCol w="1310844">
                  <a:extLst>
                    <a:ext uri="{9D8B030D-6E8A-4147-A177-3AD203B41FA5}">
                      <a16:colId xmlns:a16="http://schemas.microsoft.com/office/drawing/2014/main" val="4093790235"/>
                    </a:ext>
                  </a:extLst>
                </a:gridCol>
              </a:tblGrid>
              <a:tr h="338827">
                <a:tc>
                  <a:txBody>
                    <a:bodyPr/>
                    <a:lstStyle/>
                    <a:p>
                      <a:r>
                        <a:rPr lang="en-US" sz="1000"/>
                        <a:t>CANTIDAD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PRECIO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PRECIO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722328"/>
                  </a:ext>
                </a:extLst>
              </a:tr>
              <a:tr h="292623">
                <a:tc>
                  <a:txBody>
                    <a:bodyPr/>
                    <a:lstStyle/>
                    <a:p>
                      <a:r>
                        <a:rPr lang="en-US" sz="1000"/>
                        <a:t>2.0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10.0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20.0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70425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r>
                        <a:rPr lang="en-US" sz="1000"/>
                        <a:t>5.0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7.5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37.5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769124"/>
                  </a:ext>
                </a:extLst>
              </a:tr>
              <a:tr h="277222">
                <a:tc>
                  <a:txBody>
                    <a:bodyPr/>
                    <a:lstStyle/>
                    <a:p>
                      <a:r>
                        <a:rPr lang="en-US" sz="1000"/>
                        <a:t>3.0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12.0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36.0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573252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4.0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9.0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36.0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8248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065DB02-6AF7-D938-6ABE-DE70300BC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654" y="4764345"/>
            <a:ext cx="6758203" cy="76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74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C3CB-CEDB-D3E9-744F-66B74184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1670-E2B6-68AF-CC68-AB6E6D38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EA361A-64E2-74C4-2363-F52C7B8134FA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F0356-9591-2591-1EC4-EF0E22480A1D}"/>
              </a:ext>
            </a:extLst>
          </p:cNvPr>
          <p:cNvSpPr txBox="1"/>
          <p:nvPr/>
        </p:nvSpPr>
        <p:spPr>
          <a:xfrm>
            <a:off x="516094" y="1722666"/>
            <a:ext cx="11120610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02 - CONTEXTO DE FILTRO</a:t>
            </a:r>
          </a:p>
          <a:p>
            <a:endParaRPr lang="en-US" sz="2400" b="1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Se </a:t>
            </a:r>
            <a:r>
              <a:rPr lang="en-US" sz="2000" err="1"/>
              <a:t>refiere</a:t>
            </a:r>
            <a:r>
              <a:rPr lang="en-US" sz="2000"/>
              <a:t> a </a:t>
            </a:r>
            <a:r>
              <a:rPr lang="en-US" sz="2000" err="1"/>
              <a:t>los</a:t>
            </a:r>
            <a:r>
              <a:rPr lang="en-US" sz="2000"/>
              <a:t> </a:t>
            </a:r>
            <a:r>
              <a:rPr lang="en-US" sz="2000" b="1" err="1"/>
              <a:t>filtros</a:t>
            </a:r>
            <a:r>
              <a:rPr lang="en-US" sz="2000" b="1"/>
              <a:t> actual</a:t>
            </a:r>
            <a:r>
              <a:rPr lang="en-US" sz="2000"/>
              <a:t> 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 </a:t>
            </a:r>
            <a:r>
              <a:rPr lang="en-US" sz="2000" err="1"/>
              <a:t>modelo</a:t>
            </a:r>
            <a:r>
              <a:rPr lang="en-US" sz="2000"/>
              <a:t> de </a:t>
            </a:r>
            <a:r>
              <a:rPr lang="en-US" sz="2000" err="1"/>
              <a:t>datos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Aplica</a:t>
            </a:r>
            <a:r>
              <a:rPr lang="en-US" sz="2000"/>
              <a:t> </a:t>
            </a:r>
            <a:r>
              <a:rPr lang="en-US" sz="2000" err="1"/>
              <a:t>principalmente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:</a:t>
            </a:r>
            <a:endParaRPr lang="en-US"/>
          </a:p>
          <a:p>
            <a:pPr marL="800100" indent="-342900">
              <a:buFont typeface="Courier New"/>
              <a:buChar char="o"/>
            </a:pPr>
            <a:r>
              <a:rPr lang="en-US" sz="2000" b="1" err="1"/>
              <a:t>Medidas</a:t>
            </a:r>
            <a:endParaRPr lang="en-US" sz="2000" b="1"/>
          </a:p>
          <a:p>
            <a:pPr marL="800100" lvl="1" indent="-342900">
              <a:spcBef>
                <a:spcPct val="0"/>
              </a:spcBef>
              <a:buFont typeface="Courier New"/>
              <a:buChar char="o"/>
            </a:pPr>
            <a:r>
              <a:rPr lang="en-US" sz="2000" b="1" err="1"/>
              <a:t>Visualizaciones</a:t>
            </a:r>
            <a:r>
              <a:rPr lang="en-US" sz="2000" b="1"/>
              <a:t> con </a:t>
            </a:r>
            <a:r>
              <a:rPr lang="en-US" sz="2000" b="1" err="1"/>
              <a:t>segmentadores</a:t>
            </a:r>
            <a:r>
              <a:rPr lang="en-US" sz="2000" b="1"/>
              <a:t> o </a:t>
            </a:r>
            <a:r>
              <a:rPr lang="en-US" sz="2000" b="1" err="1"/>
              <a:t>filtros</a:t>
            </a:r>
            <a:endParaRPr lang="en-US" sz="2000" b="1"/>
          </a:p>
          <a:p>
            <a:pPr marL="342900" indent="-342900">
              <a:buFont typeface="Calibri,Sans-Serif"/>
              <a:buChar char="-"/>
            </a:pP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b="1"/>
              <a:t>RESULTADO</a:t>
            </a:r>
            <a:r>
              <a:rPr lang="en-US" sz="2000"/>
              <a:t>: El </a:t>
            </a:r>
            <a:r>
              <a:rPr lang="en-US" sz="2000" err="1"/>
              <a:t>resultado</a:t>
            </a:r>
            <a:r>
              <a:rPr lang="en-US" sz="2000"/>
              <a:t> cambia </a:t>
            </a:r>
            <a:r>
              <a:rPr lang="en-US" sz="2000" err="1"/>
              <a:t>según</a:t>
            </a:r>
            <a:r>
              <a:rPr lang="en-US" sz="2000"/>
              <a:t> </a:t>
            </a:r>
            <a:r>
              <a:rPr lang="en-US" sz="2000" err="1"/>
              <a:t>los</a:t>
            </a:r>
            <a:r>
              <a:rPr lang="en-US" sz="2000"/>
              <a:t> </a:t>
            </a:r>
            <a:r>
              <a:rPr lang="en-US" sz="2000" err="1"/>
              <a:t>filtros</a:t>
            </a:r>
            <a:r>
              <a:rPr lang="en-US" sz="2000"/>
              <a:t> </a:t>
            </a:r>
            <a:r>
              <a:rPr lang="en-US" sz="2000" err="1"/>
              <a:t>aplicados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 </a:t>
            </a:r>
            <a:r>
              <a:rPr lang="en-US" sz="2000" err="1"/>
              <a:t>informe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endParaRPr lang="en-US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399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B84CD-8E87-6B2C-9D97-85DD2D0D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0108-7ED7-5B73-2978-52A82945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C355E7-2ACB-AEA4-1003-E54053AA49B7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C12F5-B5CA-F836-B0D6-27D2FB3CCFCE}"/>
              </a:ext>
            </a:extLst>
          </p:cNvPr>
          <p:cNvSpPr txBox="1"/>
          <p:nvPr/>
        </p:nvSpPr>
        <p:spPr>
          <a:xfrm>
            <a:off x="516094" y="1722666"/>
            <a:ext cx="678201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02 - CONTEXTO DE FILTRO</a:t>
            </a:r>
          </a:p>
          <a:p>
            <a:endParaRPr lang="en-US" sz="2800" b="1"/>
          </a:p>
          <a:p>
            <a:r>
              <a:rPr lang="en-US" b="1" u="sng"/>
              <a:t>01 - VENTAS TOTALES POR PAÍS (TODOS LOS CONTINENTES)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El primer </a:t>
            </a:r>
            <a:r>
              <a:rPr lang="en-US" sz="2000" err="1">
                <a:solidFill>
                  <a:srgbClr val="000000"/>
                </a:solidFill>
              </a:rPr>
              <a:t>gráfico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muestra</a:t>
            </a:r>
            <a:r>
              <a:rPr lang="en-US" sz="2000">
                <a:solidFill>
                  <a:srgbClr val="000000"/>
                </a:solidFill>
              </a:rPr>
              <a:t> las </a:t>
            </a:r>
            <a:r>
              <a:rPr lang="en-US" sz="2000" err="1">
                <a:solidFill>
                  <a:srgbClr val="000000"/>
                </a:solidFill>
              </a:rPr>
              <a:t>ventas</a:t>
            </a:r>
            <a:r>
              <a:rPr lang="en-US" sz="2000">
                <a:solidFill>
                  <a:srgbClr val="000000"/>
                </a:solidFill>
              </a:rPr>
              <a:t> sin </a:t>
            </a:r>
            <a:r>
              <a:rPr lang="en-US" sz="2000" err="1">
                <a:solidFill>
                  <a:srgbClr val="000000"/>
                </a:solidFill>
              </a:rPr>
              <a:t>ningún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filtro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aplicado</a:t>
            </a:r>
            <a:endParaRPr lang="en-US" sz="2000"/>
          </a:p>
          <a:p>
            <a:br>
              <a:rPr lang="en-US" sz="2000" u="sng"/>
            </a:br>
            <a:r>
              <a:rPr lang="en-US" b="1" u="sng"/>
              <a:t>02 - VENTAS TOTALES POR PAÍS (SOLO EUROPA)</a:t>
            </a:r>
            <a:endParaRPr lang="en-US" u="sng"/>
          </a:p>
          <a:p>
            <a:pPr marL="342900" indent="-34290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Este </a:t>
            </a:r>
            <a:r>
              <a:rPr lang="en-US" sz="2000" err="1">
                <a:solidFill>
                  <a:srgbClr val="000000"/>
                </a:solidFill>
              </a:rPr>
              <a:t>gráfico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simula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el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efecto</a:t>
            </a:r>
            <a:r>
              <a:rPr lang="en-US" sz="2000">
                <a:solidFill>
                  <a:srgbClr val="000000"/>
                </a:solidFill>
              </a:rPr>
              <a:t> de </a:t>
            </a:r>
            <a:r>
              <a:rPr lang="en-US" sz="2000" err="1">
                <a:solidFill>
                  <a:srgbClr val="000000"/>
                </a:solidFill>
              </a:rPr>
              <a:t>aplicar</a:t>
            </a:r>
            <a:r>
              <a:rPr lang="en-US" sz="2000">
                <a:solidFill>
                  <a:srgbClr val="000000"/>
                </a:solidFill>
              </a:rPr>
              <a:t> un </a:t>
            </a:r>
            <a:r>
              <a:rPr lang="en-US" sz="2000" err="1">
                <a:solidFill>
                  <a:srgbClr val="000000"/>
                </a:solidFill>
              </a:rPr>
              <a:t>segmentador</a:t>
            </a:r>
            <a:r>
              <a:rPr lang="en-US" sz="2000">
                <a:solidFill>
                  <a:srgbClr val="000000"/>
                </a:solidFill>
              </a:rPr>
              <a:t> que filtra solo </a:t>
            </a:r>
            <a:r>
              <a:rPr lang="en-US" sz="2000" err="1">
                <a:solidFill>
                  <a:srgbClr val="000000"/>
                </a:solidFill>
              </a:rPr>
              <a:t>los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países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europeos</a:t>
            </a:r>
            <a:r>
              <a:rPr lang="en-US" sz="2000">
                <a:solidFill>
                  <a:srgbClr val="000000"/>
                </a:solidFill>
              </a:rPr>
              <a:t>:</a:t>
            </a:r>
          </a:p>
          <a:p>
            <a:br>
              <a:rPr lang="en-US" sz="2000"/>
            </a:br>
            <a:r>
              <a:rPr lang="en-US" sz="2000"/>
              <a:t>Este </a:t>
            </a:r>
            <a:r>
              <a:rPr lang="en-US" sz="2000" err="1"/>
              <a:t>tipo</a:t>
            </a:r>
            <a:r>
              <a:rPr lang="en-US" sz="2000"/>
              <a:t> de </a:t>
            </a:r>
            <a:r>
              <a:rPr lang="en-US" sz="2000" err="1"/>
              <a:t>comportamiento</a:t>
            </a:r>
            <a:r>
              <a:rPr lang="en-US" sz="2000"/>
              <a:t> </a:t>
            </a:r>
            <a:r>
              <a:rPr lang="en-US" sz="2000" err="1"/>
              <a:t>ocurre</a:t>
            </a:r>
            <a:r>
              <a:rPr lang="en-US" sz="2000"/>
              <a:t> </a:t>
            </a:r>
            <a:r>
              <a:rPr lang="en-US" sz="2000" err="1"/>
              <a:t>cuando</a:t>
            </a:r>
            <a:r>
              <a:rPr lang="en-US" sz="2000"/>
              <a:t> se </a:t>
            </a:r>
            <a:r>
              <a:rPr lang="en-US" sz="2000" err="1"/>
              <a:t>usa</a:t>
            </a:r>
            <a:r>
              <a:rPr lang="en-US" sz="2000"/>
              <a:t> un </a:t>
            </a:r>
            <a:r>
              <a:rPr lang="en-US" sz="2000" b="1" err="1"/>
              <a:t>segmentador</a:t>
            </a:r>
            <a:r>
              <a:rPr lang="en-US" sz="2000" b="1"/>
              <a:t> </a:t>
            </a:r>
            <a:r>
              <a:rPr lang="en-US" sz="2000"/>
              <a:t>o un </a:t>
            </a:r>
            <a:r>
              <a:rPr lang="en-US" sz="2000" b="1" err="1"/>
              <a:t>filtro</a:t>
            </a:r>
            <a:r>
              <a:rPr lang="en-US" sz="2000" b="1"/>
              <a:t> visual</a:t>
            </a:r>
            <a:r>
              <a:rPr lang="en-US" sz="2000"/>
              <a:t> que </a:t>
            </a:r>
            <a:r>
              <a:rPr lang="en-US" sz="2000" err="1"/>
              <a:t>modifica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 </a:t>
            </a:r>
            <a:r>
              <a:rPr lang="en-US" sz="2000" err="1"/>
              <a:t>contexto</a:t>
            </a:r>
            <a:r>
              <a:rPr lang="en-US" sz="2000"/>
              <a:t> de </a:t>
            </a:r>
            <a:r>
              <a:rPr lang="en-US" sz="2000" err="1"/>
              <a:t>filtro</a:t>
            </a:r>
            <a:r>
              <a:rPr lang="en-US" sz="2000"/>
              <a:t> 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 que se </a:t>
            </a:r>
            <a:r>
              <a:rPr lang="en-US" sz="2000" err="1"/>
              <a:t>evalúa</a:t>
            </a:r>
            <a:r>
              <a:rPr lang="en-US" sz="2000"/>
              <a:t> </a:t>
            </a:r>
            <a:r>
              <a:rPr lang="en-US" sz="2000" err="1"/>
              <a:t>una</a:t>
            </a:r>
            <a:r>
              <a:rPr lang="en-US" sz="2000"/>
              <a:t> </a:t>
            </a:r>
            <a:r>
              <a:rPr lang="en-US" sz="2000" err="1"/>
              <a:t>medida</a:t>
            </a:r>
            <a:r>
              <a:rPr lang="en-US" sz="2000"/>
              <a:t> </a:t>
            </a:r>
            <a:r>
              <a:rPr lang="en-US" sz="2000" err="1"/>
              <a:t>como</a:t>
            </a:r>
            <a:r>
              <a:rPr lang="en-US" sz="2000"/>
              <a:t>:</a:t>
            </a: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CCBEFF-49D5-FFEE-BA01-E7429FA0C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498" y="1253695"/>
            <a:ext cx="4534243" cy="2469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CF4B4E-C5ED-F104-333A-5A2CF1981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133" y="3999641"/>
            <a:ext cx="4537677" cy="273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DFCA12-43E4-F441-54A5-406E3CC76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096" y="5865253"/>
            <a:ext cx="4643051" cy="93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87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5638-BB51-90C7-C526-AF2ADCC3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37C8-FB1D-5516-8A53-72E3F24E2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C8046D-C170-14A3-AEA0-DF031F5FDD23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1E580-7D17-4DAF-35FB-95C3F1B12FA6}"/>
              </a:ext>
            </a:extLst>
          </p:cNvPr>
          <p:cNvSpPr txBox="1"/>
          <p:nvPr/>
        </p:nvSpPr>
        <p:spPr>
          <a:xfrm>
            <a:off x="516094" y="1722666"/>
            <a:ext cx="11120610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03 - INTERACCIÓN DE CONTEXTOS</a:t>
            </a:r>
          </a:p>
          <a:p>
            <a:pPr marL="342900" indent="-342900">
              <a:buFont typeface="Calibri"/>
              <a:buChar char="-"/>
            </a:pPr>
            <a:endParaRPr lang="en-US" sz="2000"/>
          </a:p>
          <a:p>
            <a:r>
              <a:rPr lang="en-US" sz="2400" b="1"/>
              <a:t>¿QUE SUCEDE CUANDO SE COMBINAN?</a:t>
            </a:r>
          </a:p>
          <a:p>
            <a:pPr marL="285750" indent="-285750">
              <a:buFont typeface="Calibri"/>
              <a:buChar char="-"/>
            </a:pPr>
            <a:endParaRPr lang="en-US" sz="1600" b="1"/>
          </a:p>
          <a:p>
            <a:pPr marL="285750" indent="-285750">
              <a:buFont typeface="Calibri"/>
              <a:buChar char="-"/>
            </a:pPr>
            <a:r>
              <a:rPr lang="en-US" b="1"/>
              <a:t>CALCULATE es </a:t>
            </a:r>
            <a:r>
              <a:rPr lang="en-US" b="1" err="1"/>
              <a:t>una</a:t>
            </a:r>
            <a:r>
              <a:rPr lang="en-US" b="1"/>
              <a:t> de las </a:t>
            </a:r>
            <a:r>
              <a:rPr lang="en-US" b="1" err="1"/>
              <a:t>funciones</a:t>
            </a:r>
            <a:r>
              <a:rPr lang="en-US" b="1"/>
              <a:t> </a:t>
            </a:r>
            <a:r>
              <a:rPr lang="en-US" b="1" err="1"/>
              <a:t>más</a:t>
            </a:r>
            <a:r>
              <a:rPr lang="en-US" b="1"/>
              <a:t> </a:t>
            </a:r>
            <a:r>
              <a:rPr lang="en-US" b="1" err="1"/>
              <a:t>poderosas</a:t>
            </a:r>
            <a:r>
              <a:rPr lang="en-US" b="1"/>
              <a:t> de DAX</a:t>
            </a:r>
            <a:r>
              <a:rPr lang="en-US"/>
              <a:t>. Su </a:t>
            </a:r>
            <a:r>
              <a:rPr lang="en-US" err="1"/>
              <a:t>función</a:t>
            </a:r>
            <a:r>
              <a:rPr lang="en-US"/>
              <a:t> principal es </a:t>
            </a:r>
            <a:r>
              <a:rPr lang="en-US" err="1"/>
              <a:t>modificar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contexto</a:t>
            </a:r>
            <a:r>
              <a:rPr lang="en-US"/>
              <a:t> de </a:t>
            </a:r>
            <a:r>
              <a:rPr lang="en-US" err="1"/>
              <a:t>filtro</a:t>
            </a:r>
            <a:r>
              <a:rPr lang="en-US"/>
              <a:t> 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que se </a:t>
            </a:r>
            <a:r>
              <a:rPr lang="en-US" err="1"/>
              <a:t>evalúa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expresión</a:t>
            </a:r>
            <a:r>
              <a:rPr lang="en-US"/>
              <a:t>. </a:t>
            </a:r>
            <a:r>
              <a:rPr lang="en-US" err="1"/>
              <a:t>Cuando</a:t>
            </a:r>
            <a:r>
              <a:rPr lang="en-US"/>
              <a:t> se </a:t>
            </a:r>
            <a:r>
              <a:rPr lang="en-US" err="1"/>
              <a:t>utiliza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medida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: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endParaRPr lang="en-US"/>
          </a:p>
          <a:p>
            <a:endParaRPr lang="en-US"/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Power BI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evalúa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esa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suma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b="1" err="1">
                <a:solidFill>
                  <a:srgbClr val="424242"/>
                </a:solidFill>
                <a:ea typeface="+mn-lt"/>
                <a:cs typeface="+mn-lt"/>
              </a:rPr>
              <a:t>dentro</a:t>
            </a:r>
            <a:r>
              <a:rPr lang="en-US" b="1">
                <a:solidFill>
                  <a:srgbClr val="424242"/>
                </a:solidFill>
                <a:ea typeface="+mn-lt"/>
                <a:cs typeface="+mn-lt"/>
              </a:rPr>
              <a:t> del </a:t>
            </a:r>
            <a:r>
              <a:rPr lang="en-US" b="1" err="1">
                <a:solidFill>
                  <a:srgbClr val="424242"/>
                </a:solidFill>
                <a:ea typeface="+mn-lt"/>
                <a:cs typeface="+mn-lt"/>
              </a:rPr>
              <a:t>contexto</a:t>
            </a:r>
            <a:r>
              <a:rPr lang="en-US" b="1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b="1" err="1">
                <a:solidFill>
                  <a:srgbClr val="424242"/>
                </a:solidFill>
                <a:ea typeface="+mn-lt"/>
                <a:cs typeface="+mn-lt"/>
              </a:rPr>
              <a:t>filtro</a:t>
            </a:r>
            <a:r>
              <a:rPr lang="en-US" b="1">
                <a:solidFill>
                  <a:srgbClr val="424242"/>
                </a:solidFill>
                <a:ea typeface="+mn-lt"/>
                <a:cs typeface="+mn-lt"/>
              </a:rPr>
              <a:t> actual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, que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puede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venir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segmentadores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filtros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página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424242"/>
                </a:solidFill>
                <a:ea typeface="+mn-lt"/>
                <a:cs typeface="+mn-lt"/>
              </a:rPr>
              <a:t>visualizaciones</a:t>
            </a:r>
            <a:r>
              <a:rPr lang="en-US">
                <a:solidFill>
                  <a:srgbClr val="424242"/>
                </a:solidFill>
                <a:ea typeface="+mn-lt"/>
                <a:cs typeface="+mn-lt"/>
              </a:rPr>
              <a:t>, etc.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7A7C1E-EABA-35B9-08C2-33E4410AA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" y="3906236"/>
            <a:ext cx="5166325" cy="89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04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EBC49-170D-989A-8F9C-373CFEDE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0A2A-C5DA-6D4D-E861-D6AD860ED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EE7FA0-91C8-E173-734A-BF32BB216DAE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9255D-D9C3-0843-2841-CDD5111FEAD7}"/>
              </a:ext>
            </a:extLst>
          </p:cNvPr>
          <p:cNvSpPr txBox="1"/>
          <p:nvPr/>
        </p:nvSpPr>
        <p:spPr>
          <a:xfrm>
            <a:off x="516094" y="1722666"/>
            <a:ext cx="1112061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03 - INTERACCIÓN DE CONTEXTOS</a:t>
            </a:r>
          </a:p>
          <a:p>
            <a:pPr marL="342900" indent="-342900">
              <a:buFont typeface="Calibri"/>
              <a:buChar char="-"/>
            </a:pPr>
            <a:endParaRPr lang="en-US" sz="2000"/>
          </a:p>
          <a:p>
            <a:r>
              <a:rPr lang="en-US" sz="2400" b="1"/>
              <a:t>¿QUE SUCEDE CUANDO SE COMBINAN?</a:t>
            </a:r>
          </a:p>
          <a:p>
            <a:pPr marL="285750" indent="-285750">
              <a:buFont typeface="Calibri"/>
              <a:buChar char="-"/>
            </a:pPr>
            <a:endParaRPr lang="en-US" sz="1600" b="1"/>
          </a:p>
          <a:p>
            <a:pPr marL="285750" indent="-285750">
              <a:buFont typeface="Calibri"/>
              <a:buChar char="-"/>
            </a:pPr>
            <a:r>
              <a:rPr lang="en-US" b="1"/>
              <a:t>Sin embargo, </a:t>
            </a:r>
            <a:r>
              <a:rPr lang="en-US" b="1" err="1"/>
              <a:t>sí</a:t>
            </a:r>
            <a:r>
              <a:rPr lang="en-US" b="1"/>
              <a:t> se </a:t>
            </a:r>
            <a:r>
              <a:rPr lang="en-US" b="1" err="1"/>
              <a:t>utiliza</a:t>
            </a:r>
            <a:r>
              <a:rPr lang="en-US" b="1"/>
              <a:t>: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endParaRPr lang="en-US"/>
          </a:p>
          <a:p>
            <a:endParaRPr lang="en-US"/>
          </a:p>
          <a:p>
            <a:pPr marL="342900" indent="-342900">
              <a:buFont typeface="Calibri"/>
              <a:buChar char="-"/>
            </a:pP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Se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está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reemplazando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o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agregando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un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filtro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 al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contexto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actual: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ahora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la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medida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solo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considera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las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ventas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donde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el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424242"/>
                </a:solidFill>
                <a:ea typeface="+mn-lt"/>
                <a:cs typeface="+mn-lt"/>
              </a:rPr>
              <a:t>país</a:t>
            </a:r>
            <a:r>
              <a:rPr lang="en-US" sz="1600">
                <a:solidFill>
                  <a:srgbClr val="424242"/>
                </a:solidFill>
                <a:ea typeface="+mn-lt"/>
                <a:cs typeface="+mn-lt"/>
              </a:rPr>
              <a:t> es España, </a:t>
            </a:r>
            <a:r>
              <a:rPr lang="en-US" sz="1600" b="1">
                <a:solidFill>
                  <a:srgbClr val="424242"/>
                </a:solidFill>
                <a:ea typeface="+mn-lt"/>
                <a:cs typeface="+mn-lt"/>
              </a:rPr>
              <a:t>sin </a:t>
            </a:r>
            <a:r>
              <a:rPr lang="en-US" sz="1600" b="1" err="1">
                <a:solidFill>
                  <a:srgbClr val="424242"/>
                </a:solidFill>
                <a:ea typeface="+mn-lt"/>
                <a:cs typeface="+mn-lt"/>
              </a:rPr>
              <a:t>importar</a:t>
            </a:r>
            <a:r>
              <a:rPr lang="en-US" sz="1600" b="1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1600" b="1" err="1">
                <a:solidFill>
                  <a:srgbClr val="424242"/>
                </a:solidFill>
                <a:ea typeface="+mn-lt"/>
                <a:cs typeface="+mn-lt"/>
              </a:rPr>
              <a:t>qué</a:t>
            </a:r>
            <a:r>
              <a:rPr lang="en-US" sz="1600" b="1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1600" b="1" err="1">
                <a:solidFill>
                  <a:srgbClr val="424242"/>
                </a:solidFill>
                <a:ea typeface="+mn-lt"/>
                <a:cs typeface="+mn-lt"/>
              </a:rPr>
              <a:t>filtros</a:t>
            </a:r>
            <a:r>
              <a:rPr lang="en-US" sz="1600" b="1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1600" b="1" err="1">
                <a:solidFill>
                  <a:srgbClr val="424242"/>
                </a:solidFill>
                <a:ea typeface="+mn-lt"/>
                <a:cs typeface="+mn-lt"/>
              </a:rPr>
              <a:t>haya</a:t>
            </a:r>
            <a:r>
              <a:rPr lang="en-US" sz="1600" b="1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1600" b="1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1600" b="1">
                <a:solidFill>
                  <a:srgbClr val="424242"/>
                </a:solidFill>
                <a:ea typeface="+mn-lt"/>
                <a:cs typeface="+mn-lt"/>
              </a:rPr>
              <a:t> la </a:t>
            </a:r>
            <a:r>
              <a:rPr lang="en-US" sz="1600" b="1" err="1">
                <a:solidFill>
                  <a:srgbClr val="424242"/>
                </a:solidFill>
                <a:ea typeface="+mn-lt"/>
                <a:cs typeface="+mn-lt"/>
              </a:rPr>
              <a:t>visualización</a:t>
            </a:r>
            <a:r>
              <a:rPr lang="en-US" sz="1600" b="1">
                <a:solidFill>
                  <a:srgbClr val="424242"/>
                </a:solidFill>
                <a:ea typeface="+mn-lt"/>
                <a:cs typeface="+mn-lt"/>
              </a:rPr>
              <a:t>.</a:t>
            </a: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6EDFDF-00EF-132E-9DFC-E8EABA9DD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57" y="3320621"/>
            <a:ext cx="72961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25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9DDF2-CBB7-A1A8-A6DB-EB1844DC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856-90AA-98D2-A665-255CE0DF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067E03-9E3C-25EB-3066-D8F759360151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01343-F91D-F2C6-B36B-0AF9657B0C1B}"/>
              </a:ext>
            </a:extLst>
          </p:cNvPr>
          <p:cNvSpPr txBox="1"/>
          <p:nvPr/>
        </p:nvSpPr>
        <p:spPr>
          <a:xfrm>
            <a:off x="516094" y="1722666"/>
            <a:ext cx="11120610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03 - INTERACCIÓN DE CONTEXTOS</a:t>
            </a:r>
          </a:p>
          <a:p>
            <a:pPr marL="342900" indent="-342900">
              <a:buFont typeface="Calibri"/>
              <a:buChar char="-"/>
            </a:pPr>
            <a:endParaRPr lang="en-US" sz="2000"/>
          </a:p>
          <a:p>
            <a:r>
              <a:rPr lang="en-US" sz="2400" b="1"/>
              <a:t>¿QUE SUCEDE CUANDO SE COMBINAN?</a:t>
            </a:r>
          </a:p>
          <a:p>
            <a:pPr marL="285750" indent="-285750">
              <a:buFont typeface="Calibri"/>
              <a:buChar char="-"/>
            </a:pPr>
            <a:endParaRPr lang="en-US" sz="1600" b="1"/>
          </a:p>
          <a:p>
            <a:pPr marL="285750" indent="-285750">
              <a:buFont typeface="Calibri"/>
              <a:buChar char="-"/>
            </a:pPr>
            <a:r>
              <a:rPr lang="en-US" b="1" err="1"/>
              <a:t>Izquierda</a:t>
            </a:r>
            <a:r>
              <a:rPr lang="en-US" err="1"/>
              <a:t>:</a:t>
            </a:r>
            <a:r>
              <a:rPr lang="en-US" sz="1600" err="1"/>
              <a:t>Se</a:t>
            </a:r>
            <a:r>
              <a:rPr lang="en-US" sz="1600"/>
              <a:t> </a:t>
            </a:r>
            <a:r>
              <a:rPr lang="en-US" sz="1600" err="1"/>
              <a:t>aplica</a:t>
            </a:r>
            <a:r>
              <a:rPr lang="en-US" sz="1600"/>
              <a:t> un </a:t>
            </a:r>
            <a:r>
              <a:rPr lang="en-US" sz="1600" err="1"/>
              <a:t>filtro</a:t>
            </a:r>
            <a:r>
              <a:rPr lang="en-US" sz="1600"/>
              <a:t> </a:t>
            </a:r>
            <a:r>
              <a:rPr lang="en-US" sz="1600" err="1"/>
              <a:t>por</a:t>
            </a:r>
            <a:r>
              <a:rPr lang="en-US" sz="1600"/>
              <a:t> </a:t>
            </a:r>
            <a:r>
              <a:rPr lang="en-US" sz="1600" err="1"/>
              <a:t>continente</a:t>
            </a:r>
            <a:r>
              <a:rPr lang="en-US" sz="1600"/>
              <a:t> = Europa. La </a:t>
            </a:r>
            <a:r>
              <a:rPr lang="en-US" sz="1600" err="1"/>
              <a:t>medida</a:t>
            </a:r>
            <a:r>
              <a:rPr lang="en-US" sz="1600"/>
              <a:t> SUM(Ventas[</a:t>
            </a:r>
            <a:r>
              <a:rPr lang="en-US" sz="1600" err="1"/>
              <a:t>Importe</a:t>
            </a:r>
            <a:r>
              <a:rPr lang="en-US" sz="1600"/>
              <a:t>]) se </a:t>
            </a:r>
            <a:r>
              <a:rPr lang="en-US" sz="1600" err="1"/>
              <a:t>evalúa</a:t>
            </a:r>
            <a:r>
              <a:rPr lang="en-US" sz="1600"/>
              <a:t> solo para </a:t>
            </a:r>
            <a:r>
              <a:rPr lang="en-US" sz="1600" err="1"/>
              <a:t>los</a:t>
            </a:r>
            <a:r>
              <a:rPr lang="en-US" sz="1600"/>
              <a:t> </a:t>
            </a:r>
            <a:r>
              <a:rPr lang="en-US" sz="1600" err="1"/>
              <a:t>países</a:t>
            </a:r>
            <a:r>
              <a:rPr lang="en-US" sz="1600"/>
              <a:t> </a:t>
            </a:r>
            <a:r>
              <a:rPr lang="en-US" sz="1600" err="1"/>
              <a:t>europeos</a:t>
            </a:r>
            <a:r>
              <a:rPr lang="en-US" sz="1600"/>
              <a:t> (España, Francia, Alemania).</a:t>
            </a:r>
          </a:p>
          <a:p>
            <a:pPr marL="285750" indent="-285750">
              <a:buFont typeface="Calibri"/>
              <a:buChar char="-"/>
            </a:pPr>
            <a:r>
              <a:rPr lang="en-US" b="1" err="1"/>
              <a:t>Derecha</a:t>
            </a:r>
            <a:r>
              <a:rPr lang="en-US"/>
              <a:t>: </a:t>
            </a:r>
            <a:r>
              <a:rPr lang="en-US" sz="1600"/>
              <a:t>Se </a:t>
            </a:r>
            <a:r>
              <a:rPr lang="en-US" sz="1600" err="1"/>
              <a:t>usa</a:t>
            </a:r>
            <a:r>
              <a:rPr lang="en-US" sz="1600"/>
              <a:t> CALCULATE(SUM(Ventas[</a:t>
            </a:r>
            <a:r>
              <a:rPr lang="en-US" sz="1600" err="1"/>
              <a:t>Importe</a:t>
            </a:r>
            <a:r>
              <a:rPr lang="en-US" sz="1600"/>
              <a:t>]), </a:t>
            </a:r>
            <a:r>
              <a:rPr lang="en-US" sz="1600" err="1"/>
              <a:t>Clientes</a:t>
            </a:r>
            <a:r>
              <a:rPr lang="en-US" sz="1600"/>
              <a:t>[País] = "España").</a:t>
            </a:r>
            <a:br>
              <a:rPr lang="en-US" sz="1600"/>
            </a:br>
            <a:r>
              <a:rPr lang="en-US" sz="1600" err="1"/>
              <a:t>Aunque</a:t>
            </a:r>
            <a:r>
              <a:rPr lang="en-US" sz="1600"/>
              <a:t> </a:t>
            </a:r>
            <a:r>
              <a:rPr lang="en-US" sz="1600" err="1"/>
              <a:t>el</a:t>
            </a:r>
            <a:r>
              <a:rPr lang="en-US" sz="1600"/>
              <a:t> </a:t>
            </a:r>
            <a:r>
              <a:rPr lang="en-US" sz="1600" err="1"/>
              <a:t>filtro</a:t>
            </a:r>
            <a:r>
              <a:rPr lang="en-US" sz="1600"/>
              <a:t> </a:t>
            </a:r>
            <a:r>
              <a:rPr lang="en-US" sz="1600" err="1"/>
              <a:t>por</a:t>
            </a:r>
            <a:r>
              <a:rPr lang="en-US" sz="1600"/>
              <a:t> </a:t>
            </a:r>
            <a:r>
              <a:rPr lang="en-US" sz="1600" err="1"/>
              <a:t>continente</a:t>
            </a:r>
            <a:r>
              <a:rPr lang="en-US" sz="1600"/>
              <a:t> </a:t>
            </a:r>
            <a:r>
              <a:rPr lang="en-US" sz="1600" err="1"/>
              <a:t>esté</a:t>
            </a:r>
            <a:r>
              <a:rPr lang="en-US" sz="1600"/>
              <a:t> </a:t>
            </a:r>
            <a:r>
              <a:rPr lang="en-US" sz="1600" err="1"/>
              <a:t>activo</a:t>
            </a:r>
            <a:r>
              <a:rPr lang="en-US" sz="1600"/>
              <a:t>, CALCULATE </a:t>
            </a:r>
            <a:r>
              <a:rPr lang="en-US" sz="1600" err="1"/>
              <a:t>impone</a:t>
            </a:r>
            <a:r>
              <a:rPr lang="en-US" sz="1600"/>
              <a:t> un nuevo </a:t>
            </a:r>
            <a:r>
              <a:rPr lang="en-US" sz="1600" err="1"/>
              <a:t>filtro</a:t>
            </a:r>
            <a:r>
              <a:rPr lang="en-US" sz="1600"/>
              <a:t>: solo se </a:t>
            </a:r>
            <a:r>
              <a:rPr lang="en-US" sz="1600" err="1"/>
              <a:t>consideran</a:t>
            </a:r>
            <a:r>
              <a:rPr lang="en-US" sz="1600"/>
              <a:t> las </a:t>
            </a:r>
            <a:r>
              <a:rPr lang="en-US" sz="1600" err="1"/>
              <a:t>ventas</a:t>
            </a:r>
            <a:r>
              <a:rPr lang="en-US" sz="1600"/>
              <a:t> de España.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342900" indent="-342900">
              <a:buFont typeface="Calibri"/>
              <a:buChar char="-"/>
            </a:pPr>
            <a:endParaRPr lang="en-US" sz="1600" b="1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D4B85-245C-D7A5-2359-C09A57216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62" y="4205587"/>
            <a:ext cx="6054811" cy="255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02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47E-695F-B54A-5A50-3EDE9CF8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5167-DC65-A634-3D11-8BF0DB10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E6E6E2-FB33-464F-9926-3D1A9771745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705A9-F55F-CD01-FAA3-A5CA5AC8D42C}"/>
              </a:ext>
            </a:extLst>
          </p:cNvPr>
          <p:cNvSpPr txBox="1"/>
          <p:nvPr/>
        </p:nvSpPr>
        <p:spPr>
          <a:xfrm>
            <a:off x="516094" y="1722666"/>
            <a:ext cx="11120610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¿QUE ES UNA COLUMNA CALCULADA?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calcula</a:t>
            </a:r>
            <a:r>
              <a:rPr lang="en-US" sz="2000">
                <a:solidFill>
                  <a:srgbClr val="000000"/>
                </a:solidFill>
              </a:rPr>
              <a:t> </a:t>
            </a:r>
            <a:r>
              <a:rPr lang="en-US" sz="2000" b="1">
                <a:solidFill>
                  <a:srgbClr val="000000"/>
                </a:solidFill>
              </a:rPr>
              <a:t>fila </a:t>
            </a:r>
            <a:r>
              <a:rPr lang="en-US" sz="2000" b="1" err="1">
                <a:solidFill>
                  <a:srgbClr val="000000"/>
                </a:solidFill>
              </a:rPr>
              <a:t>por</a:t>
            </a:r>
            <a:r>
              <a:rPr lang="en-US" sz="2000" b="1">
                <a:solidFill>
                  <a:srgbClr val="000000"/>
                </a:solidFill>
              </a:rPr>
              <a:t> fila</a:t>
            </a:r>
            <a:r>
              <a:rPr lang="en-US" sz="2000">
                <a:solidFill>
                  <a:srgbClr val="000000"/>
                </a:solidFill>
              </a:rPr>
              <a:t> </a:t>
            </a:r>
            <a:r>
              <a:rPr lang="en-US" sz="2000" err="1">
                <a:solidFill>
                  <a:srgbClr val="000000"/>
                </a:solidFill>
              </a:rPr>
              <a:t>en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una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tabla</a:t>
            </a:r>
            <a:r>
              <a:rPr lang="en-US" sz="200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almacena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físicamente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en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el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modelo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usa</a:t>
            </a:r>
            <a:r>
              <a:rPr lang="en-US" sz="2000">
                <a:solidFill>
                  <a:srgbClr val="000000"/>
                </a:solidFill>
              </a:rPr>
              <a:t> para </a:t>
            </a:r>
            <a:r>
              <a:rPr lang="en-US" sz="2000" err="1">
                <a:solidFill>
                  <a:srgbClr val="000000"/>
                </a:solidFill>
              </a:rPr>
              <a:t>crear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nuevas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categorías</a:t>
            </a:r>
            <a:r>
              <a:rPr lang="en-US" sz="2000">
                <a:solidFill>
                  <a:srgbClr val="000000"/>
                </a:solidFill>
              </a:rPr>
              <a:t> o </a:t>
            </a:r>
            <a:r>
              <a:rPr lang="en-US" sz="2000" err="1">
                <a:solidFill>
                  <a:srgbClr val="000000"/>
                </a:solidFill>
              </a:rPr>
              <a:t>atributos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Es </a:t>
            </a:r>
            <a:r>
              <a:rPr lang="en-US" sz="2000" err="1">
                <a:solidFill>
                  <a:srgbClr val="000000"/>
                </a:solidFill>
              </a:rPr>
              <a:t>bastante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útil</a:t>
            </a:r>
            <a:r>
              <a:rPr lang="en-US" sz="2000">
                <a:solidFill>
                  <a:srgbClr val="000000"/>
                </a:solidFill>
              </a:rPr>
              <a:t> para </a:t>
            </a:r>
            <a:r>
              <a:rPr lang="en-US" sz="2000" err="1">
                <a:solidFill>
                  <a:srgbClr val="000000"/>
                </a:solidFill>
              </a:rPr>
              <a:t>segmentar</a:t>
            </a:r>
            <a:r>
              <a:rPr lang="en-US" sz="2000">
                <a:solidFill>
                  <a:srgbClr val="000000"/>
                </a:solidFill>
              </a:rPr>
              <a:t>, </a:t>
            </a:r>
            <a:r>
              <a:rPr lang="en-US" sz="2000" err="1">
                <a:solidFill>
                  <a:srgbClr val="000000"/>
                </a:solidFill>
              </a:rPr>
              <a:t>agrupar</a:t>
            </a:r>
            <a:r>
              <a:rPr lang="en-US" sz="2000">
                <a:solidFill>
                  <a:srgbClr val="000000"/>
                </a:solidFill>
              </a:rPr>
              <a:t> o </a:t>
            </a:r>
            <a:r>
              <a:rPr lang="en-US" sz="2000" err="1">
                <a:solidFill>
                  <a:srgbClr val="000000"/>
                </a:solidFill>
              </a:rPr>
              <a:t>visualizar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directamente</a:t>
            </a:r>
            <a:r>
              <a:rPr lang="en-US" sz="200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 err="1">
                <a:solidFill>
                  <a:srgbClr val="000000"/>
                </a:solidFill>
              </a:rPr>
              <a:t>Ejemplo</a:t>
            </a:r>
            <a:r>
              <a:rPr lang="en-US" sz="2000">
                <a:solidFill>
                  <a:srgbClr val="000000"/>
                </a:solidFill>
              </a:rPr>
              <a:t>: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solidFill>
                <a:srgbClr val="000000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1600" b="1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4EAAB-1FBC-E05E-CA93-0797B6992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4" y="4472245"/>
            <a:ext cx="7154647" cy="88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6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B087A-DB77-C200-054D-83701586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FACB-ECD7-6E6D-77DF-48B41E2B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870776-4672-8C3C-2695-F8FF21AF36A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EDB8A-CCC2-0CA2-3A8B-5888318E128B}"/>
              </a:ext>
            </a:extLst>
          </p:cNvPr>
          <p:cNvSpPr txBox="1"/>
          <p:nvPr/>
        </p:nvSpPr>
        <p:spPr>
          <a:xfrm>
            <a:off x="516094" y="1722666"/>
            <a:ext cx="11120610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¿QUE ES UNA MEDIDA?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calcula</a:t>
            </a:r>
            <a:r>
              <a:rPr lang="en-US" sz="2000">
                <a:solidFill>
                  <a:srgbClr val="000000"/>
                </a:solidFill>
              </a:rPr>
              <a:t> </a:t>
            </a:r>
            <a:r>
              <a:rPr lang="en-US" sz="2000" b="1" err="1">
                <a:solidFill>
                  <a:srgbClr val="000000"/>
                </a:solidFill>
              </a:rPr>
              <a:t>dinámicamente</a:t>
            </a:r>
            <a:r>
              <a:rPr lang="en-US" sz="2000" b="1">
                <a:solidFill>
                  <a:srgbClr val="000000"/>
                </a:solidFill>
              </a:rPr>
              <a:t> </a:t>
            </a:r>
            <a:r>
              <a:rPr lang="en-US" sz="2000" err="1">
                <a:solidFill>
                  <a:srgbClr val="000000"/>
                </a:solidFill>
              </a:rPr>
              <a:t>en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función</a:t>
            </a:r>
            <a:r>
              <a:rPr lang="en-US" sz="2000">
                <a:solidFill>
                  <a:srgbClr val="000000"/>
                </a:solidFill>
              </a:rPr>
              <a:t> del </a:t>
            </a:r>
            <a:r>
              <a:rPr lang="en-US" sz="2000" err="1">
                <a:solidFill>
                  <a:srgbClr val="000000"/>
                </a:solidFill>
              </a:rPr>
              <a:t>contexto</a:t>
            </a:r>
            <a:r>
              <a:rPr lang="en-US" sz="2000">
                <a:solidFill>
                  <a:srgbClr val="000000"/>
                </a:solidFill>
              </a:rPr>
              <a:t> de </a:t>
            </a:r>
            <a:r>
              <a:rPr lang="en-US" sz="2000" err="1">
                <a:solidFill>
                  <a:srgbClr val="000000"/>
                </a:solidFill>
              </a:rPr>
              <a:t>filtro</a:t>
            </a:r>
            <a:r>
              <a:rPr lang="en-US" sz="200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No se </a:t>
            </a:r>
            <a:r>
              <a:rPr lang="en-US" sz="2000" err="1">
                <a:solidFill>
                  <a:srgbClr val="000000"/>
                </a:solidFill>
              </a:rPr>
              <a:t>almacena</a:t>
            </a:r>
            <a:r>
              <a:rPr lang="en-US" sz="2000">
                <a:solidFill>
                  <a:srgbClr val="000000"/>
                </a:solidFill>
              </a:rPr>
              <a:t>, se </a:t>
            </a:r>
            <a:r>
              <a:rPr lang="en-US" sz="2000" err="1">
                <a:solidFill>
                  <a:srgbClr val="000000"/>
                </a:solidFill>
              </a:rPr>
              <a:t>calcula</a:t>
            </a:r>
            <a:r>
              <a:rPr lang="en-US" sz="2000">
                <a:solidFill>
                  <a:srgbClr val="000000"/>
                </a:solidFill>
              </a:rPr>
              <a:t> al </a:t>
            </a:r>
            <a:r>
              <a:rPr lang="en-US" sz="2000" err="1">
                <a:solidFill>
                  <a:srgbClr val="000000"/>
                </a:solidFill>
              </a:rPr>
              <a:t>vuelo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usa</a:t>
            </a:r>
            <a:r>
              <a:rPr lang="en-US" sz="2000">
                <a:solidFill>
                  <a:srgbClr val="000000"/>
                </a:solidFill>
              </a:rPr>
              <a:t> para KPIs, </a:t>
            </a:r>
            <a:r>
              <a:rPr lang="en-US" sz="2000" err="1">
                <a:solidFill>
                  <a:srgbClr val="000000"/>
                </a:solidFill>
              </a:rPr>
              <a:t>agregaciones</a:t>
            </a:r>
            <a:r>
              <a:rPr lang="en-US" sz="2000">
                <a:solidFill>
                  <a:srgbClr val="000000"/>
                </a:solidFill>
              </a:rPr>
              <a:t> y </a:t>
            </a:r>
            <a:r>
              <a:rPr lang="en-US" sz="2000" err="1">
                <a:solidFill>
                  <a:srgbClr val="000000"/>
                </a:solidFill>
              </a:rPr>
              <a:t>análisis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 err="1">
                <a:solidFill>
                  <a:srgbClr val="000000"/>
                </a:solidFill>
              </a:rPr>
              <a:t>Ejemplo</a:t>
            </a:r>
            <a:r>
              <a:rPr lang="en-US" sz="200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000" err="1">
                <a:solidFill>
                  <a:srgbClr val="424242"/>
                </a:solidFill>
              </a:rPr>
              <a:t>Útil</a:t>
            </a:r>
            <a:r>
              <a:rPr lang="en-US" sz="2000">
                <a:solidFill>
                  <a:srgbClr val="424242"/>
                </a:solidFill>
              </a:rPr>
              <a:t> para </a:t>
            </a:r>
            <a:r>
              <a:rPr lang="en-US" sz="2000" err="1">
                <a:solidFill>
                  <a:srgbClr val="424242"/>
                </a:solidFill>
              </a:rPr>
              <a:t>mostrar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resultados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en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tarjetas</a:t>
            </a:r>
            <a:r>
              <a:rPr lang="en-US" sz="2000" b="1">
                <a:solidFill>
                  <a:srgbClr val="424242"/>
                </a:solidFill>
              </a:rPr>
              <a:t>, </a:t>
            </a:r>
            <a:r>
              <a:rPr lang="en-US" sz="2000" b="1" err="1">
                <a:solidFill>
                  <a:srgbClr val="424242"/>
                </a:solidFill>
              </a:rPr>
              <a:t>gráficos</a:t>
            </a:r>
            <a:r>
              <a:rPr lang="en-US" sz="2000" b="1">
                <a:solidFill>
                  <a:srgbClr val="424242"/>
                </a:solidFill>
              </a:rPr>
              <a:t>, </a:t>
            </a:r>
            <a:r>
              <a:rPr lang="en-US" sz="2000" b="1" err="1">
                <a:solidFill>
                  <a:srgbClr val="424242"/>
                </a:solidFill>
              </a:rPr>
              <a:t>tablas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dinámicas</a:t>
            </a:r>
            <a:r>
              <a:rPr lang="en-US" sz="2000">
                <a:solidFill>
                  <a:srgbClr val="424242"/>
                </a:solidFill>
              </a:rPr>
              <a:t>.</a:t>
            </a:r>
            <a:endParaRPr lang="en-US" sz="2000"/>
          </a:p>
          <a:p>
            <a:pPr marL="342900" indent="-342900">
              <a:buFont typeface="Calibri"/>
              <a:buChar char="-"/>
            </a:pPr>
            <a:endParaRPr lang="en-US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2174F9-0C73-650B-F53F-0E2D83B8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72" y="3997883"/>
            <a:ext cx="5324732" cy="117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07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B222-26EF-7E37-6194-66B99F86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21E9-2882-8FA3-1404-2FDF59BB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3BED81-13F3-371F-D426-A62C22EA09D7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F4151-CC9B-2DAB-226D-EDE2EA89B271}"/>
              </a:ext>
            </a:extLst>
          </p:cNvPr>
          <p:cNvSpPr txBox="1"/>
          <p:nvPr/>
        </p:nvSpPr>
        <p:spPr>
          <a:xfrm>
            <a:off x="516094" y="1722666"/>
            <a:ext cx="1112061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COMPARATIVA: COLUMNAS CALCULADAS VS MEDIDAS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2F6308-8137-5513-D4C1-CCF05D90E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013600"/>
              </p:ext>
            </p:extLst>
          </p:nvPr>
        </p:nvGraphicFramePr>
        <p:xfrm>
          <a:off x="810054" y="2842054"/>
          <a:ext cx="10537543" cy="234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50973">
                  <a:extLst>
                    <a:ext uri="{9D8B030D-6E8A-4147-A177-3AD203B41FA5}">
                      <a16:colId xmlns:a16="http://schemas.microsoft.com/office/drawing/2014/main" val="554366107"/>
                    </a:ext>
                  </a:extLst>
                </a:gridCol>
                <a:gridCol w="3617783">
                  <a:extLst>
                    <a:ext uri="{9D8B030D-6E8A-4147-A177-3AD203B41FA5}">
                      <a16:colId xmlns:a16="http://schemas.microsoft.com/office/drawing/2014/main" val="94217297"/>
                    </a:ext>
                  </a:extLst>
                </a:gridCol>
                <a:gridCol w="3768787">
                  <a:extLst>
                    <a:ext uri="{9D8B030D-6E8A-4147-A177-3AD203B41FA5}">
                      <a16:colId xmlns:a16="http://schemas.microsoft.com/office/drawing/2014/main" val="2735397587"/>
                    </a:ext>
                  </a:extLst>
                </a:gridCol>
              </a:tblGrid>
              <a:tr h="5358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>
                          <a:effectLst/>
                        </a:rPr>
                        <a:t>CARACTERÍSTICA</a:t>
                      </a: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>
                          <a:effectLst/>
                        </a:rPr>
                        <a:t>COLUMNA CALCULADA</a:t>
                      </a: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>
                          <a:effectLst/>
                        </a:rPr>
                        <a:t>MEDIDA</a:t>
                      </a: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732279"/>
                  </a:ext>
                </a:extLst>
              </a:tr>
              <a:tr h="45933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err="1">
                          <a:effectLst/>
                        </a:rPr>
                        <a:t>Evaluación</a:t>
                      </a:r>
                      <a:endParaRPr lang="en-US" sz="1600" b="1">
                        <a:effectLst/>
                      </a:endParaRP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Fila </a:t>
                      </a:r>
                      <a:r>
                        <a:rPr lang="en-US" sz="1600" err="1">
                          <a:effectLst/>
                        </a:rPr>
                        <a:t>por</a:t>
                      </a:r>
                      <a:r>
                        <a:rPr lang="en-US" sz="1600">
                          <a:effectLst/>
                        </a:rPr>
                        <a:t> fila</a:t>
                      </a: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err="1">
                          <a:effectLst/>
                        </a:rPr>
                        <a:t>Según</a:t>
                      </a:r>
                      <a:r>
                        <a:rPr lang="en-US" sz="1600">
                          <a:effectLst/>
                        </a:rPr>
                        <a:t> </a:t>
                      </a:r>
                      <a:r>
                        <a:rPr lang="en-US" sz="1600" err="1">
                          <a:effectLst/>
                        </a:rPr>
                        <a:t>contexto</a:t>
                      </a:r>
                      <a:r>
                        <a:rPr lang="en-US" sz="1600">
                          <a:effectLst/>
                        </a:rPr>
                        <a:t> de </a:t>
                      </a:r>
                      <a:r>
                        <a:rPr lang="en-US" sz="1600" err="1">
                          <a:effectLst/>
                        </a:rPr>
                        <a:t>filtro</a:t>
                      </a:r>
                      <a:endParaRPr lang="en-US" sz="1600">
                        <a:effectLst/>
                      </a:endParaRP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804271"/>
                  </a:ext>
                </a:extLst>
              </a:tr>
              <a:tr h="45933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err="1">
                          <a:effectLst/>
                        </a:rPr>
                        <a:t>Almacenamiento</a:t>
                      </a:r>
                      <a:endParaRPr lang="en-US" sz="1600" b="1">
                        <a:effectLst/>
                      </a:endParaRP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err="1">
                          <a:effectLst/>
                        </a:rPr>
                        <a:t>Sí</a:t>
                      </a:r>
                      <a:endParaRPr lang="en-US" sz="1600">
                        <a:effectLst/>
                      </a:endParaRP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No</a:t>
                      </a: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587467"/>
                  </a:ext>
                </a:extLst>
              </a:tr>
              <a:tr h="45933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err="1">
                          <a:effectLst/>
                        </a:rPr>
                        <a:t>Uso</a:t>
                      </a:r>
                      <a:r>
                        <a:rPr lang="en-US" sz="1600" b="1">
                          <a:effectLst/>
                        </a:rPr>
                        <a:t> principal</a:t>
                      </a: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err="1">
                          <a:effectLst/>
                        </a:rPr>
                        <a:t>Atributos</a:t>
                      </a:r>
                      <a:r>
                        <a:rPr lang="en-US" sz="1600">
                          <a:effectLst/>
                        </a:rPr>
                        <a:t>, </a:t>
                      </a:r>
                      <a:r>
                        <a:rPr lang="en-US" sz="1600" err="1">
                          <a:effectLst/>
                        </a:rPr>
                        <a:t>segmentación</a:t>
                      </a:r>
                      <a:endParaRPr lang="en-US" sz="1600">
                        <a:effectLst/>
                      </a:endParaRP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KPIs, </a:t>
                      </a:r>
                      <a:r>
                        <a:rPr lang="en-US" sz="1600" err="1">
                          <a:effectLst/>
                        </a:rPr>
                        <a:t>agregaciones</a:t>
                      </a:r>
                      <a:endParaRPr lang="en-US" sz="1600">
                        <a:effectLst/>
                      </a:endParaRPr>
                    </a:p>
                  </a:txBody>
                  <a:tcPr marL="114300" marR="76200" marT="76200" marB="66675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021846"/>
                  </a:ext>
                </a:extLst>
              </a:tr>
              <a:tr h="4338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>
                          <a:effectLst/>
                        </a:rPr>
                        <a:t>Impacto </a:t>
                      </a:r>
                      <a:r>
                        <a:rPr lang="en-US" sz="1600" b="1" err="1">
                          <a:effectLst/>
                        </a:rPr>
                        <a:t>en</a:t>
                      </a:r>
                      <a:r>
                        <a:rPr lang="en-US" sz="1600" b="1">
                          <a:effectLst/>
                        </a:rPr>
                        <a:t> </a:t>
                      </a:r>
                      <a:r>
                        <a:rPr lang="en-US" sz="1600" b="1" err="1">
                          <a:effectLst/>
                        </a:rPr>
                        <a:t>rendimiento</a:t>
                      </a:r>
                      <a:endParaRPr lang="en-US" sz="1600" b="1">
                        <a:effectLst/>
                      </a:endParaRPr>
                    </a:p>
                  </a:txBody>
                  <a:tcPr marL="114300" marR="76200" marT="76200" marB="5715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Mayor</a:t>
                      </a:r>
                    </a:p>
                  </a:txBody>
                  <a:tcPr marL="114300" marR="76200" marT="76200" marB="5715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Menor</a:t>
                      </a:r>
                    </a:p>
                  </a:txBody>
                  <a:tcPr marL="114300" marR="76200" marT="76200" marB="5715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5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99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8F5A-B043-2A18-2DAE-6ED9DEB98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EE17-9E16-AD92-8BF3-C499B887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48208F-B8A3-E34C-EC26-38F95777C19E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CDC52-4BD7-0412-6AB1-84412F86E891}"/>
              </a:ext>
            </a:extLst>
          </p:cNvPr>
          <p:cNvSpPr txBox="1"/>
          <p:nvPr/>
        </p:nvSpPr>
        <p:spPr>
          <a:xfrm>
            <a:off x="516094" y="1722666"/>
            <a:ext cx="11120610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BUENAS PRÁCTICAS INICIALES</a:t>
            </a:r>
          </a:p>
          <a:p>
            <a:endParaRPr lang="en-US" sz="16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Nombrar</a:t>
            </a:r>
            <a:r>
              <a:rPr lang="en-US" sz="2000"/>
              <a:t> </a:t>
            </a:r>
            <a:r>
              <a:rPr lang="en-US" sz="2000" err="1"/>
              <a:t>claramente</a:t>
            </a:r>
            <a:r>
              <a:rPr lang="en-US" sz="2000"/>
              <a:t> </a:t>
            </a:r>
            <a:r>
              <a:rPr lang="en-US" sz="2000" b="1" err="1"/>
              <a:t>medidas</a:t>
            </a:r>
            <a:r>
              <a:rPr lang="en-US" sz="2000" b="1"/>
              <a:t> y </a:t>
            </a:r>
            <a:r>
              <a:rPr lang="en-US" sz="2000" b="1" err="1"/>
              <a:t>columnas</a:t>
            </a:r>
            <a:endParaRPr lang="en-US" sz="2000" b="1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Usar </a:t>
            </a:r>
            <a:r>
              <a:rPr lang="en-US" sz="2000" err="1"/>
              <a:t>comentarios</a:t>
            </a:r>
            <a:r>
              <a:rPr lang="en-US" sz="2000"/>
              <a:t> (//) para </a:t>
            </a:r>
            <a:r>
              <a:rPr lang="en-US" sz="2000" err="1"/>
              <a:t>documentar</a:t>
            </a:r>
            <a:r>
              <a:rPr lang="en-US" sz="2000"/>
              <a:t> </a:t>
            </a:r>
            <a:r>
              <a:rPr lang="en-US" sz="2000" err="1"/>
              <a:t>fórmulas</a:t>
            </a:r>
            <a:r>
              <a:rPr lang="en-US" sz="2000"/>
              <a:t> </a:t>
            </a:r>
            <a:r>
              <a:rPr lang="en-US" sz="2000" err="1"/>
              <a:t>complejas</a:t>
            </a: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Probar</a:t>
            </a:r>
            <a:r>
              <a:rPr lang="en-US" sz="2000"/>
              <a:t> </a:t>
            </a:r>
            <a:r>
              <a:rPr lang="en-US" sz="2000" err="1"/>
              <a:t>fórmulas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visualizaciones</a:t>
            </a:r>
            <a:r>
              <a:rPr lang="en-US" sz="2000"/>
              <a:t> simples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Evitar</a:t>
            </a:r>
            <a:r>
              <a:rPr lang="en-US" sz="2000"/>
              <a:t> </a:t>
            </a:r>
            <a:r>
              <a:rPr lang="en-US" sz="2000" err="1"/>
              <a:t>cálculos</a:t>
            </a:r>
            <a:r>
              <a:rPr lang="en-US" sz="2000"/>
              <a:t> </a:t>
            </a:r>
            <a:r>
              <a:rPr lang="en-US" sz="2000" err="1"/>
              <a:t>innecesarios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columnas</a:t>
            </a:r>
            <a:r>
              <a:rPr lang="en-US" sz="2000"/>
              <a:t> </a:t>
            </a:r>
            <a:r>
              <a:rPr lang="en-US" sz="2000" err="1"/>
              <a:t>si</a:t>
            </a:r>
            <a:r>
              <a:rPr lang="en-US" sz="2000"/>
              <a:t> </a:t>
            </a:r>
            <a:r>
              <a:rPr lang="en-US" sz="2000" err="1"/>
              <a:t>pueden</a:t>
            </a:r>
            <a:r>
              <a:rPr lang="en-US" sz="2000"/>
              <a:t> </a:t>
            </a:r>
            <a:r>
              <a:rPr lang="en-US" sz="2000" err="1"/>
              <a:t>hacerse</a:t>
            </a:r>
            <a:r>
              <a:rPr lang="en-US" sz="2000"/>
              <a:t> con </a:t>
            </a:r>
            <a:r>
              <a:rPr lang="en-US" sz="2000" err="1"/>
              <a:t>medidas</a:t>
            </a: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/>
              <a:t>Usar </a:t>
            </a:r>
            <a:r>
              <a:rPr lang="en-US" sz="2000" err="1"/>
              <a:t>funciones</a:t>
            </a:r>
            <a:r>
              <a:rPr lang="en-US" sz="2000"/>
              <a:t> simples antes de </a:t>
            </a:r>
            <a:r>
              <a:rPr lang="en-US" sz="2000" err="1"/>
              <a:t>combinar</a:t>
            </a:r>
            <a:r>
              <a:rPr lang="en-US" sz="2000"/>
              <a:t> </a:t>
            </a:r>
            <a:r>
              <a:rPr lang="en-US" sz="2000" err="1"/>
              <a:t>varias</a:t>
            </a: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Probar</a:t>
            </a:r>
            <a:r>
              <a:rPr lang="en-US" sz="2000"/>
              <a:t> </a:t>
            </a:r>
            <a:r>
              <a:rPr lang="en-US" sz="2000" err="1"/>
              <a:t>fórmulas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visualizaciones</a:t>
            </a:r>
            <a:r>
              <a:rPr lang="en-US" sz="2000"/>
              <a:t> </a:t>
            </a:r>
            <a:r>
              <a:rPr lang="en-US" sz="2000" err="1"/>
              <a:t>pequeñas</a:t>
            </a:r>
            <a:endParaRPr lang="en-US" sz="2000"/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Siempre</a:t>
            </a:r>
            <a:r>
              <a:rPr lang="en-US" sz="2000"/>
              <a:t> </a:t>
            </a:r>
            <a:r>
              <a:rPr lang="en-US" sz="2000" err="1"/>
              <a:t>tener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cuenta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 </a:t>
            </a:r>
            <a:r>
              <a:rPr lang="en-US" sz="2000" err="1"/>
              <a:t>contexto</a:t>
            </a:r>
            <a:r>
              <a:rPr lang="en-US" sz="2000"/>
              <a:t> al </a:t>
            </a:r>
            <a:r>
              <a:rPr lang="en-US" sz="2000" err="1"/>
              <a:t>escribir</a:t>
            </a:r>
            <a:r>
              <a:rPr lang="en-US" sz="2000"/>
              <a:t> </a:t>
            </a:r>
            <a:r>
              <a:rPr lang="en-US" sz="2000" err="1"/>
              <a:t>fórmulas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r>
              <a:rPr lang="en-US" sz="2000" err="1"/>
              <a:t>Utilizar</a:t>
            </a:r>
            <a:r>
              <a:rPr lang="en-US" sz="2000"/>
              <a:t> </a:t>
            </a:r>
            <a:r>
              <a:rPr lang="en-US" sz="2000" err="1"/>
              <a:t>herramientas</a:t>
            </a:r>
            <a:r>
              <a:rPr lang="en-US" sz="2000"/>
              <a:t> </a:t>
            </a:r>
            <a:r>
              <a:rPr lang="en-US" sz="2000" err="1"/>
              <a:t>como</a:t>
            </a:r>
            <a:r>
              <a:rPr lang="en-US" sz="2000"/>
              <a:t> “Ver </a:t>
            </a:r>
            <a:r>
              <a:rPr lang="en-US" sz="2000" err="1"/>
              <a:t>como</a:t>
            </a:r>
            <a:r>
              <a:rPr lang="en-US" sz="2000"/>
              <a:t> </a:t>
            </a:r>
            <a:r>
              <a:rPr lang="en-US" sz="2000" err="1"/>
              <a:t>tabla</a:t>
            </a:r>
            <a:r>
              <a:rPr lang="en-US" sz="2000"/>
              <a:t>” </a:t>
            </a:r>
            <a:r>
              <a:rPr lang="en-US" sz="2000" err="1"/>
              <a:t>en</a:t>
            </a:r>
            <a:r>
              <a:rPr lang="en-US" sz="2000"/>
              <a:t> Power BI para </a:t>
            </a:r>
            <a:r>
              <a:rPr lang="en-US" sz="2000" err="1"/>
              <a:t>entender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 </a:t>
            </a:r>
            <a:r>
              <a:rPr lang="en-US" sz="2000" err="1"/>
              <a:t>contexto</a:t>
            </a:r>
            <a:r>
              <a:rPr lang="en-US" sz="2000"/>
              <a:t>.</a:t>
            </a:r>
          </a:p>
          <a:p>
            <a:pPr marL="342900" indent="-342900">
              <a:buFont typeface="Calibri,Sans-Serif"/>
              <a:buChar char="-"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01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0583-CA99-15E9-8BCB-9B41356A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E9E1-0AA7-EB5A-B919-6423DD96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EJERCICIO FUNCIONES DAX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98AE0F-44AA-D719-F52F-9E8C1132769F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E2F35-18F3-0F22-325D-C2689879C432}"/>
              </a:ext>
            </a:extLst>
          </p:cNvPr>
          <p:cNvSpPr txBox="1"/>
          <p:nvPr/>
        </p:nvSpPr>
        <p:spPr>
          <a:xfrm>
            <a:off x="516094" y="1722666"/>
            <a:ext cx="11120610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CREACIÓN DE MEDIDA Y COLUMNA (PASOS)</a:t>
            </a:r>
          </a:p>
          <a:p>
            <a:endParaRPr lang="en-US" sz="1600"/>
          </a:p>
          <a:p>
            <a:r>
              <a:rPr lang="en-US"/>
              <a:t>01 - </a:t>
            </a:r>
            <a:r>
              <a:rPr lang="en-US" err="1"/>
              <a:t>Descargar</a:t>
            </a:r>
            <a:r>
              <a:rPr lang="en-US"/>
              <a:t> </a:t>
            </a:r>
            <a:r>
              <a:rPr lang="en-US" err="1"/>
              <a:t>fichero</a:t>
            </a:r>
            <a:r>
              <a:rPr lang="en-US"/>
              <a:t> -&gt; /</a:t>
            </a:r>
            <a:r>
              <a:rPr lang="en-US" err="1"/>
              <a:t>Recursos</a:t>
            </a:r>
            <a:r>
              <a:rPr lang="en-US"/>
              <a:t> / Ventas_Tienda.xlsx</a:t>
            </a:r>
          </a:p>
          <a:p>
            <a:r>
              <a:rPr lang="en-US"/>
              <a:t>02 -  </a:t>
            </a:r>
            <a:r>
              <a:rPr lang="en-US" err="1"/>
              <a:t>Cargar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 a Power BI (</a:t>
            </a:r>
            <a:r>
              <a:rPr lang="en-US" err="1"/>
              <a:t>Clientes</a:t>
            </a:r>
            <a:r>
              <a:rPr lang="en-US"/>
              <a:t>, </a:t>
            </a:r>
            <a:r>
              <a:rPr lang="en-US" err="1"/>
              <a:t>Productos</a:t>
            </a:r>
            <a:r>
              <a:rPr lang="en-US"/>
              <a:t> y Ventas)</a:t>
            </a:r>
          </a:p>
          <a:p>
            <a:endParaRPr lang="en-US"/>
          </a:p>
          <a:p>
            <a:r>
              <a:rPr lang="en-US"/>
              <a:t>03 - </a:t>
            </a:r>
            <a:r>
              <a:rPr lang="en-US" err="1"/>
              <a:t>Agregar</a:t>
            </a:r>
            <a:r>
              <a:rPr lang="en-US"/>
              <a:t> la </a:t>
            </a:r>
            <a:r>
              <a:rPr lang="en-US" err="1"/>
              <a:t>siguiente</a:t>
            </a:r>
            <a:r>
              <a:rPr lang="en-US"/>
              <a:t> </a:t>
            </a:r>
            <a:r>
              <a:rPr lang="en-US" err="1"/>
              <a:t>medida</a:t>
            </a:r>
            <a:r>
              <a:rPr lang="en-US"/>
              <a:t> con DAX: </a:t>
            </a:r>
            <a:r>
              <a:rPr lang="en-US" err="1"/>
              <a:t>TotalVentas</a:t>
            </a:r>
            <a:r>
              <a:rPr lang="en-US"/>
              <a:t> </a:t>
            </a:r>
          </a:p>
          <a:p>
            <a:r>
              <a:rPr lang="en-US">
                <a:ea typeface="+mn-lt"/>
                <a:cs typeface="+mn-lt"/>
              </a:rPr>
              <a:t>  </a:t>
            </a:r>
            <a:r>
              <a:rPr lang="en-US" b="1" err="1">
                <a:ea typeface="+mn-lt"/>
                <a:cs typeface="+mn-lt"/>
              </a:rPr>
              <a:t>TotalVentas</a:t>
            </a:r>
            <a:r>
              <a:rPr lang="en-US" b="1">
                <a:ea typeface="+mn-lt"/>
                <a:cs typeface="+mn-lt"/>
              </a:rPr>
              <a:t> = </a:t>
            </a:r>
            <a:r>
              <a:rPr lang="en-US" b="1">
                <a:solidFill>
                  <a:srgbClr val="1E53A3"/>
                </a:solidFill>
                <a:ea typeface="+mn-lt"/>
                <a:cs typeface="+mn-lt"/>
              </a:rPr>
              <a:t>SUM</a:t>
            </a:r>
            <a:r>
              <a:rPr lang="en-US" b="1">
                <a:ea typeface="+mn-lt"/>
                <a:cs typeface="+mn-lt"/>
              </a:rPr>
              <a:t>(Ventas[</a:t>
            </a:r>
            <a:r>
              <a:rPr lang="en-US" b="1" err="1">
                <a:ea typeface="+mn-lt"/>
                <a:cs typeface="+mn-lt"/>
              </a:rPr>
              <a:t>Total_Venta</a:t>
            </a:r>
            <a:r>
              <a:rPr lang="en-US" b="1">
                <a:ea typeface="+mn-lt"/>
                <a:cs typeface="+mn-lt"/>
              </a:rPr>
              <a:t>])</a:t>
            </a:r>
            <a:endParaRPr lang="en-US" b="1"/>
          </a:p>
          <a:p>
            <a:endParaRPr lang="en-US" b="1"/>
          </a:p>
          <a:p>
            <a:r>
              <a:rPr lang="en-US"/>
              <a:t>04 - </a:t>
            </a:r>
            <a:r>
              <a:rPr lang="en-US" err="1"/>
              <a:t>Agregar</a:t>
            </a:r>
            <a:r>
              <a:rPr lang="en-US"/>
              <a:t> la </a:t>
            </a:r>
            <a:r>
              <a:rPr lang="en-US" err="1"/>
              <a:t>siguiente</a:t>
            </a:r>
            <a:r>
              <a:rPr lang="en-US"/>
              <a:t> Columna </a:t>
            </a:r>
            <a:r>
              <a:rPr lang="en-US" err="1"/>
              <a:t>Calculada</a:t>
            </a:r>
            <a:r>
              <a:rPr lang="en-US"/>
              <a:t> con DAX: </a:t>
            </a:r>
            <a:r>
              <a:rPr lang="en-US" err="1"/>
              <a:t>PrecioConIva</a:t>
            </a:r>
            <a:r>
              <a:rPr lang="en-US"/>
              <a:t> </a:t>
            </a:r>
          </a:p>
          <a:p>
            <a:r>
              <a:rPr lang="en-US"/>
              <a:t>  </a:t>
            </a:r>
            <a:r>
              <a:rPr lang="en-US" b="1" err="1"/>
              <a:t>PrecioIVA</a:t>
            </a:r>
            <a:r>
              <a:rPr lang="en-US" b="1"/>
              <a:t> = Ventas[</a:t>
            </a:r>
            <a:r>
              <a:rPr lang="en-US" b="1" err="1"/>
              <a:t>Precio_Unitario</a:t>
            </a:r>
            <a:r>
              <a:rPr lang="en-US" b="1"/>
              <a:t>] * 1.25</a:t>
            </a:r>
          </a:p>
          <a:p>
            <a:endParaRPr lang="en-US"/>
          </a:p>
          <a:p>
            <a:r>
              <a:rPr lang="en-US"/>
              <a:t>05 - </a:t>
            </a:r>
            <a:r>
              <a:rPr lang="en-US" err="1"/>
              <a:t>Ir</a:t>
            </a:r>
            <a:r>
              <a:rPr lang="en-US"/>
              <a:t> a la Vista Informe y </a:t>
            </a:r>
            <a:r>
              <a:rPr lang="en-US" err="1"/>
              <a:t>agregar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Tarjeta</a:t>
            </a:r>
            <a:r>
              <a:rPr lang="en-US"/>
              <a:t>.</a:t>
            </a:r>
          </a:p>
          <a:p>
            <a:r>
              <a:rPr lang="en-US"/>
              <a:t>06 - </a:t>
            </a:r>
            <a:r>
              <a:rPr lang="en-US" err="1"/>
              <a:t>Asociar</a:t>
            </a:r>
            <a:r>
              <a:rPr lang="en-US"/>
              <a:t> a la </a:t>
            </a:r>
            <a:r>
              <a:rPr lang="en-US" err="1"/>
              <a:t>tarjeta</a:t>
            </a:r>
            <a:r>
              <a:rPr lang="en-US"/>
              <a:t> </a:t>
            </a:r>
            <a:r>
              <a:rPr lang="en-US" err="1"/>
              <a:t>valores</a:t>
            </a:r>
            <a:r>
              <a:rPr lang="en-US"/>
              <a:t> de la </a:t>
            </a:r>
            <a:r>
              <a:rPr lang="en-US" err="1"/>
              <a:t>medida</a:t>
            </a:r>
            <a:r>
              <a:rPr lang="en-US"/>
              <a:t> </a:t>
            </a:r>
            <a:r>
              <a:rPr lang="en-US" err="1"/>
              <a:t>creada</a:t>
            </a:r>
            <a:r>
              <a:rPr lang="en-US"/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2BBF3-CB14-B54C-8BDE-CA977BADC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815" y="4982851"/>
            <a:ext cx="3320663" cy="1507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889767-5DCC-1811-0D0B-3B96214DB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298" y="2912907"/>
            <a:ext cx="325755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02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A2991-920D-D1F2-C009-B7F356BA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89620AC-8FC5-C4EE-2331-F5EF1AA1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C811DB9-CE54-1633-D546-93256492B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8D3B576-879C-344A-1A25-D9C702731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9CFB4BBA-7154-15CB-A2A3-499D7DFC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529E39C-BC0A-8160-2410-8BD4548E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309A1-74C5-3E4C-0324-37A6D8BE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800">
                <a:solidFill>
                  <a:srgbClr val="FFFFFF"/>
                </a:solidFill>
              </a:rPr>
              <a:t>BLOQUE 03 -</a:t>
            </a:r>
            <a:r>
              <a:rPr lang="en-US" sz="7200">
                <a:solidFill>
                  <a:srgbClr val="FFFFFF"/>
                </a:solidFill>
              </a:rPr>
              <a:t> </a:t>
            </a:r>
            <a:br>
              <a:rPr lang="en-US" sz="7200">
                <a:solidFill>
                  <a:srgbClr val="FFFFFF"/>
                </a:solidFill>
              </a:rPr>
            </a:br>
            <a:r>
              <a:rPr lang="en-US" sz="5400">
                <a:solidFill>
                  <a:srgbClr val="FFFFFF"/>
                </a:solidFill>
              </a:rPr>
              <a:t>VISUALIZACIÓN DE DATOS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2CDAEF-46CE-C7DC-CF27-3749E9EA1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47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CBCC-1970-FC78-765D-5FECCAA0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5345-FD23-9A45-40CD-961EBCAE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BLOQUE 03 - VISUALIZACIÓN DATOS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C6C9F-06A1-2D76-0939-2E9A925FD5A0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D3939-EE0C-4E22-540E-C9E633A9A8E5}"/>
              </a:ext>
            </a:extLst>
          </p:cNvPr>
          <p:cNvSpPr txBox="1"/>
          <p:nvPr/>
        </p:nvSpPr>
        <p:spPr>
          <a:xfrm>
            <a:off x="517003" y="1721757"/>
            <a:ext cx="1115973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MODELADO DE DATOS</a:t>
            </a:r>
          </a:p>
          <a:p>
            <a:endParaRPr lang="en-US" sz="2400" b="1"/>
          </a:p>
          <a:p>
            <a:r>
              <a:rPr lang="en-US" sz="2400"/>
              <a:t>01 – TIPOS DE GRÁFICOS Y SU USO ADECUADO</a:t>
            </a:r>
          </a:p>
          <a:p>
            <a:r>
              <a:rPr lang="en-US" sz="2400"/>
              <a:t>02 – TABLAS, MATRICES Y TARJETAS DE INDICADORES CLAVE</a:t>
            </a:r>
          </a:p>
          <a:p>
            <a:r>
              <a:rPr lang="en-US" sz="2400"/>
              <a:t>03 - PERSONALIZACIÓN DE COLORES, ESTILOS Y FORMATOS</a:t>
            </a:r>
          </a:p>
          <a:p>
            <a:r>
              <a:rPr lang="en-US" sz="2400"/>
              <a:t>04 – FILTROS Y SEGMENTACIONES</a:t>
            </a:r>
          </a:p>
          <a:p>
            <a:r>
              <a:rPr lang="en-US" sz="2400"/>
              <a:t>05 – PRINCIPIO DE DISEÑO DE INFORMES</a:t>
            </a:r>
          </a:p>
          <a:p>
            <a:r>
              <a:rPr lang="en-US" sz="2400"/>
              <a:t>06 - CREACIÓN DE PÁGINAS, NAVEGACIÓN Y BOOKMARKS</a:t>
            </a:r>
          </a:p>
          <a:p>
            <a:r>
              <a:rPr lang="en-US" sz="2400"/>
              <a:t>07 - PUBLICACIÓN EN POWER BI 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9000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71D6-B19D-4BF4-97F7-7976E561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89B17-C4D5-86BA-0212-CA618C74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7F373D-57C4-BFDC-E0A3-044DF978F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1600"/>
              <a:t> </a:t>
            </a:r>
            <a:r>
              <a:rPr lang="es-ES" sz="2400" b="1" u="sng">
                <a:solidFill>
                  <a:srgbClr val="424242"/>
                </a:solidFill>
              </a:rPr>
              <a:t>1. GRÁFICO DE COLUMNAS O BARRAS</a:t>
            </a:r>
            <a:endParaRPr lang="en-US" sz="1600">
              <a:solidFill>
                <a:srgbClr val="000000"/>
              </a:solidFill>
            </a:endParaRP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Comparar valores entre categorías.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 Informes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s-ES" sz="2000" i="1">
                <a:solidFill>
                  <a:srgbClr val="424242"/>
                </a:solidFill>
                <a:ea typeface="+mn-lt"/>
                <a:cs typeface="+mn-lt"/>
              </a:rPr>
              <a:t>Ventas por producto, ingresos por región.</a:t>
            </a:r>
            <a:endParaRPr lang="es-ES" sz="2000" i="1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Usar columnas para series temporales y barras para categorías con nombres largos.</a:t>
            </a:r>
            <a:endParaRPr lang="es-ES" sz="20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600" b="1">
              <a:solidFill>
                <a:srgbClr val="000000"/>
              </a:solidFill>
            </a:endParaRPr>
          </a:p>
        </p:txBody>
      </p:sp>
      <p:pic>
        <p:nvPicPr>
          <p:cNvPr id="5" name="Picture 4" descr="O Que é Um Grafico De Barras - LIBRAIN">
            <a:extLst>
              <a:ext uri="{FF2B5EF4-FFF2-40B4-BE49-F238E27FC236}">
                <a16:creationId xmlns:a16="http://schemas.microsoft.com/office/drawing/2014/main" id="{8C0A63FC-E5D7-F54E-E41A-C7A61F0E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135" y="3689031"/>
            <a:ext cx="3064115" cy="30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47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32EB-1F33-3A80-598C-3E2FDCDB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270D5-6837-FC58-1379-2401EF59E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F5BC57-FCB5-0028-F448-8533DF97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400" u="sng"/>
              <a:t> </a:t>
            </a:r>
            <a:r>
              <a:rPr lang="es-ES" sz="2400" b="1" u="sng">
                <a:solidFill>
                  <a:srgbClr val="424242"/>
                </a:solidFill>
              </a:rPr>
              <a:t>2. GRÁFICO DE LÍNEAS</a:t>
            </a:r>
            <a:endParaRPr lang="en-US" sz="2400" u="sng">
              <a:solidFill>
                <a:srgbClr val="000000"/>
              </a:solidFill>
            </a:endParaRP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Mostrar tendencias a lo largo del tiempo.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 Informes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s-ES" sz="2000" i="1">
                <a:solidFill>
                  <a:srgbClr val="424242"/>
                </a:solidFill>
                <a:ea typeface="+mn-lt"/>
                <a:cs typeface="+mn-lt"/>
              </a:rPr>
              <a:t>Evolución de ventas mensuales, visitas diarias a un sitio web.</a:t>
            </a:r>
            <a:endParaRPr lang="es-ES" sz="2000" i="1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Ideal para series temporales con muchos puntos de datos.</a:t>
            </a:r>
            <a:endParaRPr lang="es-ES" sz="2000"/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6" name="Picture 5" descr="Cómo hacer un gráfico de línea: Fácil paso a paso">
            <a:extLst>
              <a:ext uri="{FF2B5EF4-FFF2-40B4-BE49-F238E27FC236}">
                <a16:creationId xmlns:a16="http://schemas.microsoft.com/office/drawing/2014/main" id="{B1C86F32-1CF7-6245-016A-B3F612043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024" y="3651180"/>
            <a:ext cx="3254578" cy="301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78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B8365-599A-5FC7-B2C2-1974B95C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97992-F4D3-3BB3-0628-5172699AF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7C28D2-8044-3C78-CC36-3C5F3A2E6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62953"/>
            <a:ext cx="11155680" cy="474200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3. GRÁFICO DE ÁREAS</a:t>
            </a: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Similar al de líneas, pero con énfasis en el volumen.</a:t>
            </a:r>
            <a:endParaRPr lang="es-E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 Informes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s-ES" sz="2000" i="1">
                <a:solidFill>
                  <a:srgbClr val="424242"/>
                </a:solidFill>
                <a:ea typeface="+mn-lt"/>
                <a:cs typeface="+mn-lt"/>
              </a:rPr>
              <a:t>Comparar participación de productos a lo largo del tiempo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s-ES" sz="2000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Útil para mostrar  proporciones.</a:t>
            </a:r>
            <a:endParaRPr lang="es-ES" sz="1200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>
              <a:buNone/>
            </a:pPr>
            <a:endParaRPr lang="es-ES" sz="2200" b="1">
              <a:solidFill>
                <a:srgbClr val="424242"/>
              </a:solidFill>
            </a:endParaRPr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8" name="Picture 7" descr="Gráfico de Área no Excel: Dinâmico e Interativo | Hashtag Treinamentos">
            <a:extLst>
              <a:ext uri="{FF2B5EF4-FFF2-40B4-BE49-F238E27FC236}">
                <a16:creationId xmlns:a16="http://schemas.microsoft.com/office/drawing/2014/main" id="{945863C0-3D28-E44A-DCFC-5B0CBEAA3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131" y="3675256"/>
            <a:ext cx="6034810" cy="29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40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38FCB-BFEC-4AEE-B5AD-2A8F610B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07F50-63B5-3C3B-55E9-126C8C5E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12289C-322B-0E64-D437-2219D7E17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62953"/>
            <a:ext cx="11155680" cy="474200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4. GRÁFICO CIRCULAR (tarta o donut)</a:t>
            </a:r>
            <a:endParaRPr lang="es-ES" sz="2400" u="sng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Mostrar proporciones o porcentajes de un total.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 Informes 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Distribución de ventas por categoría.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No usar con más de 5-6 categorías; puede volverse confuso.</a:t>
            </a:r>
            <a:endParaRPr lang="es-ES" sz="2000"/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>
              <a:buNone/>
            </a:pPr>
            <a:endParaRPr lang="es-ES" sz="2200" b="1">
              <a:solidFill>
                <a:srgbClr val="424242"/>
              </a:solidFill>
            </a:endParaRPr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9" name="Picture 8" descr="Gráfica circular: Características, ejemplos y consejos para crearla">
            <a:extLst>
              <a:ext uri="{FF2B5EF4-FFF2-40B4-BE49-F238E27FC236}">
                <a16:creationId xmlns:a16="http://schemas.microsoft.com/office/drawing/2014/main" id="{45D47836-BD01-E40F-7EBF-48288F5E9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116" y="3920582"/>
            <a:ext cx="3204100" cy="275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87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6B516-8025-B02C-2B3B-E4D80E8C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7D722-B2C8-99B9-50E5-7118EE754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808455-566A-D7AA-FE81-0E3E5AED2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62953"/>
            <a:ext cx="11155680" cy="474200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 5. TARJETAS E INDICADORES</a:t>
            </a: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Mostrar métricas clave (KPI) de forma destacada.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 Informes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Total de ventas, número de clientes activos.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Úsalos para resaltar cifras importantes en </a:t>
            </a:r>
            <a:r>
              <a:rPr lang="es-ES" sz="2000" err="1">
                <a:solidFill>
                  <a:srgbClr val="424242"/>
                </a:solidFill>
                <a:ea typeface="+mn-lt"/>
                <a:cs typeface="+mn-lt"/>
              </a:rPr>
              <a:t>dashboards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 ejecutivos.</a:t>
            </a:r>
            <a:endParaRPr lang="es-ES" sz="2000"/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7F2B49-9035-DCE6-6599-5B0B20AAB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711" y="3612766"/>
            <a:ext cx="4198058" cy="30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5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8B04-F4DC-BA9C-190C-7B8D32C1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9C0AE-7933-6312-A21F-0E34EE6C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8324D3-671D-2BAB-9304-65A884DF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6. TABLA Y MATRICES</a:t>
            </a:r>
            <a:endParaRPr lang="en-US" sz="2400" u="sng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Mostrar datos detallados o desglosados.</a:t>
            </a:r>
            <a:endParaRPr lang="es-E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Listado de facturas, ventas por producto y región.</a:t>
            </a:r>
            <a:endParaRPr lang="es-E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Útiles para análisis detallado, pero no deben sobrecargar el informe.</a:t>
            </a:r>
            <a:endParaRPr lang="es-ES" sz="2000">
              <a:ea typeface="+mn-lt"/>
              <a:cs typeface="+mn-lt"/>
            </a:endParaRPr>
          </a:p>
          <a:p>
            <a:pPr>
              <a:buNone/>
            </a:pPr>
            <a:endParaRPr lang="es-ES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5E6A2-4498-E18A-1EFB-C8A438671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356" y="3560523"/>
            <a:ext cx="3599140" cy="304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59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F52A0-6EE4-FA2D-AE8C-6A66B5E6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E61AD-7BE0-677C-20F2-56928509E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189AF0-EC9F-5A02-5248-5C23A3F7C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 7. GRÁFICO DE DISPERSIÓN (</a:t>
            </a:r>
            <a:r>
              <a:rPr lang="es-ES" sz="2400" b="1" u="sng" err="1">
                <a:solidFill>
                  <a:srgbClr val="424242"/>
                </a:solidFill>
              </a:rPr>
              <a:t>scatter</a:t>
            </a:r>
            <a:r>
              <a:rPr lang="es-ES" sz="2400" b="1" u="sng">
                <a:solidFill>
                  <a:srgbClr val="424242"/>
                </a:solidFill>
              </a:rPr>
              <a:t> </a:t>
            </a:r>
            <a:r>
              <a:rPr lang="es-ES" sz="2400" b="1" u="sng" err="1">
                <a:solidFill>
                  <a:srgbClr val="424242"/>
                </a:solidFill>
              </a:rPr>
              <a:t>plot</a:t>
            </a:r>
            <a:r>
              <a:rPr lang="es-ES" sz="2400" b="1" u="sng">
                <a:solidFill>
                  <a:srgbClr val="424242"/>
                </a:solidFill>
              </a:rPr>
              <a:t>)</a:t>
            </a:r>
            <a:endParaRPr lang="es-ES" sz="2400" u="sng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Analizar relaciones entre dos variables numéricas.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Relación entre ingresos y número de visitas.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Añadir tamaño o color para representar una tercera variable.</a:t>
            </a:r>
            <a:endParaRPr lang="es-ES" sz="2000"/>
          </a:p>
          <a:p>
            <a:pPr>
              <a:buNone/>
            </a:pPr>
            <a:endParaRPr lang="es-ES" b="1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5" name="Picture 4" descr="Gráfico de dispersión | Interactive Chaos">
            <a:extLst>
              <a:ext uri="{FF2B5EF4-FFF2-40B4-BE49-F238E27FC236}">
                <a16:creationId xmlns:a16="http://schemas.microsoft.com/office/drawing/2014/main" id="{C158E0C8-BF8A-5F20-0FD0-1F5FCB80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219" y="3857637"/>
            <a:ext cx="5715685" cy="269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876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CD2BF-7315-080F-1274-44BE50B1A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A12C8-154B-24A3-3F6A-CCFCA137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D26A2-70F4-7A52-E10A-B7FED6A40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 8. MAPAS</a:t>
            </a:r>
            <a:endParaRPr lang="es-ES" sz="2400" u="sng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Visualizar datos geográficos.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Ventas por país, clientes por ciudad.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Asegúrate de que los datos estén bien categorizados como geográficos.</a:t>
            </a:r>
            <a:endParaRPr lang="es-ES" sz="2000"/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6" name="Picture 5" descr="Usar mapas de formas en Power BI Desktop (versión preliminar) - Power ...">
            <a:extLst>
              <a:ext uri="{FF2B5EF4-FFF2-40B4-BE49-F238E27FC236}">
                <a16:creationId xmlns:a16="http://schemas.microsoft.com/office/drawing/2014/main" id="{686A3E33-928C-EF12-EC4B-4A72253BB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184" y="3838107"/>
            <a:ext cx="3642496" cy="278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546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2533A-84A5-3999-3AD0-89D5B7AA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4DC72-7DAE-BE5F-9861-09B3F93C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F0AD41-F7F4-F1EC-E4E4-B9F54F645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9. GRÁFICOS COMBINADOS (LÍNEA + COLUMNAS)</a:t>
            </a:r>
            <a:endParaRPr lang="en-US" sz="2400" b="1" u="sng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Comparar dos métricas con diferentes escalas.</a:t>
            </a:r>
            <a:endParaRPr lang="es-E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Ejemplos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Ventas (columna) y margen de beneficio (línea).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 b="1">
                <a:solidFill>
                  <a:srgbClr val="424242"/>
                </a:solidFill>
                <a:ea typeface="+mn-lt"/>
                <a:cs typeface="+mn-lt"/>
              </a:rPr>
              <a:t>Consejo</a:t>
            </a: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: Útil para mostrar correlaciones o contrastes.</a:t>
            </a:r>
            <a:endParaRPr lang="es-ES" sz="2000">
              <a:ea typeface="+mn-lt"/>
              <a:cs typeface="+mn-lt"/>
            </a:endParaRPr>
          </a:p>
          <a:p>
            <a:pPr>
              <a:buNone/>
            </a:pPr>
            <a:endParaRPr lang="es-ES" b="1">
              <a:solidFill>
                <a:srgbClr val="424242"/>
              </a:solidFill>
              <a:ea typeface="+mn-lt"/>
              <a:cs typeface="+mn-lt"/>
            </a:endParaRPr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600" b="1"/>
          </a:p>
        </p:txBody>
      </p:sp>
      <p:pic>
        <p:nvPicPr>
          <p:cNvPr id="3" name="Picture 2" descr="Gráficos combinados en Excel • Excel Total">
            <a:extLst>
              <a:ext uri="{FF2B5EF4-FFF2-40B4-BE49-F238E27FC236}">
                <a16:creationId xmlns:a16="http://schemas.microsoft.com/office/drawing/2014/main" id="{DC6B7550-FCA6-B59C-9A24-9AB79482F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55" y="3947153"/>
            <a:ext cx="5662914" cy="239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29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BC67-9FDD-E408-F2B5-4458340B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AEEC9-66DF-7D96-CBA4-D1E5CB17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TIPOS DE GRÁFICOS Y SU USO ADECUADO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A35A2D-324D-0BA6-7ACD-6FC338967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u="sng">
                <a:solidFill>
                  <a:srgbClr val="424242"/>
                </a:solidFill>
              </a:rPr>
              <a:t>RECOMENDACIONES A LA HORA DE ELEGIR UN GRÁFICO:</a:t>
            </a:r>
            <a:endParaRPr lang="en-US" u="sng"/>
          </a:p>
          <a:p>
            <a:pPr marL="285750" indent="-285750">
              <a:buFont typeface="Calibri,Sans-Serif"/>
              <a:buChar char="-"/>
            </a:pPr>
            <a:r>
              <a:rPr lang="es-ES" sz="2000" b="1">
                <a:solidFill>
                  <a:srgbClr val="000000"/>
                </a:solidFill>
              </a:rPr>
              <a:t>Menos es más:</a:t>
            </a:r>
            <a:r>
              <a:rPr lang="es-ES" sz="2000">
                <a:solidFill>
                  <a:srgbClr val="000000"/>
                </a:solidFill>
              </a:rPr>
              <a:t> evita sobrecargar con visualizaciones innecesarias.</a:t>
            </a: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,Sans-Serif"/>
              <a:buChar char="-"/>
            </a:pPr>
            <a:r>
              <a:rPr lang="es-ES" sz="2000" b="1">
                <a:solidFill>
                  <a:srgbClr val="000000"/>
                </a:solidFill>
              </a:rPr>
              <a:t>Contexto claro:</a:t>
            </a:r>
            <a:r>
              <a:rPr lang="es-ES" sz="2000">
                <a:solidFill>
                  <a:srgbClr val="000000"/>
                </a:solidFill>
              </a:rPr>
              <a:t> siempre incluye títulos, etiquetas y leyendas.</a:t>
            </a: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,Sans-Serif"/>
              <a:buChar char="-"/>
            </a:pPr>
            <a:r>
              <a:rPr lang="es-ES" sz="2000" b="1">
                <a:solidFill>
                  <a:srgbClr val="000000"/>
                </a:solidFill>
              </a:rPr>
              <a:t>Consistencia visual:</a:t>
            </a:r>
            <a:r>
              <a:rPr lang="es-ES" sz="2000">
                <a:solidFill>
                  <a:srgbClr val="000000"/>
                </a:solidFill>
              </a:rPr>
              <a:t> usa colores y estilos coherentes.</a:t>
            </a: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,Sans-Serif"/>
              <a:buChar char="-"/>
            </a:pPr>
            <a:r>
              <a:rPr lang="es-ES" sz="2000" b="1">
                <a:solidFill>
                  <a:srgbClr val="000000"/>
                </a:solidFill>
              </a:rPr>
              <a:t>Interactividad:</a:t>
            </a:r>
            <a:r>
              <a:rPr lang="es-ES" sz="2000">
                <a:solidFill>
                  <a:srgbClr val="000000"/>
                </a:solidFill>
              </a:rPr>
              <a:t> aprovecha filtros, segmentaciones y </a:t>
            </a:r>
            <a:r>
              <a:rPr lang="es-ES" sz="2000" err="1">
                <a:solidFill>
                  <a:srgbClr val="000000"/>
                </a:solidFill>
              </a:rPr>
              <a:t>tooltips</a:t>
            </a:r>
            <a:r>
              <a:rPr lang="es-ES" sz="2000">
                <a:solidFill>
                  <a:srgbClr val="000000"/>
                </a:solidFill>
              </a:rPr>
              <a:t> para enriquecer la experiencia.</a:t>
            </a:r>
            <a:endParaRPr lang="es-ES" sz="2000"/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 sz="2600" b="1"/>
          </a:p>
        </p:txBody>
      </p:sp>
    </p:spTree>
    <p:extLst>
      <p:ext uri="{BB962C8B-B14F-4D97-AF65-F5344CB8AC3E}">
        <p14:creationId xmlns:p14="http://schemas.microsoft.com/office/powerpoint/2010/main" val="30124656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49EFC-A81E-81FC-607F-C2D1CF34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DC8D2-9B9E-010B-B1CE-A73B214EB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PERSONALIZACIÓN - COLORES, ESTILO Y FORMATO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85386C-DB7B-26C7-65A6-2F8EEA975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09668"/>
            <a:ext cx="11150899" cy="4831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1200">
                <a:solidFill>
                  <a:srgbClr val="424242"/>
                </a:solidFill>
              </a:rPr>
              <a:t>Una visualización efectiva no solo depende del tipo de gráfico, sino también de cómo se presenta visualmente. </a:t>
            </a:r>
            <a:r>
              <a:rPr lang="es-ES" sz="1200" err="1">
                <a:solidFill>
                  <a:srgbClr val="424242"/>
                </a:solidFill>
              </a:rPr>
              <a:t>Power</a:t>
            </a:r>
            <a:r>
              <a:rPr lang="es-ES" sz="1200">
                <a:solidFill>
                  <a:srgbClr val="424242"/>
                </a:solidFill>
              </a:rPr>
              <a:t> BI ofrece múltiples opciones para personalizar el aspecto de los informes y hacerlos más claros, atractivos y alineados con tu marca o audiencia.</a:t>
            </a:r>
          </a:p>
          <a:p>
            <a:pPr marL="0" indent="0">
              <a:buNone/>
            </a:pPr>
            <a:r>
              <a:rPr lang="es-ES" sz="2000" b="1">
                <a:solidFill>
                  <a:srgbClr val="424242"/>
                </a:solidFill>
              </a:rPr>
              <a:t>01 COLORES</a:t>
            </a:r>
            <a:endParaRPr lang="es-ES" sz="2000" b="1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¿Qué se puede personalizar?</a:t>
            </a:r>
            <a:endParaRPr lang="es-ES" sz="1600" b="1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Colores de barras, líneas, áreas, fondos, etiquetas, títulos, etc.</a:t>
            </a:r>
            <a:endParaRPr lang="es-ES" sz="1100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Paletas de colores personalizadas o temas corporativos.</a:t>
            </a:r>
            <a:endParaRPr lang="es-ES" sz="1100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Buenas prácticas</a:t>
            </a:r>
            <a:endParaRPr lang="es-ES" sz="1600" b="1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Usa colores consistentes para representar las mismas categorías en diferentes visualizaciones.</a:t>
            </a:r>
            <a:endParaRPr lang="es-ES" sz="1100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Aplica colores semánticos (verde = bueno, rojo = alerta).</a:t>
            </a:r>
            <a:endParaRPr lang="es-ES" sz="1100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Evita usar demasiados colores; limita a 5-6 por gráfico.</a:t>
            </a:r>
            <a:endParaRPr lang="es-ES" sz="1100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¿Cómo hacerlo?</a:t>
            </a:r>
            <a:endParaRPr lang="es-ES" sz="1600" b="1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200">
                <a:solidFill>
                  <a:srgbClr val="424242"/>
                </a:solidFill>
              </a:rPr>
              <a:t>Selecciona la visualización &gt; Panel de formato (icono de brocha) &gt; Colores de datos.</a:t>
            </a:r>
            <a:endParaRPr lang="es-ES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200">
                <a:solidFill>
                  <a:srgbClr val="424242"/>
                </a:solidFill>
              </a:rPr>
              <a:t>Puedes cambiar colores individualmente o aplicar un tema desde Vista &gt; Temas.</a:t>
            </a:r>
            <a:endParaRPr lang="es-ES"/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141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7A48-A0F0-3E1F-4F14-3DC29A10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49647-D695-71C8-A2BE-889BC748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PERSONALIZACIÓN - COLORES, ESTILO Y FORMATO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E270EF-7FBC-8DF9-5219-39D35673E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09668"/>
            <a:ext cx="11150899" cy="4831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000" b="1">
                <a:solidFill>
                  <a:srgbClr val="424242"/>
                </a:solidFill>
              </a:rPr>
              <a:t>02 ESTILOS</a:t>
            </a:r>
            <a:endParaRPr lang="es-ES" sz="2000" b="1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¿Qué se puede personalizar?</a:t>
            </a:r>
            <a:endParaRPr lang="es-ES" sz="1600" b="1"/>
          </a:p>
          <a:p>
            <a:pPr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Bordes, sombras, títulos, leyendas, líneas de cuadrícula, etiquetas de datos, etc.</a:t>
            </a:r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Buenas prácticas:</a:t>
            </a:r>
            <a:endParaRPr lang="es-ES" sz="1600" b="1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Usa </a:t>
            </a:r>
            <a:r>
              <a:rPr lang="es-ES" sz="1100" b="1">
                <a:solidFill>
                  <a:srgbClr val="424242"/>
                </a:solidFill>
              </a:rPr>
              <a:t>bordes sutiles</a:t>
            </a:r>
            <a:r>
              <a:rPr lang="es-ES" sz="1100">
                <a:solidFill>
                  <a:srgbClr val="424242"/>
                </a:solidFill>
              </a:rPr>
              <a:t> para separar visualizaciones sin sobrecargar.</a:t>
            </a:r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Activa o desactiva </a:t>
            </a:r>
            <a:r>
              <a:rPr lang="es-ES" sz="1100" b="1">
                <a:solidFill>
                  <a:srgbClr val="424242"/>
                </a:solidFill>
              </a:rPr>
              <a:t>líneas de cuadrícula</a:t>
            </a:r>
            <a:r>
              <a:rPr lang="es-ES" sz="1100">
                <a:solidFill>
                  <a:srgbClr val="424242"/>
                </a:solidFill>
              </a:rPr>
              <a:t> según la claridad que aporten.</a:t>
            </a:r>
            <a:endParaRPr lang="es-ES" sz="1100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Ajusta el </a:t>
            </a:r>
            <a:r>
              <a:rPr lang="es-ES" sz="1100" b="1">
                <a:solidFill>
                  <a:srgbClr val="424242"/>
                </a:solidFill>
              </a:rPr>
              <a:t>tamaño </a:t>
            </a:r>
            <a:r>
              <a:rPr lang="es-ES" sz="1100">
                <a:solidFill>
                  <a:srgbClr val="424242"/>
                </a:solidFill>
              </a:rPr>
              <a:t>y </a:t>
            </a:r>
            <a:r>
              <a:rPr lang="es-ES" sz="1100" b="1">
                <a:solidFill>
                  <a:srgbClr val="424242"/>
                </a:solidFill>
              </a:rPr>
              <a:t>alineación del texto</a:t>
            </a:r>
            <a:r>
              <a:rPr lang="es-ES" sz="1100">
                <a:solidFill>
                  <a:srgbClr val="424242"/>
                </a:solidFill>
              </a:rPr>
              <a:t> para mejorar la legibilidad.</a:t>
            </a:r>
            <a:endParaRPr lang="es-ES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¿Cómo hacerlo?</a:t>
            </a:r>
            <a:endParaRPr lang="es-ES" sz="1600" b="1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En el panel de formato, explora secciones como:</a:t>
            </a:r>
          </a:p>
          <a:p>
            <a:pPr marL="628650" lvl="1" indent="-171450">
              <a:buFont typeface="Courier New" panose="020B0604020202020204" pitchFamily="34" charset="0"/>
              <a:buChar char="o"/>
            </a:pPr>
            <a:r>
              <a:rPr lang="es-ES" sz="1100" b="1">
                <a:solidFill>
                  <a:srgbClr val="424242"/>
                </a:solidFill>
              </a:rPr>
              <a:t>Título</a:t>
            </a:r>
            <a:r>
              <a:rPr lang="es-ES" sz="1100">
                <a:solidFill>
                  <a:srgbClr val="424242"/>
                </a:solidFill>
              </a:rPr>
              <a:t>: cambiar fuente, tamaño, color, alineación.</a:t>
            </a:r>
            <a:endParaRPr lang="es-ES" sz="1100"/>
          </a:p>
          <a:p>
            <a:pPr marL="628650" lvl="1" indent="-171450">
              <a:buFont typeface="Courier New" panose="020B0604020202020204" pitchFamily="34" charset="0"/>
              <a:buChar char="o"/>
            </a:pPr>
            <a:r>
              <a:rPr lang="es-ES" sz="1100" b="1">
                <a:solidFill>
                  <a:srgbClr val="424242"/>
                </a:solidFill>
              </a:rPr>
              <a:t>Leyenda</a:t>
            </a:r>
            <a:r>
              <a:rPr lang="es-ES" sz="1100">
                <a:solidFill>
                  <a:srgbClr val="424242"/>
                </a:solidFill>
              </a:rPr>
              <a:t>: posición, tamaño, color.</a:t>
            </a:r>
            <a:endParaRPr lang="es-ES" sz="1100"/>
          </a:p>
          <a:p>
            <a:pPr marL="628650" lvl="1" indent="-171450">
              <a:buFont typeface="Courier New" panose="020B0604020202020204" pitchFamily="34" charset="0"/>
              <a:buChar char="o"/>
            </a:pPr>
            <a:r>
              <a:rPr lang="es-ES" sz="1100" b="1">
                <a:solidFill>
                  <a:srgbClr val="424242"/>
                </a:solidFill>
              </a:rPr>
              <a:t>Ejes</a:t>
            </a:r>
            <a:r>
              <a:rPr lang="es-ES" sz="1100">
                <a:solidFill>
                  <a:srgbClr val="424242"/>
                </a:solidFill>
              </a:rPr>
              <a:t>: mostrar/ocultar, personalizar etiquetas.</a:t>
            </a:r>
            <a:endParaRPr lang="es-ES" sz="1100"/>
          </a:p>
          <a:p>
            <a:pPr marL="171450" indent="-171450">
              <a:buFont typeface="Calibri" panose="020B0604020202020204" pitchFamily="34" charset="0"/>
              <a:buChar char="-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2355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1475-2D15-7869-16D4-E55C1026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BCC66-4AD5-B443-C314-05F7F626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PERSONALIZACIÓN - COLORES, ESTILO Y FORMATO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3589D3-E8CF-2BC7-C9CE-934923EAD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09668"/>
            <a:ext cx="11150899" cy="4831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000" b="1">
                <a:solidFill>
                  <a:srgbClr val="424242"/>
                </a:solidFill>
              </a:rPr>
              <a:t>03 FORMATO DE DATOS</a:t>
            </a:r>
            <a:endParaRPr lang="es-ES" sz="2000" b="1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¿Qué se puede personalizar?</a:t>
            </a:r>
            <a:endParaRPr lang="es-ES" sz="1600" b="1"/>
          </a:p>
          <a:p>
            <a:pPr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Formato de números (moneda, porcentaje, decimales).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Formato de fechas (día/mes/año, mes abreviado, etc.).</a:t>
            </a:r>
            <a:endParaRPr lang="es-ES"/>
          </a:p>
          <a:p>
            <a:pPr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Separadores de miles, unidades abreviadas (K, M, B).</a:t>
            </a:r>
            <a:endParaRPr lang="es-ES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Buenas prácticas:</a:t>
            </a:r>
            <a:endParaRPr lang="es-ES" sz="1600" b="1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Usa </a:t>
            </a:r>
            <a:r>
              <a:rPr lang="es-ES" sz="1100" b="1">
                <a:solidFill>
                  <a:srgbClr val="424242"/>
                </a:solidFill>
              </a:rPr>
              <a:t>formato de moneda</a:t>
            </a:r>
            <a:r>
              <a:rPr lang="es-ES" sz="1100">
                <a:solidFill>
                  <a:srgbClr val="424242"/>
                </a:solidFill>
              </a:rPr>
              <a:t> para métricas financieras.</a:t>
            </a:r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Redondea valores para facilitar la lectura (por ejemplo, 1.5M en lugar de 1,500,000).</a:t>
            </a:r>
            <a:endParaRPr lang="es-ES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Asegúrate de que el formato sea coherente en todo el informe.</a:t>
            </a:r>
            <a:endParaRPr lang="es-ES"/>
          </a:p>
          <a:p>
            <a:pPr marL="0" indent="0">
              <a:buNone/>
            </a:pPr>
            <a:r>
              <a:rPr lang="es-ES" sz="1600" b="1">
                <a:solidFill>
                  <a:srgbClr val="424242"/>
                </a:solidFill>
              </a:rPr>
              <a:t>¿Cómo hacerlo?</a:t>
            </a:r>
            <a:endParaRPr lang="es-ES" sz="1600" b="1"/>
          </a:p>
          <a:p>
            <a:pPr marL="171450" indent="-171450">
              <a:buFont typeface="Calibri" panose="020B0604020202020204" pitchFamily="34" charset="0"/>
              <a:buChar char="-"/>
            </a:pPr>
            <a:r>
              <a:rPr lang="es-ES" sz="1100">
                <a:solidFill>
                  <a:srgbClr val="424242"/>
                </a:solidFill>
              </a:rPr>
              <a:t>En el panel de campos, selecciona el campo &gt; pestaña de Modelado &gt; Formato.</a:t>
            </a:r>
          </a:p>
          <a:p>
            <a:pPr marL="171450" indent="-171450">
              <a:buFont typeface="Calibri" panose="020B0604020202020204" pitchFamily="34" charset="0"/>
              <a:buChar char="-"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608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558AA-1B48-FA3F-9107-EEEC6515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59BA4-DDB2-3A56-F14F-415F7D4A9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FILTROS Y SEGMENTACIONES - FILTROS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BB5E7A-C82A-DB88-3C58-A3EE703E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16294"/>
            <a:ext cx="11158595" cy="47567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600">
                <a:solidFill>
                  <a:srgbClr val="424242"/>
                </a:solidFill>
              </a:rPr>
              <a:t>Los filtros y segmentaciones (</a:t>
            </a:r>
            <a:r>
              <a:rPr lang="es-ES" sz="1600" err="1">
                <a:solidFill>
                  <a:srgbClr val="424242"/>
                </a:solidFill>
              </a:rPr>
              <a:t>slicers</a:t>
            </a:r>
            <a:r>
              <a:rPr lang="es-ES" sz="1600">
                <a:solidFill>
                  <a:srgbClr val="424242"/>
                </a:solidFill>
              </a:rPr>
              <a:t>) son herramientas clave para hacer que los informes sean interactivos, dinámicos y personalizados. </a:t>
            </a:r>
            <a:endParaRPr lang="es-ES">
              <a:solidFill>
                <a:srgbClr val="000000"/>
              </a:solidFill>
            </a:endParaRPr>
          </a:p>
          <a:p>
            <a:pPr>
              <a:buNone/>
            </a:pPr>
            <a:r>
              <a:rPr lang="es-ES" sz="1600">
                <a:solidFill>
                  <a:srgbClr val="424242"/>
                </a:solidFill>
              </a:rPr>
              <a:t>Permiten a los usuarios explorar los datos desde diferentes perspectivas sin necesidad de modificar el informe base.</a:t>
            </a:r>
            <a:endParaRPr lang="es-ES"/>
          </a:p>
          <a:p>
            <a:pPr>
              <a:buNone/>
            </a:pPr>
            <a:r>
              <a:rPr lang="es-ES" sz="2000" b="1">
                <a:solidFill>
                  <a:srgbClr val="424242"/>
                </a:solidFill>
              </a:rPr>
              <a:t>TIPOS DE FILTROS</a:t>
            </a:r>
            <a:endParaRPr lang="en-US" sz="2000"/>
          </a:p>
          <a:p>
            <a:r>
              <a:rPr lang="es-ES" sz="2000">
                <a:solidFill>
                  <a:srgbClr val="424242"/>
                </a:solidFill>
              </a:rPr>
              <a:t>Filtros a </a:t>
            </a:r>
            <a:r>
              <a:rPr lang="es-ES" sz="2000" b="1">
                <a:solidFill>
                  <a:srgbClr val="424242"/>
                </a:solidFill>
              </a:rPr>
              <a:t>nivel de visualización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s-ES" sz="1400">
                <a:solidFill>
                  <a:srgbClr val="424242"/>
                </a:solidFill>
              </a:rPr>
              <a:t>Afectan solo a una visualización específica.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s-ES" sz="1400">
                <a:solidFill>
                  <a:srgbClr val="424242"/>
                </a:solidFill>
              </a:rPr>
              <a:t>Útiles para mostrar una vista filtrada sin afectar el resto del informe.</a:t>
            </a:r>
          </a:p>
          <a:p>
            <a:r>
              <a:rPr lang="es-ES" sz="2000">
                <a:solidFill>
                  <a:srgbClr val="424242"/>
                </a:solidFill>
              </a:rPr>
              <a:t>Filtros a </a:t>
            </a:r>
            <a:r>
              <a:rPr lang="es-ES" sz="2000" b="1">
                <a:solidFill>
                  <a:srgbClr val="424242"/>
                </a:solidFill>
              </a:rPr>
              <a:t>nivel de página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s-ES" sz="1400">
                <a:solidFill>
                  <a:srgbClr val="424242"/>
                </a:solidFill>
              </a:rPr>
              <a:t>Afectan a todas las visualizaciones dentro de una página del informe.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s-ES" sz="1400">
                <a:solidFill>
                  <a:srgbClr val="424242"/>
                </a:solidFill>
              </a:rPr>
              <a:t>Ideal para mostrar datos de un segmento específico (por ejemplo, una región o año).</a:t>
            </a:r>
          </a:p>
          <a:p>
            <a:r>
              <a:rPr lang="es-ES" sz="2000">
                <a:solidFill>
                  <a:srgbClr val="424242"/>
                </a:solidFill>
              </a:rPr>
              <a:t>Filtros </a:t>
            </a:r>
            <a:r>
              <a:rPr lang="es-ES" sz="2000" b="1">
                <a:solidFill>
                  <a:srgbClr val="424242"/>
                </a:solidFill>
              </a:rPr>
              <a:t>a nivel de informe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s-ES" sz="1400">
                <a:solidFill>
                  <a:srgbClr val="424242"/>
                </a:solidFill>
              </a:rPr>
              <a:t>Se aplican a todas las páginas del informe.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s-ES" sz="1400">
                <a:solidFill>
                  <a:srgbClr val="424242"/>
                </a:solidFill>
              </a:rPr>
              <a:t>Útiles para establecer un contexto general (por ejemplo, solo mostrar datos del año actual)</a:t>
            </a:r>
            <a:endParaRPr lang="es-ES" sz="1400">
              <a:solidFill>
                <a:srgbClr val="000000"/>
              </a:solidFill>
            </a:endParaRPr>
          </a:p>
          <a:p>
            <a:pPr lvl="1" indent="-285750">
              <a:buFont typeface="Courier New" panose="020B0604020202020204" pitchFamily="34" charset="0"/>
              <a:buChar char="o"/>
            </a:pPr>
            <a:endParaRPr lang="es-ES" sz="120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3472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3316-D257-F94E-104D-DE9D14C8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281CE-F241-AC34-910A-1E99A06B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FILTROS Y SEGMENTACIONES - SEGMENTACIONES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51A0A5-CE5A-91E4-0A28-87AD865C8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16294"/>
            <a:ext cx="11158595" cy="47567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000" b="1">
                <a:solidFill>
                  <a:srgbClr val="424242"/>
                </a:solidFill>
              </a:rPr>
              <a:t>¿QUÉ SON LAS SEGMENTACIONES?</a:t>
            </a:r>
          </a:p>
          <a:p>
            <a:pPr>
              <a:buNone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Visualizaciones interactivas que permiten al usuario </a:t>
            </a: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filtrar datos manualmente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 mediante botones, listas desplegables o controles de fecha.</a:t>
            </a:r>
            <a:endParaRPr lang="es-ES"/>
          </a:p>
          <a:p>
            <a:pPr>
              <a:buNone/>
            </a:pPr>
            <a:r>
              <a:rPr lang="es-ES" sz="2000" b="1">
                <a:solidFill>
                  <a:srgbClr val="424242"/>
                </a:solidFill>
              </a:rPr>
              <a:t>Tipos de segmentaciones: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1400" b="1">
                <a:solidFill>
                  <a:srgbClr val="424242"/>
                </a:solidFill>
                <a:ea typeface="+mn-lt"/>
                <a:cs typeface="+mn-lt"/>
              </a:rPr>
              <a:t>Texto</a:t>
            </a: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: para filtrar por categorías (producto, región, cliente).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b="1">
                <a:solidFill>
                  <a:srgbClr val="424242"/>
                </a:solidFill>
                <a:ea typeface="+mn-lt"/>
                <a:cs typeface="+mn-lt"/>
              </a:rPr>
              <a:t>Fechas</a:t>
            </a: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: con controles de calendario o rangos.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b="1">
                <a:solidFill>
                  <a:srgbClr val="424242"/>
                </a:solidFill>
                <a:ea typeface="+mn-lt"/>
                <a:cs typeface="+mn-lt"/>
              </a:rPr>
              <a:t>Números</a:t>
            </a: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: con controles deslizantes.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 b="1">
                <a:solidFill>
                  <a:srgbClr val="424242"/>
                </a:solidFill>
                <a:ea typeface="+mn-lt"/>
                <a:cs typeface="+mn-lt"/>
              </a:rPr>
              <a:t>Segmentaciones jerárquicas</a:t>
            </a: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: permiten filtrar por niveles (por ejemplo, Año &gt; Mes &gt; Día).</a:t>
            </a:r>
            <a:endParaRPr lang="es-ES" sz="1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ES" sz="2000" b="1">
                <a:solidFill>
                  <a:srgbClr val="424242"/>
                </a:solidFill>
              </a:rPr>
              <a:t>Buenas prácticas: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Usa segmentaciones visibles para que el usuario tenga control sobre los datos.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Agrupa segmentaciones relacionadas (por ejemplo, filtros de tiempo juntos).</a:t>
            </a:r>
            <a:endParaRPr lang="es-ES" sz="1400"/>
          </a:p>
          <a:p>
            <a:pPr>
              <a:buFont typeface="Arial"/>
              <a:buChar char="•"/>
            </a:pP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Usa </a:t>
            </a:r>
            <a:r>
              <a:rPr lang="es-ES" sz="1400" b="1">
                <a:solidFill>
                  <a:srgbClr val="424242"/>
                </a:solidFill>
                <a:ea typeface="+mn-lt"/>
                <a:cs typeface="+mn-lt"/>
              </a:rPr>
              <a:t>segmentaciones sincronizadas</a:t>
            </a:r>
            <a:r>
              <a:rPr lang="es-ES" sz="1400">
                <a:solidFill>
                  <a:srgbClr val="424242"/>
                </a:solidFill>
                <a:ea typeface="+mn-lt"/>
                <a:cs typeface="+mn-lt"/>
              </a:rPr>
              <a:t> si deseas que el mismo filtro se aplique en varias páginas.</a:t>
            </a:r>
            <a:endParaRPr lang="es-ES" sz="1400"/>
          </a:p>
          <a:p>
            <a:pPr>
              <a:buNone/>
            </a:pPr>
            <a:endParaRPr lang="es-ES" sz="2000" b="1">
              <a:solidFill>
                <a:srgbClr val="424242"/>
              </a:solidFill>
            </a:endParaRPr>
          </a:p>
          <a:p>
            <a:pPr lvl="1" indent="-285750">
              <a:buFont typeface="Courier New" panose="020B0604020202020204" pitchFamily="34" charset="0"/>
              <a:buChar char="o"/>
            </a:pPr>
            <a:endParaRPr lang="es-ES" sz="1200">
              <a:solidFill>
                <a:srgbClr val="424242"/>
              </a:solidFill>
            </a:endParaRPr>
          </a:p>
        </p:txBody>
      </p:sp>
      <p:pic>
        <p:nvPicPr>
          <p:cNvPr id="3" name="Picture 2" descr="Cómo hacer Segmentación de datos en Power BI ️ - Solvetic">
            <a:extLst>
              <a:ext uri="{FF2B5EF4-FFF2-40B4-BE49-F238E27FC236}">
                <a16:creationId xmlns:a16="http://schemas.microsoft.com/office/drawing/2014/main" id="{DB34B6E5-29DB-82C7-CE71-22A64DB70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835" y="2541104"/>
            <a:ext cx="3286539" cy="328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895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909A5-973A-DBA9-5344-4C528875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89D59-DEA5-78FE-73D8-66A5127D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DISEÑO DE INFORMES INTERACTIVOS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573CD4-F444-1900-6486-94E619883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000" b="1"/>
              <a:t>PRINCIPIOS DE DISEÑO DE INFORMES</a:t>
            </a:r>
            <a:endParaRPr lang="en-US" sz="2000"/>
          </a:p>
          <a:p>
            <a:pPr marL="0" indent="0">
              <a:buNone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Un informe interactivo en </a:t>
            </a:r>
            <a:r>
              <a:rPr lang="es-ES" sz="1200" err="1">
                <a:solidFill>
                  <a:srgbClr val="424242"/>
                </a:solidFill>
                <a:ea typeface="+mn-lt"/>
                <a:cs typeface="+mn-lt"/>
              </a:rPr>
              <a:t>Power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 BI no solo debe ser visualmente atractivo, sino también funcional, intuitivo y orientado a la toma de decisiones. Algunos principios clave que debemos conocer para lograrlo:</a:t>
            </a:r>
            <a:endParaRPr lang="es-ES"/>
          </a:p>
          <a:p>
            <a:pPr>
              <a:buNone/>
            </a:pPr>
            <a:r>
              <a:rPr lang="es-ES" b="1" i="1" u="sng">
                <a:solidFill>
                  <a:srgbClr val="424242"/>
                </a:solidFill>
              </a:rPr>
              <a:t>1. Claridad y simplicidad</a:t>
            </a:r>
            <a:endParaRPr lang="es-ES" i="1" u="sng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Evita la sobrecarga visual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Usa solo los elementos necesarios. Demasiadas visualizaciones pueden confundir al usuario.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Usa títulos claros y descriptivos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Cada gráfico debe tener un propósito evidente.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Agrupa la información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Organiza los elementos relacionados en secciones o paneles.</a:t>
            </a:r>
            <a:endParaRPr lang="es-ES"/>
          </a:p>
          <a:p>
            <a:pPr>
              <a:buNone/>
            </a:pPr>
            <a:r>
              <a:rPr lang="es-ES" b="1" i="1" u="sng">
                <a:solidFill>
                  <a:srgbClr val="424242"/>
                </a:solidFill>
              </a:rPr>
              <a:t>2. Interactividad significativa</a:t>
            </a:r>
            <a:endParaRPr lang="es-ES" b="1" i="1" u="sng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Filtros y segmentaciones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Usa </a:t>
            </a:r>
            <a:r>
              <a:rPr lang="es-ES" sz="1200" err="1">
                <a:solidFill>
                  <a:srgbClr val="424242"/>
                </a:solidFill>
                <a:ea typeface="+mn-lt"/>
                <a:cs typeface="+mn-lt"/>
              </a:rPr>
              <a:t>slicers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, filtros y segmentaciones para permitir al usuario explorar los datos por sí mismo.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 err="1">
                <a:solidFill>
                  <a:srgbClr val="424242"/>
                </a:solidFill>
                <a:ea typeface="+mn-lt"/>
                <a:cs typeface="+mn-lt"/>
              </a:rPr>
              <a:t>Bookmarks</a:t>
            </a: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 y botones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Crea experiencias de navegación personalizadas, como menús desplegables o vistas detalladas.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 err="1">
                <a:solidFill>
                  <a:srgbClr val="424242"/>
                </a:solidFill>
                <a:ea typeface="+mn-lt"/>
                <a:cs typeface="+mn-lt"/>
              </a:rPr>
              <a:t>Tooltips</a:t>
            </a: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 personalizados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Agrega información adicional al pasar el cursor sobre un elemento sin saturar la vista principal.</a:t>
            </a:r>
            <a:endParaRPr lang="es-ES"/>
          </a:p>
          <a:p>
            <a:pPr marL="0" indent="0">
              <a:buNone/>
            </a:pPr>
            <a:endParaRPr lang="es-ES" sz="1600" b="1"/>
          </a:p>
        </p:txBody>
      </p:sp>
    </p:spTree>
    <p:extLst>
      <p:ext uri="{BB962C8B-B14F-4D97-AF65-F5344CB8AC3E}">
        <p14:creationId xmlns:p14="http://schemas.microsoft.com/office/powerpoint/2010/main" val="24357928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7057-758F-C750-9665-4EA3E663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E5713-ADFA-5A00-D884-771AF8B2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DISEÑO DE INFORMES INTERACTIVOS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40B0B7-C41E-9945-AB43-FF9CE860F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b="1" i="1" u="sng">
                <a:solidFill>
                  <a:srgbClr val="424242"/>
                </a:solidFill>
              </a:rPr>
              <a:t>3. Jerarquía visual</a:t>
            </a:r>
            <a:endParaRPr lang="en-US" i="1" u="sng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Tamaño y color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Usa el tamaño de los elementos y los colores para guiar la atención del usuario hacia lo más importante.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Orden lógico de lectura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Diseña de arriba hacia abajo y de izquierda a derecha, siguiendo patrones naturales de lectura.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Indicadores clave (</a:t>
            </a:r>
            <a:r>
              <a:rPr lang="es-ES" sz="1200" b="1" err="1">
                <a:solidFill>
                  <a:srgbClr val="424242"/>
                </a:solidFill>
                <a:ea typeface="+mn-lt"/>
                <a:cs typeface="+mn-lt"/>
              </a:rPr>
              <a:t>KPIs</a:t>
            </a: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)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Destaca métricas importantes con tarjetas o indicadores visuales.</a:t>
            </a:r>
            <a:endParaRPr lang="es-ES"/>
          </a:p>
          <a:p>
            <a:pPr>
              <a:buNone/>
            </a:pPr>
            <a:r>
              <a:rPr lang="es-ES" b="1" i="1" u="sng">
                <a:solidFill>
                  <a:srgbClr val="424242"/>
                </a:solidFill>
              </a:rPr>
              <a:t>4. Consistencia visual</a:t>
            </a:r>
            <a:endParaRPr lang="es-ES" i="1" u="sng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Paleta de colores uniforme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Usa colores corporativos o una paleta coherente en todo el informe.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Tipografía y estilos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Mantén el mismo tipo de letra, tamaño y estilo para títulos, etiquetas y valores.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Alineación y espaciado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Usa cuadrículas y márgenes para mantener una estructura ordenada.</a:t>
            </a:r>
            <a:endParaRPr lang="es-ES"/>
          </a:p>
          <a:p>
            <a:pPr>
              <a:buNone/>
            </a:pPr>
            <a:r>
              <a:rPr lang="es-ES" b="1" i="1" u="sng">
                <a:solidFill>
                  <a:srgbClr val="424242"/>
                </a:solidFill>
              </a:rPr>
              <a:t>5. Diseño responsivo y adaptable</a:t>
            </a:r>
            <a:endParaRPr lang="es-ES" i="1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Diseño para diferentes dispositivos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Considera cómo se verá el informe en </a:t>
            </a:r>
            <a:r>
              <a:rPr lang="es-ES" sz="1200" err="1">
                <a:solidFill>
                  <a:srgbClr val="424242"/>
                </a:solidFill>
                <a:ea typeface="+mn-lt"/>
                <a:cs typeface="+mn-lt"/>
              </a:rPr>
              <a:t>Power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 BI Mobile.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Prueba de navegación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Asegúrate de que los botones, filtros y enlaces funcionen correctamente.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Carga eficiente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Evita visualizaciones complejas innecesarias que ralenticen el informe.</a:t>
            </a:r>
            <a:endParaRPr lang="es-ES"/>
          </a:p>
          <a:p>
            <a:pPr marL="0" indent="0">
              <a:buNone/>
            </a:pPr>
            <a:endParaRPr lang="es-ES" sz="2000" b="1"/>
          </a:p>
          <a:p>
            <a:pPr marL="0" indent="0">
              <a:buNone/>
            </a:pPr>
            <a:endParaRPr lang="es-ES" sz="1600" b="1"/>
          </a:p>
        </p:txBody>
      </p:sp>
    </p:spTree>
    <p:extLst>
      <p:ext uri="{BB962C8B-B14F-4D97-AF65-F5344CB8AC3E}">
        <p14:creationId xmlns:p14="http://schemas.microsoft.com/office/powerpoint/2010/main" val="40154377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ADFA-67EC-7B24-9847-89B55167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418B1-792D-1CB8-3747-8B125CDD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DISEÑO DE INFORMES INTERACTIVOS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43B15C-9C4C-40F0-6B4B-E5882334A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b="1" i="1" u="sng">
                <a:solidFill>
                  <a:srgbClr val="424242"/>
                </a:solidFill>
              </a:rPr>
              <a:t>6. Contexto y narrativa</a:t>
            </a:r>
            <a:endParaRPr lang="en-US" u="sng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Cuenta una historia con los datos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Presenta la información en un orden lógico que guíe al usuario desde una visión general hasta el detalle.</a:t>
            </a:r>
            <a:endParaRPr lang="es-ES" sz="1200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Incluye contexto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Agrega descripciones, leyendas o notas para ayudar a interpretar los datos.</a:t>
            </a:r>
            <a:endParaRPr lang="es-ES" sz="1200"/>
          </a:p>
          <a:p>
            <a:pPr>
              <a:buFont typeface="Arial"/>
              <a:buChar char="•"/>
            </a:pP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Define objetivos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: Cada página del informe debe responder a una pregunta o necesidad específica del negocio.</a:t>
            </a:r>
            <a:endParaRPr lang="es-ES" sz="1200"/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 b="1"/>
          </a:p>
          <a:p>
            <a:pPr marL="0" indent="0">
              <a:buNone/>
            </a:pPr>
            <a:endParaRPr lang="es-ES" sz="1600" b="1"/>
          </a:p>
        </p:txBody>
      </p:sp>
    </p:spTree>
    <p:extLst>
      <p:ext uri="{BB962C8B-B14F-4D97-AF65-F5344CB8AC3E}">
        <p14:creationId xmlns:p14="http://schemas.microsoft.com/office/powerpoint/2010/main" val="29049061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F9DC-1383-8194-999F-707BE5E1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11DB0-B700-E36C-0131-218D8122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CREACIÓN DE PÁGINAS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1A6E2A-1C9A-39F0-8799-E290A737D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200" b="1"/>
              <a:t>CREACIÓN DE PÁGINAS</a:t>
            </a:r>
            <a:endParaRPr lang="en-US" sz="2200"/>
          </a:p>
          <a:p>
            <a:pPr>
              <a:buNone/>
            </a:pPr>
            <a:r>
              <a:rPr lang="es-ES" sz="2000">
                <a:solidFill>
                  <a:srgbClr val="424242"/>
                </a:solidFill>
                <a:ea typeface="+mn-lt"/>
                <a:cs typeface="+mn-lt"/>
              </a:rPr>
              <a:t>Las páginas funcionan como secciones o capítulos dentro del informe.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b="1" u="sng">
                <a:solidFill>
                  <a:srgbClr val="424242"/>
                </a:solidFill>
                <a:ea typeface="+mn-lt"/>
                <a:cs typeface="+mn-lt"/>
              </a:rPr>
              <a:t>Organizar por temas o áreas de análisis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: Por ejemplo, una página para ventas, otra para clientes, otra para inventario.</a:t>
            </a:r>
            <a:endParaRPr lang="es-ES"/>
          </a:p>
          <a:p>
            <a:pPr>
              <a:buFont typeface="Arial"/>
              <a:buChar char="•"/>
            </a:pPr>
            <a:r>
              <a:rPr lang="es-ES" b="1" u="sng">
                <a:solidFill>
                  <a:srgbClr val="424242"/>
                </a:solidFill>
                <a:ea typeface="+mn-lt"/>
                <a:cs typeface="+mn-lt"/>
              </a:rPr>
              <a:t>Nombrar las páginas de forma clara</a:t>
            </a:r>
            <a:r>
              <a:rPr lang="es-ES" u="sng">
                <a:solidFill>
                  <a:srgbClr val="424242"/>
                </a:solidFill>
                <a:ea typeface="+mn-lt"/>
                <a:cs typeface="+mn-lt"/>
              </a:rPr>
              <a:t>: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 Usa nombres descriptivos como “Resumen Ejecutivo”, “Análisis Regional” o “Tendencias Mensuales”.</a:t>
            </a:r>
            <a:endParaRPr lang="es-ES"/>
          </a:p>
          <a:p>
            <a:pPr>
              <a:buFont typeface="Arial"/>
              <a:buChar char="•"/>
            </a:pPr>
            <a:r>
              <a:rPr lang="es-ES" b="1" u="sng">
                <a:solidFill>
                  <a:srgbClr val="424242"/>
                </a:solidFill>
                <a:ea typeface="+mn-lt"/>
                <a:cs typeface="+mn-lt"/>
              </a:rPr>
              <a:t>Ocultar páginas si es necesario</a:t>
            </a:r>
            <a:r>
              <a:rPr lang="es-ES" u="sng">
                <a:solidFill>
                  <a:srgbClr val="424242"/>
                </a:solidFill>
                <a:ea typeface="+mn-lt"/>
                <a:cs typeface="+mn-lt"/>
              </a:rPr>
              <a:t>: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 Puedes ocultar páginas que solo se usan como destino de navegación (por ejemplo, vistas detalladas).</a:t>
            </a:r>
            <a:endParaRPr lang="es-ES"/>
          </a:p>
          <a:p>
            <a:pPr>
              <a:buNone/>
            </a:pPr>
            <a:endParaRPr lang="es-ES" sz="2200" b="1">
              <a:solidFill>
                <a:srgbClr val="000000"/>
              </a:solidFill>
            </a:endParaRPr>
          </a:p>
          <a:p>
            <a:pPr>
              <a:buNone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600" b="1"/>
          </a:p>
        </p:txBody>
      </p:sp>
    </p:spTree>
    <p:extLst>
      <p:ext uri="{BB962C8B-B14F-4D97-AF65-F5344CB8AC3E}">
        <p14:creationId xmlns:p14="http://schemas.microsoft.com/office/powerpoint/2010/main" val="7971665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BEDE-CD59-0C0A-B5E0-675BA2E7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15A77-BD4A-94B1-E17E-4323DC49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CREACIÓN DE NAVEGACIÓN ENTRE PÁGINAS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3CAD96-B9F4-21C4-63E9-613F156B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000000"/>
                </a:solidFill>
              </a:rPr>
              <a:t>CREACIÓN DE NAVEGACION</a:t>
            </a:r>
            <a:endParaRPr lang="en-US"/>
          </a:p>
          <a:p>
            <a:pPr>
              <a:buNone/>
            </a:pPr>
            <a:r>
              <a:rPr lang="es-ES">
                <a:solidFill>
                  <a:srgbClr val="424242"/>
                </a:solidFill>
              </a:rPr>
              <a:t>Una buena navegación mejora la experiencia del usuario y permite explorar el informe sin perderse.</a:t>
            </a:r>
            <a:endParaRPr lang="es-ES"/>
          </a:p>
          <a:p>
            <a:pPr>
              <a:buNone/>
            </a:pPr>
            <a:r>
              <a:rPr lang="es-ES" sz="2000" b="1">
                <a:solidFill>
                  <a:srgbClr val="424242"/>
                </a:solidFill>
              </a:rPr>
              <a:t>Métodos comunes:</a:t>
            </a:r>
            <a:endParaRPr lang="es-ES" sz="2000"/>
          </a:p>
          <a:p>
            <a:pPr>
              <a:buFont typeface="Arial,Sans-Serif"/>
              <a:buChar char="•"/>
            </a:pPr>
            <a:r>
              <a:rPr lang="es-ES" b="1">
                <a:solidFill>
                  <a:srgbClr val="424242"/>
                </a:solidFill>
              </a:rPr>
              <a:t>Pestañas estándar</a:t>
            </a:r>
            <a:r>
              <a:rPr lang="es-ES">
                <a:solidFill>
                  <a:srgbClr val="424242"/>
                </a:solidFill>
              </a:rPr>
              <a:t>: </a:t>
            </a:r>
            <a:r>
              <a:rPr lang="es-ES" err="1">
                <a:solidFill>
                  <a:srgbClr val="424242"/>
                </a:solidFill>
              </a:rPr>
              <a:t>Power</a:t>
            </a:r>
            <a:r>
              <a:rPr lang="es-ES">
                <a:solidFill>
                  <a:srgbClr val="424242"/>
                </a:solidFill>
              </a:rPr>
              <a:t> BI muestra las páginas como pestañas en la parte inferior, pero esto puede ser limitado visualmente.</a:t>
            </a:r>
            <a:endParaRPr lang="es-ES"/>
          </a:p>
          <a:p>
            <a:pPr>
              <a:buFont typeface="Arial,Sans-Serif"/>
              <a:buChar char="•"/>
            </a:pPr>
            <a:r>
              <a:rPr lang="es-ES" b="1">
                <a:solidFill>
                  <a:srgbClr val="424242"/>
                </a:solidFill>
              </a:rPr>
              <a:t>Botones personalizados</a:t>
            </a:r>
            <a:r>
              <a:rPr lang="es-ES">
                <a:solidFill>
                  <a:srgbClr val="424242"/>
                </a:solidFill>
              </a:rPr>
              <a:t>:</a:t>
            </a:r>
            <a:endParaRPr lang="es-ES"/>
          </a:p>
          <a:p>
            <a:pPr marL="971550" lvl="1" indent="-285750">
              <a:buFont typeface="Arial,Sans-Serif"/>
              <a:buChar char="•"/>
            </a:pPr>
            <a:r>
              <a:rPr lang="es-ES" sz="1800">
                <a:solidFill>
                  <a:srgbClr val="424242"/>
                </a:solidFill>
              </a:rPr>
              <a:t>Usa formas, imágenes o íconos como botones.</a:t>
            </a:r>
            <a:endParaRPr lang="es-ES" sz="1800"/>
          </a:p>
          <a:p>
            <a:pPr marL="971550" lvl="1" indent="-285750">
              <a:buFont typeface="Arial,Sans-Serif"/>
              <a:buChar char="•"/>
            </a:pPr>
            <a:r>
              <a:rPr lang="es-ES" sz="1800">
                <a:solidFill>
                  <a:srgbClr val="424242"/>
                </a:solidFill>
              </a:rPr>
              <a:t>Asigna acciones de navegación a otras páginas.</a:t>
            </a:r>
            <a:endParaRPr lang="es-ES" sz="1800"/>
          </a:p>
          <a:p>
            <a:pPr>
              <a:buFont typeface="Arial,Sans-Serif"/>
              <a:buChar char="•"/>
            </a:pPr>
            <a:r>
              <a:rPr lang="es-ES" b="1">
                <a:solidFill>
                  <a:srgbClr val="424242"/>
                </a:solidFill>
              </a:rPr>
              <a:t>Menús de navegación</a:t>
            </a:r>
            <a:r>
              <a:rPr lang="es-ES">
                <a:solidFill>
                  <a:srgbClr val="424242"/>
                </a:solidFill>
              </a:rPr>
              <a:t>:</a:t>
            </a:r>
            <a:endParaRPr lang="es-ES"/>
          </a:p>
          <a:p>
            <a:pPr marL="971550" lvl="1" indent="-285750">
              <a:buFont typeface="Arial,Sans-Serif"/>
              <a:buChar char="•"/>
            </a:pPr>
            <a:r>
              <a:rPr lang="es-ES" sz="1800">
                <a:solidFill>
                  <a:srgbClr val="424242"/>
                </a:solidFill>
              </a:rPr>
              <a:t>Crea un panel lateral o superior con botones que simulan un menú.</a:t>
            </a:r>
            <a:endParaRPr lang="es-ES" sz="1800"/>
          </a:p>
          <a:p>
            <a:pPr marL="971550" lvl="1" indent="-285750">
              <a:buFont typeface="Arial,Sans-Serif"/>
              <a:buChar char="•"/>
            </a:pPr>
            <a:r>
              <a:rPr lang="es-ES" sz="1800">
                <a:solidFill>
                  <a:srgbClr val="424242"/>
                </a:solidFill>
              </a:rPr>
              <a:t>Puedes usar </a:t>
            </a:r>
            <a:r>
              <a:rPr lang="es-ES" sz="1800" err="1">
                <a:solidFill>
                  <a:srgbClr val="424242"/>
                </a:solidFill>
              </a:rPr>
              <a:t>bookmarks</a:t>
            </a:r>
            <a:r>
              <a:rPr lang="es-ES" sz="1800">
                <a:solidFill>
                  <a:srgbClr val="424242"/>
                </a:solidFill>
              </a:rPr>
              <a:t> para mostrar/ocultar secciones del menú.</a:t>
            </a:r>
            <a:endParaRPr lang="es-ES" sz="1800"/>
          </a:p>
          <a:p>
            <a:pPr marL="0" indent="0">
              <a:buNone/>
            </a:pPr>
            <a:endParaRPr lang="es-ES" sz="1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56677-B447-9E9F-6681-F3462A812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756" y="6347998"/>
            <a:ext cx="44481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28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9432-2BAD-94B2-0B54-3029E766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334B1-51D7-0FDE-D825-3419DBF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CREACIÓN DE BOOKMARKS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4967FF-51B5-F51B-21A9-A4C290C4F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None/>
            </a:pPr>
            <a:r>
              <a:rPr lang="es-ES" sz="2400" b="1">
                <a:solidFill>
                  <a:srgbClr val="000000"/>
                </a:solidFill>
                <a:ea typeface="+mn-lt"/>
                <a:cs typeface="+mn-lt"/>
              </a:rPr>
              <a:t>CREACIÓN DE BOOKMARKS</a:t>
            </a:r>
            <a:endParaRPr lang="en-US"/>
          </a:p>
          <a:p>
            <a:pPr>
              <a:buNone/>
            </a:pP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Los </a:t>
            </a:r>
            <a:r>
              <a:rPr lang="es-ES" err="1">
                <a:solidFill>
                  <a:srgbClr val="424242"/>
                </a:solidFill>
                <a:ea typeface="+mn-lt"/>
                <a:cs typeface="+mn-lt"/>
              </a:rPr>
              <a:t>bookmarks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 permiten guardar el estado de una página (filtros, visibilidad de objetos, etc.) y volver a él con un clic.</a:t>
            </a:r>
            <a:endParaRPr lang="en-US"/>
          </a:p>
          <a:p>
            <a:pPr>
              <a:buNone/>
            </a:pPr>
            <a:r>
              <a:rPr lang="es-ES" b="1">
                <a:solidFill>
                  <a:srgbClr val="424242"/>
                </a:solidFill>
              </a:rPr>
              <a:t>¿Para qué sirven?</a:t>
            </a:r>
            <a:endParaRPr lang="es-ES"/>
          </a:p>
          <a:p>
            <a:pPr>
              <a:buFont typeface="Arial"/>
              <a:buChar char="•"/>
            </a:pPr>
            <a:r>
              <a:rPr lang="es-ES" b="1">
                <a:solidFill>
                  <a:srgbClr val="424242"/>
                </a:solidFill>
                <a:ea typeface="+mn-lt"/>
                <a:cs typeface="+mn-lt"/>
              </a:rPr>
              <a:t>Navegación personalizada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: Simulan una experiencia tipo “app” dentro del informe.</a:t>
            </a:r>
            <a:endParaRPr lang="es-ES"/>
          </a:p>
          <a:p>
            <a:pPr>
              <a:buFont typeface="Arial"/>
              <a:buChar char="•"/>
            </a:pPr>
            <a:r>
              <a:rPr lang="es-ES" b="1">
                <a:solidFill>
                  <a:srgbClr val="424242"/>
                </a:solidFill>
                <a:ea typeface="+mn-lt"/>
                <a:cs typeface="+mn-lt"/>
              </a:rPr>
              <a:t>Mostrar/Ocultar elementos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: Por ejemplo, desplegar un panel de filtros o mostrar detalles al hacer clic.</a:t>
            </a:r>
            <a:endParaRPr lang="es-ES"/>
          </a:p>
          <a:p>
            <a:pPr>
              <a:buFont typeface="Arial"/>
              <a:buChar char="•"/>
            </a:pPr>
            <a:r>
              <a:rPr lang="es-ES" b="1">
                <a:solidFill>
                  <a:srgbClr val="424242"/>
                </a:solidFill>
                <a:ea typeface="+mn-lt"/>
                <a:cs typeface="+mn-lt"/>
              </a:rPr>
              <a:t>Contar historias con datos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: Crear una secuencia de vistas para presentaciones o análisis guiados.</a:t>
            </a:r>
            <a:endParaRPr lang="es-ES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ES" b="1">
                <a:solidFill>
                  <a:srgbClr val="424242"/>
                </a:solidFill>
              </a:rPr>
              <a:t>Cómo crear un </a:t>
            </a:r>
            <a:r>
              <a:rPr lang="es-ES" b="1" err="1">
                <a:solidFill>
                  <a:srgbClr val="424242"/>
                </a:solidFill>
              </a:rPr>
              <a:t>bookmark</a:t>
            </a:r>
            <a:r>
              <a:rPr lang="es-ES" b="1">
                <a:solidFill>
                  <a:srgbClr val="424242"/>
                </a:solidFill>
              </a:rPr>
              <a:t>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01 - Configura la vista como deseas (filtros, objetos visibles, etc.).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02 - Ve al panel de </a:t>
            </a:r>
            <a:r>
              <a:rPr lang="es-ES" i="1">
                <a:solidFill>
                  <a:srgbClr val="424242"/>
                </a:solidFill>
                <a:ea typeface="+mn-lt"/>
                <a:cs typeface="+mn-lt"/>
              </a:rPr>
              <a:t>Marcadores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 y haz clic en </a:t>
            </a:r>
            <a:r>
              <a:rPr lang="es-ES" b="1">
                <a:solidFill>
                  <a:srgbClr val="424242"/>
                </a:solidFill>
                <a:ea typeface="+mn-lt"/>
                <a:cs typeface="+mn-lt"/>
              </a:rPr>
              <a:t>Agregar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03 - Nómbralo de forma descriptiva.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04 - Usa botones o imágenes para vincular el </a:t>
            </a:r>
            <a:r>
              <a:rPr lang="es-ES" err="1">
                <a:solidFill>
                  <a:srgbClr val="424242"/>
                </a:solidFill>
                <a:ea typeface="+mn-lt"/>
                <a:cs typeface="+mn-lt"/>
              </a:rPr>
              <a:t>bookmark</a:t>
            </a:r>
            <a:r>
              <a:rPr lang="es-ES">
                <a:solidFill>
                  <a:srgbClr val="424242"/>
                </a:solidFill>
                <a:ea typeface="+mn-lt"/>
                <a:cs typeface="+mn-lt"/>
              </a:rPr>
              <a:t> con una acción.</a:t>
            </a:r>
            <a:endParaRPr lang="es-ES"/>
          </a:p>
          <a:p>
            <a:pPr>
              <a:buNone/>
            </a:pPr>
            <a:endParaRPr lang="es-ES" sz="18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600" b="1"/>
          </a:p>
        </p:txBody>
      </p:sp>
    </p:spTree>
    <p:extLst>
      <p:ext uri="{BB962C8B-B14F-4D97-AF65-F5344CB8AC3E}">
        <p14:creationId xmlns:p14="http://schemas.microsoft.com/office/powerpoint/2010/main" val="23396817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3824-EDF5-E3E2-9C1B-1D0842A5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C6DD0-A814-17CD-28BB-AAFBAE98B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PUBLICACIÓN EN POWER BI SERVICE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113AEC-5DE4-06D7-696A-47CFEF57A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000" b="1">
                <a:solidFill>
                  <a:srgbClr val="424242"/>
                </a:solidFill>
              </a:rPr>
              <a:t>PASOS PARA PUBLICAR UN INFORME EN POWER BI SERVICE </a:t>
            </a:r>
          </a:p>
          <a:p>
            <a:pPr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Haz clic en </a:t>
            </a:r>
            <a:r>
              <a:rPr lang="es-ES" sz="1200" b="1">
                <a:solidFill>
                  <a:srgbClr val="424242"/>
                </a:solidFill>
                <a:ea typeface="+mn-lt"/>
                <a:cs typeface="+mn-lt"/>
              </a:rPr>
              <a:t>“Publicar”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 en la cinta de opciones.</a:t>
            </a:r>
            <a:endParaRPr lang="es-E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Inicia sesión con tu cuenta de </a:t>
            </a:r>
            <a:r>
              <a:rPr lang="es-ES" sz="1200" err="1">
                <a:solidFill>
                  <a:srgbClr val="424242"/>
                </a:solidFill>
                <a:ea typeface="+mn-lt"/>
                <a:cs typeface="+mn-lt"/>
              </a:rPr>
              <a:t>Power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 BI (Microsoft 365).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Selecciona el </a:t>
            </a:r>
            <a:r>
              <a:rPr lang="es-ES" sz="1200" b="1" err="1">
                <a:solidFill>
                  <a:srgbClr val="424242"/>
                </a:solidFill>
                <a:ea typeface="+mn-lt"/>
                <a:cs typeface="+mn-lt"/>
              </a:rPr>
              <a:t>workspace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 (espacio de trabajo) de destino.</a:t>
            </a:r>
            <a:endParaRPr lang="es-E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Espera la confirmación de que el informe fue publicado correctamente.</a:t>
            </a:r>
            <a:endParaRPr lang="es-ES">
              <a:ea typeface="+mn-lt"/>
              <a:cs typeface="+mn-lt"/>
            </a:endParaRPr>
          </a:p>
          <a:p>
            <a:pPr marL="0" indent="0">
              <a:buNone/>
            </a:pPr>
            <a:r>
              <a:rPr lang="es-ES" sz="2000" b="1">
                <a:solidFill>
                  <a:srgbClr val="424242"/>
                </a:solidFill>
              </a:rPr>
              <a:t>ESPACIOS DE TRABAJO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Son contenedores colaborativos donde se almacenan informes, datasets y dashboards.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Puedes tener </a:t>
            </a:r>
            <a:r>
              <a:rPr lang="es-ES" sz="1200" err="1">
                <a:solidFill>
                  <a:srgbClr val="424242"/>
                </a:solidFill>
                <a:ea typeface="+mn-lt"/>
                <a:cs typeface="+mn-lt"/>
              </a:rPr>
              <a:t>workspaces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 personales (Mi área de trabajo) o compartidos con equipos.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En los </a:t>
            </a:r>
            <a:r>
              <a:rPr lang="es-ES" sz="1200" err="1">
                <a:solidFill>
                  <a:srgbClr val="424242"/>
                </a:solidFill>
                <a:ea typeface="+mn-lt"/>
                <a:cs typeface="+mn-lt"/>
              </a:rPr>
              <a:t>workspaces</a:t>
            </a: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 puedes:</a:t>
            </a:r>
            <a:endParaRPr lang="es-ES"/>
          </a:p>
          <a:p>
            <a:pPr marL="971550" lvl="1" indent="-285750"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Asignar roles (lector, colaborador, administrador).</a:t>
            </a:r>
            <a:endParaRPr lang="es-ES"/>
          </a:p>
          <a:p>
            <a:pPr marL="971550" lvl="1" indent="-285750">
              <a:buFont typeface="Arial"/>
              <a:buChar char="•"/>
            </a:pPr>
            <a:r>
              <a:rPr lang="es-ES" sz="1200">
                <a:solidFill>
                  <a:srgbClr val="424242"/>
                </a:solidFill>
                <a:ea typeface="+mn-lt"/>
                <a:cs typeface="+mn-lt"/>
              </a:rPr>
              <a:t>Publicar aplicaciones (apps) para distribuir contenido a usuarios finales.</a:t>
            </a:r>
            <a:endParaRPr lang="es-ES"/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 b="1"/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600" b="1"/>
          </a:p>
        </p:txBody>
      </p:sp>
      <p:pic>
        <p:nvPicPr>
          <p:cNvPr id="1028" name="Picture 4" descr="Vetores de Vetor De Ícone De Rede Isolado No Fundo Branco Placa De Rede ...">
            <a:extLst>
              <a:ext uri="{FF2B5EF4-FFF2-40B4-BE49-F238E27FC236}">
                <a16:creationId xmlns:a16="http://schemas.microsoft.com/office/drawing/2014/main" id="{D48624E0-CC95-947C-1930-38891203E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800" y="832358"/>
            <a:ext cx="837692" cy="83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yncing Generic color lineal-color icon">
            <a:extLst>
              <a:ext uri="{FF2B5EF4-FFF2-40B4-BE49-F238E27FC236}">
                <a16:creationId xmlns:a16="http://schemas.microsoft.com/office/drawing/2014/main" id="{9ED73F81-9D28-0831-667C-714D4F254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817" y="2415208"/>
            <a:ext cx="3008244" cy="300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097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EC9F-A58D-1D4B-263E-D6A0C384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C50C5-DD16-4F17-220B-014A9C2F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PUBLICACIÓN EN POWER BI SERVICE</a:t>
            </a:r>
            <a:endParaRPr lang="es-ES" sz="3200" b="0"/>
          </a:p>
          <a:p>
            <a:endParaRPr lang="es-ES" sz="320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5DA977-3B13-0C4B-834B-C34B871C7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9" y="1743075"/>
            <a:ext cx="3933560" cy="4602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/>
              <a:t>AREAS DE TRABAJO </a:t>
            </a:r>
          </a:p>
          <a:p>
            <a:pPr marL="0" indent="0">
              <a:buNone/>
            </a:pPr>
            <a:r>
              <a:rPr lang="es-ES" sz="1600"/>
              <a:t>Es un espacio donde los miembros del equipo colaborar en la creación y gestión del contenido, compartir sus análisis, y publicar sus informes, </a:t>
            </a:r>
            <a:r>
              <a:rPr lang="es-ES" sz="1600" err="1"/>
              <a:t>dashboards</a:t>
            </a:r>
            <a:r>
              <a:rPr lang="es-ES" sz="1600"/>
              <a:t> y conjunto de datos, ayudando a  mantener organizados sus proyectos.</a:t>
            </a:r>
          </a:p>
          <a:p>
            <a:pPr marL="0" indent="0">
              <a:buNone/>
            </a:pPr>
            <a:endParaRPr lang="es-ES" sz="1600"/>
          </a:p>
          <a:p>
            <a:pPr marL="0" indent="0">
              <a:buNone/>
            </a:pPr>
            <a:r>
              <a:rPr lang="es-ES" sz="1600"/>
              <a:t>Por defecto cada usuario tiene un área de trabajo que se llama: “</a:t>
            </a:r>
            <a:r>
              <a:rPr lang="es-ES" sz="1600" b="1"/>
              <a:t>Mi Área de trabajo</a:t>
            </a:r>
            <a:r>
              <a:rPr lang="es-ES" sz="1600"/>
              <a:t>” que no está destinada para la colaboración.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1028" name="Picture 4" descr="Vetores de Vetor De Ícone De Rede Isolado No Fundo Branco Placa De Rede ...">
            <a:extLst>
              <a:ext uri="{FF2B5EF4-FFF2-40B4-BE49-F238E27FC236}">
                <a16:creationId xmlns:a16="http://schemas.microsoft.com/office/drawing/2014/main" id="{A79246E9-808F-BFB6-7820-CCC5BCACA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800" y="832358"/>
            <a:ext cx="837692" cy="83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rear paso a paso un área de trabajo en Power BI Service. – Solutions Geek">
            <a:extLst>
              <a:ext uri="{FF2B5EF4-FFF2-40B4-BE49-F238E27FC236}">
                <a16:creationId xmlns:a16="http://schemas.microsoft.com/office/drawing/2014/main" id="{236DE47C-0577-3CAD-8AAA-CF7AF2F23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69" y="1816100"/>
            <a:ext cx="7361371" cy="393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447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9D0-C441-5B04-E66F-613414E4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FAC59-F2E1-2394-C754-B3187F23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/>
              <a:t>PUBLICACIÓN EN POWER BI SERVICE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A735B3-0546-0386-7B00-3F98719BE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>
                <a:solidFill>
                  <a:srgbClr val="424242"/>
                </a:solidFill>
              </a:rPr>
              <a:t>CONFIGURACION POSTERIOR A LA PUBLICACIÓN</a:t>
            </a:r>
          </a:p>
          <a:p>
            <a:pPr marL="0" indent="0">
              <a:buNone/>
            </a:pP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Una vez publicado el informe, puedes:</a:t>
            </a:r>
            <a:endParaRPr lang="es-ES" sz="16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 b="1">
                <a:solidFill>
                  <a:srgbClr val="424242"/>
                </a:solidFill>
                <a:ea typeface="+mn-lt"/>
                <a:cs typeface="+mn-lt"/>
              </a:rPr>
              <a:t>Actualizar el </a:t>
            </a:r>
            <a:r>
              <a:rPr lang="es-ES" sz="1600" b="1" err="1">
                <a:solidFill>
                  <a:srgbClr val="424242"/>
                </a:solidFill>
                <a:ea typeface="+mn-lt"/>
                <a:cs typeface="+mn-lt"/>
              </a:rPr>
              <a:t>Dataset</a:t>
            </a:r>
            <a:r>
              <a:rPr lang="es-ES" sz="1600" b="1">
                <a:solidFill>
                  <a:srgbClr val="424242"/>
                </a:solidFill>
                <a:ea typeface="+mn-lt"/>
                <a:cs typeface="+mn-lt"/>
              </a:rPr>
              <a:t> manual o automáticamente</a:t>
            </a: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s-ES" sz="1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 b="1">
                <a:solidFill>
                  <a:srgbClr val="424242"/>
                </a:solidFill>
                <a:ea typeface="+mn-lt"/>
                <a:cs typeface="+mn-lt"/>
              </a:rPr>
              <a:t>Configurar credenciales de origen de datos</a:t>
            </a: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 si es necesario.</a:t>
            </a:r>
            <a:endParaRPr lang="es-ES" sz="1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 b="1">
                <a:solidFill>
                  <a:srgbClr val="424242"/>
                </a:solidFill>
                <a:ea typeface="+mn-lt"/>
                <a:cs typeface="+mn-lt"/>
              </a:rPr>
              <a:t>Establecer permisos</a:t>
            </a: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 para controlar quién puede ver o editar el informe.</a:t>
            </a:r>
            <a:endParaRPr lang="es-ES" sz="1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 b="1">
                <a:solidFill>
                  <a:srgbClr val="424242"/>
                </a:solidFill>
                <a:ea typeface="+mn-lt"/>
                <a:cs typeface="+mn-lt"/>
              </a:rPr>
              <a:t>Crear </a:t>
            </a:r>
            <a:r>
              <a:rPr lang="es-ES" sz="1600" b="1" err="1">
                <a:solidFill>
                  <a:srgbClr val="424242"/>
                </a:solidFill>
                <a:ea typeface="+mn-lt"/>
                <a:cs typeface="+mn-lt"/>
              </a:rPr>
              <a:t>dashboards</a:t>
            </a: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 combinando visualizaciones de varios informes.</a:t>
            </a:r>
            <a:endParaRPr lang="es-ES" sz="1600"/>
          </a:p>
          <a:p>
            <a:pPr>
              <a:buFont typeface="Arial"/>
              <a:buChar char="•"/>
            </a:pPr>
            <a:endParaRPr lang="es-ES" sz="1600">
              <a:solidFill>
                <a:srgbClr val="424242"/>
              </a:solidFill>
            </a:endParaRPr>
          </a:p>
          <a:p>
            <a:pPr marL="0" indent="0">
              <a:buNone/>
            </a:pPr>
            <a:r>
              <a:rPr lang="es-ES" sz="2400" b="1">
                <a:solidFill>
                  <a:srgbClr val="424242"/>
                </a:solidFill>
              </a:rPr>
              <a:t>LIMITACIONES Y CONSIDERACIONES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Algunas funcionalidades avanzadas requieren licencias Pro o Premium.</a:t>
            </a:r>
            <a:endParaRPr lang="es-ES" sz="1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Los usuarios que acceden al informe también deben tener permisos adecuados.</a:t>
            </a:r>
            <a:endParaRPr lang="es-ES" sz="1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Si se utiliza </a:t>
            </a:r>
            <a:r>
              <a:rPr lang="es-ES" sz="1600" err="1">
                <a:solidFill>
                  <a:srgbClr val="424242"/>
                </a:solidFill>
                <a:ea typeface="+mn-lt"/>
                <a:cs typeface="+mn-lt"/>
              </a:rPr>
              <a:t>DirectQuery</a:t>
            </a:r>
            <a:r>
              <a:rPr lang="es-ES" sz="1600">
                <a:solidFill>
                  <a:srgbClr val="424242"/>
                </a:solidFill>
                <a:ea typeface="+mn-lt"/>
                <a:cs typeface="+mn-lt"/>
              </a:rPr>
              <a:t> o conexiones en vivo, debemos asegurarnos que el Gateway esté configurado correctamente.</a:t>
            </a:r>
            <a:endParaRPr lang="es-ES" sz="1600">
              <a:ea typeface="+mn-lt"/>
              <a:cs typeface="+mn-lt"/>
            </a:endParaRPr>
          </a:p>
          <a:p>
            <a:pPr marL="0" indent="0">
              <a:buNone/>
            </a:pPr>
            <a:endParaRPr lang="es-ES" sz="2000" b="1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600" b="1">
              <a:solidFill>
                <a:srgbClr val="000000"/>
              </a:solidFill>
            </a:endParaRPr>
          </a:p>
        </p:txBody>
      </p:sp>
      <p:pic>
        <p:nvPicPr>
          <p:cNvPr id="1028" name="Picture 4" descr="Vetores de Vetor De Ícone De Rede Isolado No Fundo Branco Placa De Rede ...">
            <a:extLst>
              <a:ext uri="{FF2B5EF4-FFF2-40B4-BE49-F238E27FC236}">
                <a16:creationId xmlns:a16="http://schemas.microsoft.com/office/drawing/2014/main" id="{6A5A0826-A53C-93E0-2F70-ADA151C07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800" y="832358"/>
            <a:ext cx="837692" cy="83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yncing Generic color lineal-color icon">
            <a:extLst>
              <a:ext uri="{FF2B5EF4-FFF2-40B4-BE49-F238E27FC236}">
                <a16:creationId xmlns:a16="http://schemas.microsoft.com/office/drawing/2014/main" id="{321A1928-5BFA-BCC8-FA85-53C3D35F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817" y="2415208"/>
            <a:ext cx="3008244" cy="300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080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B0203-52F9-303F-42D5-57A67203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6CE652F-78A1-1ECC-6C04-56067BCC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Gráfico económico digital">
            <a:extLst>
              <a:ext uri="{FF2B5EF4-FFF2-40B4-BE49-F238E27FC236}">
                <a16:creationId xmlns:a16="http://schemas.microsoft.com/office/drawing/2014/main" id="{9B90F332-A6B2-8D74-5A87-46543F557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338DD4D-704C-0643-AD1B-7EE043E0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9CB29E-5567-119E-E868-94C3FF8B2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9411854" cy="41153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8800">
                <a:solidFill>
                  <a:srgbClr val="FFFFFF"/>
                </a:solidFill>
              </a:rPr>
              <a:t>Gracias</a:t>
            </a:r>
            <a:br>
              <a:rPr lang="es-ES" sz="8000">
                <a:solidFill>
                  <a:srgbClr val="FFFFFF"/>
                </a:solidFill>
              </a:rPr>
            </a:br>
            <a:br>
              <a:rPr lang="es-ES" sz="8000">
                <a:solidFill>
                  <a:srgbClr val="FFFFFF"/>
                </a:solidFill>
              </a:rPr>
            </a:br>
            <a:r>
              <a:rPr lang="es-ES" sz="8000">
                <a:solidFill>
                  <a:srgbClr val="FFFFFF"/>
                </a:solidFill>
              </a:rPr>
              <a:t>FINAL SESION 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B692A6-D924-9C42-88FE-82E265BED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18186-CBB6-C874-399C-D74E134EA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39" y="6171871"/>
            <a:ext cx="1777233" cy="461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D043A5-587F-A33A-5DAD-E9BC44CA0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76" y="6171543"/>
            <a:ext cx="1841281" cy="4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43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59</Slides>
  <Notes>29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GestaltVTI</vt:lpstr>
      <vt:lpstr>ANALÍTICA DE DATOS  Y POWER BI  SESION 07  MODELADO Y VISUALIZACION DE DATOS</vt:lpstr>
      <vt:lpstr>SESIONES PENDIENTES</vt:lpstr>
      <vt:lpstr>SOBRE ESTE CURSO</vt:lpstr>
      <vt:lpstr>SOBRE ESTE CURSO</vt:lpstr>
      <vt:lpstr>REPASO SESIÓN ANTERIOR</vt:lpstr>
      <vt:lpstr>BLOQUE 01  FUNCIONES PERSONALIZADAS EN POWER QUERY </vt:lpstr>
      <vt:lpstr>FUNCIONES PERSONALIZADAS </vt:lpstr>
      <vt:lpstr>FUNCIONES PERSONALIZADAS </vt:lpstr>
      <vt:lpstr>FUNCIONES PERSONALIZADAS </vt:lpstr>
      <vt:lpstr>FUNCIONES PERSONALIZADAS </vt:lpstr>
      <vt:lpstr>FUNCIONES PERSONALIZADAS </vt:lpstr>
      <vt:lpstr>FUNCIONES PERSONALIZADAS </vt:lpstr>
      <vt:lpstr>BLOQUE 02  FUNCIONES DAX 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FUNCIONES DAX</vt:lpstr>
      <vt:lpstr>EJERCICIO FUNCIONES DAX</vt:lpstr>
      <vt:lpstr>BLOQUE 03 -  VISUALIZACIÓN DE DATOS</vt:lpstr>
      <vt:lpstr>BLOQUE 03 - VISUALIZACIÓN DATOS</vt:lpstr>
      <vt:lpstr>TIPOS DE GRÁFICOS Y SU USO ADECUADO</vt:lpstr>
      <vt:lpstr>TIPOS DE GRÁFICOS Y SU USO ADECUADO</vt:lpstr>
      <vt:lpstr>TIPOS DE GRÁFICOS Y SU USO ADECUADO</vt:lpstr>
      <vt:lpstr>TIPOS DE GRÁFICOS Y SU USO ADECUADO</vt:lpstr>
      <vt:lpstr>TIPOS DE GRÁFICOS Y SU USO ADECUADO</vt:lpstr>
      <vt:lpstr>TIPOS DE GRÁFICOS Y SU USO ADECUADO</vt:lpstr>
      <vt:lpstr>TIPOS DE GRÁFICOS Y SU USO ADECUADO</vt:lpstr>
      <vt:lpstr>TIPOS DE GRÁFICOS Y SU USO ADECUADO</vt:lpstr>
      <vt:lpstr>TIPOS DE GRÁFICOS Y SU USO ADECUADO</vt:lpstr>
      <vt:lpstr>TIPOS DE GRÁFICOS Y SU USO ADECUADO</vt:lpstr>
      <vt:lpstr>PERSONALIZACIÓN - COLORES, ESTILO Y FORMATO</vt:lpstr>
      <vt:lpstr>PERSONALIZACIÓN - COLORES, ESTILO Y FORMATO</vt:lpstr>
      <vt:lpstr>PERSONALIZACIÓN - COLORES, ESTILO Y FORMATO</vt:lpstr>
      <vt:lpstr>FILTROS Y SEGMENTACIONES - FILTROS</vt:lpstr>
      <vt:lpstr>FILTROS Y SEGMENTACIONES - SEGMENTACIONES</vt:lpstr>
      <vt:lpstr>DISEÑO DE INFORMES INTERACTIVOS</vt:lpstr>
      <vt:lpstr>DISEÑO DE INFORMES INTERACTIVOS</vt:lpstr>
      <vt:lpstr>DISEÑO DE INFORMES INTERACTIVOS</vt:lpstr>
      <vt:lpstr>CREACIÓN DE PÁGINAS</vt:lpstr>
      <vt:lpstr>CREACIÓN DE NAVEGACIÓN ENTRE PÁGINAS</vt:lpstr>
      <vt:lpstr>CREACIÓN DE BOOKMARKS</vt:lpstr>
      <vt:lpstr>PUBLICACIÓN EN POWER BI SERVICE</vt:lpstr>
      <vt:lpstr>PUBLICACIÓN EN POWER BI SERVICE </vt:lpstr>
      <vt:lpstr>PUBLICACIÓN EN POWER BI SERVICE</vt:lpstr>
      <vt:lpstr>Gracias  FINAL SESION 06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2025-05-06T11:53:30Z</dcterms:created>
  <dcterms:modified xsi:type="dcterms:W3CDTF">2025-06-18T07:44:26Z</dcterms:modified>
</cp:coreProperties>
</file>