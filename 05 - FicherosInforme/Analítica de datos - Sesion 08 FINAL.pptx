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3" r:id="rId1"/>
  </p:sldMasterIdLst>
  <p:notesMasterIdLst>
    <p:notesMasterId r:id="rId48"/>
  </p:notesMasterIdLst>
  <p:sldIdLst>
    <p:sldId id="256" r:id="rId2"/>
    <p:sldId id="502" r:id="rId3"/>
    <p:sldId id="381" r:id="rId4"/>
    <p:sldId id="550" r:id="rId5"/>
    <p:sldId id="597" r:id="rId6"/>
    <p:sldId id="591" r:id="rId7"/>
    <p:sldId id="594" r:id="rId8"/>
    <p:sldId id="595" r:id="rId9"/>
    <p:sldId id="380" r:id="rId10"/>
    <p:sldId id="506" r:id="rId11"/>
    <p:sldId id="553" r:id="rId12"/>
    <p:sldId id="409" r:id="rId13"/>
    <p:sldId id="410" r:id="rId14"/>
    <p:sldId id="411" r:id="rId15"/>
    <p:sldId id="583" r:id="rId16"/>
    <p:sldId id="584" r:id="rId17"/>
    <p:sldId id="418" r:id="rId18"/>
    <p:sldId id="596" r:id="rId19"/>
    <p:sldId id="536" r:id="rId20"/>
    <p:sldId id="598" r:id="rId21"/>
    <p:sldId id="592" r:id="rId22"/>
    <p:sldId id="538" r:id="rId23"/>
    <p:sldId id="599" r:id="rId24"/>
    <p:sldId id="600" r:id="rId25"/>
    <p:sldId id="539" r:id="rId26"/>
    <p:sldId id="601" r:id="rId27"/>
    <p:sldId id="602" r:id="rId28"/>
    <p:sldId id="540" r:id="rId29"/>
    <p:sldId id="603" r:id="rId30"/>
    <p:sldId id="604" r:id="rId31"/>
    <p:sldId id="541" r:id="rId32"/>
    <p:sldId id="605" r:id="rId33"/>
    <p:sldId id="606" r:id="rId34"/>
    <p:sldId id="542" r:id="rId35"/>
    <p:sldId id="607" r:id="rId36"/>
    <p:sldId id="608" r:id="rId37"/>
    <p:sldId id="543" r:id="rId38"/>
    <p:sldId id="609" r:id="rId39"/>
    <p:sldId id="610" r:id="rId40"/>
    <p:sldId id="611" r:id="rId41"/>
    <p:sldId id="612" r:id="rId42"/>
    <p:sldId id="556" r:id="rId43"/>
    <p:sldId id="475" r:id="rId44"/>
    <p:sldId id="544" r:id="rId45"/>
    <p:sldId id="554" r:id="rId46"/>
    <p:sldId id="349" r:id="rId4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64FCF56-CCCE-7B96-5391-40813594B8F0}" v="120" dt="2025-06-24T07:59:38.820"/>
    <p1510:client id="{DF12E267-BCB8-14B1-265D-9EA78068E473}" v="3295" dt="2025-06-23T08:02:01.699"/>
    <p1510:client id="{EAEBAF6F-626C-FB7D-B8B3-AB39B121E198}" v="2" dt="2025-06-24T10:13:42.597"/>
    <p1510:client id="{F6267E5C-B042-92C1-8106-402ADFD36D5C}" v="2" dt="2025-06-24T10:40:46.80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48F867-230C-461D-8BB8-D2116231DDCA}" type="datetimeFigureOut">
              <a:t>6/24/2025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4714E0-E1B7-414D-B561-17C6C526FC7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2727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C6D1-39EC-A465-BA60-DEBE8C817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94BC419-C545-E48E-565A-B9449CC152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F9C516-8D6E-DF5A-4F48-DCB9F100DD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>
              <a:ea typeface="Calibri"/>
              <a:cs typeface="Calibri"/>
            </a:endParaRPr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0F628-63E4-1C32-A989-0E806F4A9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68482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371B9-9C79-2FC5-4455-F92127B36D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32D14-29EE-8681-73BF-5B406DA5A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6B62A3-BD9B-A02C-AE93-C0B5B295BA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1BC19-0D91-FE2E-A5A8-819C7676A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88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8F43E-FBF1-8E0D-CA3C-7930E4D8F7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52ED73-0D6F-56C1-C894-9A7F0F6DE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410D08-AB4D-D5EE-9D88-E50B1A9747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4C571C-4462-5FB1-7712-0C2B6EAF3F3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2919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E84753-3BEF-9FFF-F34A-F48BB70D2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BB7FA0-2AAC-FD9E-A1CE-1CE69F9FC2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1DD283-60FB-5E57-A5B2-EB02AA32E3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E77A04-7EE9-6505-E58C-061F50AA69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324869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50E62-DF90-1FB4-FA65-6EF8A25D4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A8B139-6FF9-6C7C-6AB8-32E4A63897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6E5E9C-D911-4580-8019-6C20B15067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A4389D-92E5-E7C0-F8BC-8653ABC401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67211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4F1FFC-4CB9-0A0C-1B96-24824ED8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F5FDC8-C7A3-83DF-0912-F3CA773DE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CA235C-0B06-0A6D-8654-74BC6278F5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8BAE1B-5E4D-548D-022F-CC9130CF55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68259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8B5FE-B0EC-8729-C02D-FE8CFDF369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A12BE-BD7F-57C6-CC81-F33F21261F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DE44822-3D1C-4432-3585-35DEC26381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157FD0-44F5-A7A6-0BAE-639E8A7BC1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4245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A32E7-1D6A-4CC5-41F9-C925CD648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0A1D4E-026F-8AD4-E76F-FDCAD4D2F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D9CC5C-D1F6-1A27-CB51-27E6E83024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EDADDC-813D-4BF4-EE0E-DC64785FFA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54296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7A2405-7883-736F-FF41-DF3F0626B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6F623F-C53B-2892-EABA-D4464A2C77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3602E3-7FB3-59E8-01BD-9A2D9411D3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9AFD6-0B20-5F12-42CB-7A6C5E5BCD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53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BAD78-9CAB-06AE-FDC2-14ED1A648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A84BF3-5980-A8AE-EFBB-6F115B3EA1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DEF436-725F-FC80-37FF-F9B4D50299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58CD73-AE8D-DD4C-6B5E-5488E8F03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494270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D94954-0339-7034-A655-4CE49E478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BFAF43-D2A2-30D7-ED1A-C8087C250C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DE3633-20A2-9565-5299-CCC79D72E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564195-96B2-3204-99F8-A646C8F6DD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904001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FD782-D6B1-0D6E-8F78-BA50B98F01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21035-0632-024D-7F73-21897AF0A0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BE09B52-533E-3EFA-31DF-5CE0A70F74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68C439-DC47-64D1-4D04-55930EDEE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34634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C284DF-8003-E3FA-634B-7A19FBCC7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3AD34-80D1-1C42-9E5F-6A2D23E34D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058C15C-E886-7849-4111-880EA61125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6085EB-4DEE-1849-CE51-DE0E75BA80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3678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C661E-D331-DECB-12A1-4049089EA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7F4ED0C-D00D-7C9F-429A-85927645F9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CCF0C1-8748-837A-0375-7165F0939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7D547D-ACBC-639C-83FA-D689870D3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27217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24348E-AF82-13D5-74DE-2294F7ABA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B3B405-78E9-6595-6272-10D8F4BEF2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185243-D25D-3FF0-7239-CA998B904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0C21AB-B925-A0EB-E842-569C704F713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85413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D72CF-F56B-8588-658B-3F27D2675A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D02C28-88C9-0923-85A0-88BCB0E6A5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358F3-B2B5-FD01-720C-45D9FCF9FC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71924B-15CA-6681-C1FA-42A227D4B0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541199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CA36A-1A49-B940-C423-FB271A01E9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BCB29B-3AC6-91A2-F9F6-BCE7C7DDE2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5A972-54FC-A04F-1A1E-51909352FC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0CAA8-56E9-6019-CD57-CAB615068B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72385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E07436-5F21-69E8-200D-8A4B32FFC2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EC415B-720B-5084-23CE-A8D9EB27EB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95514E-6277-A719-AEA1-63D1006791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06198E-AD5C-49F0-97FD-1AA277905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74038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68201-535C-B006-B57E-71456FEC57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1B9F84-EC8F-3FEC-CADD-3A33A0282E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5AA6B6-F222-8720-D25A-DB05C0C066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7F1F7B-C9D8-DA14-DB60-AF498E3332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3281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55F31C-7FC9-9608-62E3-591A7F4D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92C7AB-84EA-581B-0EF2-A58156B0FC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CA273-4B56-6EAF-768B-93916DC268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5CA3FF-0EA3-A79E-9B31-D18852AA28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656575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DB8EB8-D0DF-9F73-8B24-212497F1B3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020A9B-749B-733D-AB04-E561FE560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428C39E-EAA3-460D-C648-6DC7D66830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2570B-DE0A-3881-FF79-6B0C652EA0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53821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CBB6A-245B-365B-95D6-282C6DEB4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F62466-D18C-92F5-DCC6-EA77CAF37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4D26AB-D877-C209-2E9B-84C27C7924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F57921-3934-2C3F-1EE8-E324607039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9018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AB98-FDD5-F92F-4B15-B8D81BE9A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2FF3C8-68B6-BE18-8BDE-AF411EB071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729AF10-4E38-AE01-09F0-47E1C0599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1E1FE-E4E1-E205-8F29-1C3C66E73C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71165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5DD9C-5D52-62F5-E699-10F22293A5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A203DB-4F4B-C1E9-C77C-7DC1F0C91F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2478D9E-180A-BF9E-6922-CBE0D6364E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826521-CFA3-65C9-4142-B8AF2D41D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803957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E38883-39A4-3024-916F-CDF039B9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2EA8-4DD8-D7D4-DF26-F7DE729091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E97741-EE7E-FFAF-BBE3-9FEE34F95C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9CE157-3C9D-A956-0E9C-5117E1DC35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94172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A7965-0DE2-3F0B-B53D-91CFEBE46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5A2186-03E1-89E2-09C9-36CC7B27AD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A2D8CF-FDAE-F12C-CE96-EDEF88DED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95F3D-444F-B0FA-EBAE-176B29FFCC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434810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7B7E9-91BB-1910-5033-EB7A4BFD1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ECA13-53F4-43D0-A087-BD9715BE3A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B491F7-5EA2-D7A8-FD36-27596846DF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F73AB9-5CD2-04B6-5886-255B2996E9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3998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5BCB75-A424-ABA3-AD5A-B52874650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471330-FE93-3A01-84AD-D3472FF593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9B6B2E5-8A71-07AA-981E-A217DD7FAB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BA6AD1-1A13-FFBF-DC06-F3A05C28EA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46403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E782D-3A6C-D405-F21A-BFFFFA01E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E0C121-FDE0-107E-7760-0E3FF4A4DD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A8EE7A-3204-1758-F3EF-EFFBA18683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B8708C-199E-5E51-CDCF-5F4361963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9815987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E48B80-4F3E-07A5-3C15-123CEE086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DEF22D-CC71-0DA7-E733-05174EED81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8DA9B1-06B0-0721-F6C7-1B48B1F68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>
                <a:cs typeface="+mn-lt"/>
              </a:rPr>
            </a:br>
            <a:r>
              <a:rPr lang="en-US"/>
              <a:t>“Las </a:t>
            </a:r>
            <a:r>
              <a:rPr lang="en-US" err="1"/>
              <a:t>columnas</a:t>
            </a:r>
            <a:r>
              <a:rPr lang="en-US"/>
              <a:t> </a:t>
            </a:r>
            <a:r>
              <a:rPr lang="en-US" err="1"/>
              <a:t>personalizadas</a:t>
            </a:r>
            <a:r>
              <a:rPr lang="en-US"/>
              <a:t> </a:t>
            </a:r>
            <a:r>
              <a:rPr lang="en-US" err="1"/>
              <a:t>te</a:t>
            </a:r>
            <a:r>
              <a:rPr lang="en-US"/>
              <a:t> </a:t>
            </a:r>
            <a:r>
              <a:rPr lang="en-US" err="1"/>
              <a:t>permiten</a:t>
            </a:r>
            <a:r>
              <a:rPr lang="en-US"/>
              <a:t> </a:t>
            </a:r>
            <a:r>
              <a:rPr lang="en-US" err="1"/>
              <a:t>aplicar</a:t>
            </a:r>
            <a:r>
              <a:rPr lang="en-US"/>
              <a:t> </a:t>
            </a:r>
            <a:r>
              <a:rPr lang="en-US" err="1"/>
              <a:t>tu</a:t>
            </a:r>
            <a:r>
              <a:rPr lang="en-US"/>
              <a:t> </a:t>
            </a:r>
            <a:r>
              <a:rPr lang="en-US" err="1"/>
              <a:t>lógica</a:t>
            </a:r>
            <a:r>
              <a:rPr lang="en-US"/>
              <a:t> de </a:t>
            </a:r>
            <a:r>
              <a:rPr lang="en-US" err="1"/>
              <a:t>negocio</a:t>
            </a:r>
            <a:r>
              <a:rPr lang="en-US"/>
              <a:t> </a:t>
            </a:r>
            <a:r>
              <a:rPr lang="en-US" err="1"/>
              <a:t>directamente</a:t>
            </a:r>
            <a:r>
              <a:rPr lang="en-US"/>
              <a:t> </a:t>
            </a:r>
            <a:r>
              <a:rPr lang="en-US" err="1"/>
              <a:t>sobre</a:t>
            </a:r>
            <a:r>
              <a:rPr lang="en-US"/>
              <a:t> </a:t>
            </a:r>
            <a:r>
              <a:rPr lang="en-US" err="1"/>
              <a:t>los</a:t>
            </a:r>
            <a:r>
              <a:rPr lang="en-US"/>
              <a:t> </a:t>
            </a:r>
            <a:r>
              <a:rPr lang="en-US" err="1"/>
              <a:t>datos</a:t>
            </a:r>
            <a:r>
              <a:rPr lang="en-US"/>
              <a:t>.”</a:t>
            </a:r>
            <a:endParaRPr lang="en-US">
              <a:ea typeface="Calibri" panose="020F0502020204030204"/>
              <a:cs typeface="Calibri" panose="020F0502020204030204"/>
            </a:endParaRPr>
          </a:p>
          <a:p>
            <a:endParaRPr lang="en-US">
              <a:cs typeface="+mn-lt"/>
            </a:endParaRPr>
          </a:p>
          <a:p>
            <a:br>
              <a:rPr lang="en-US"/>
            </a:br>
            <a:endParaRPr lang="en-US"/>
          </a:p>
          <a:p>
            <a:br>
              <a:rPr lang="en-US"/>
            </a:b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43F370-84E3-303F-7AB6-76C30BDB73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4714E0-E1B7-414D-B561-17C6C526FC74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6283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EA67E988-5919-57BB-C7DE-D3EAD38A3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70" y="6209925"/>
            <a:ext cx="11155680" cy="45719"/>
          </a:xfrm>
          <a:custGeom>
            <a:avLst/>
            <a:gdLst>
              <a:gd name="connsiteX0" fmla="*/ 0 w 8715708"/>
              <a:gd name="connsiteY0" fmla="*/ 0 h 45719"/>
              <a:gd name="connsiteX1" fmla="*/ 3694525 w 8715708"/>
              <a:gd name="connsiteY1" fmla="*/ 0 h 45719"/>
              <a:gd name="connsiteX2" fmla="*/ 5021183 w 8715708"/>
              <a:gd name="connsiteY2" fmla="*/ 0 h 45719"/>
              <a:gd name="connsiteX3" fmla="*/ 8715708 w 8715708"/>
              <a:gd name="connsiteY3" fmla="*/ 0 h 45719"/>
              <a:gd name="connsiteX4" fmla="*/ 8715708 w 8715708"/>
              <a:gd name="connsiteY4" fmla="*/ 45719 h 45719"/>
              <a:gd name="connsiteX5" fmla="*/ 5021183 w 8715708"/>
              <a:gd name="connsiteY5" fmla="*/ 45719 h 45719"/>
              <a:gd name="connsiteX6" fmla="*/ 3694525 w 8715708"/>
              <a:gd name="connsiteY6" fmla="*/ 45719 h 45719"/>
              <a:gd name="connsiteX7" fmla="*/ 0 w 8715708"/>
              <a:gd name="connsiteY7" fmla="*/ 45719 h 457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2327B2-BA4B-2C04-0751-5CB63D4AA4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978408"/>
            <a:ext cx="11155680" cy="3429000"/>
          </a:xfrm>
        </p:spPr>
        <p:txBody>
          <a:bodyPr anchor="t">
            <a:normAutofit/>
          </a:bodyPr>
          <a:lstStyle>
            <a:lvl1pPr algn="l">
              <a:defRPr sz="7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201176-DC7A-4C3D-3D8F-352526DA7B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08" y="4480560"/>
            <a:ext cx="7104888" cy="1399032"/>
          </a:xfrm>
        </p:spPr>
        <p:txBody>
          <a:bodyPr anchor="b">
            <a:normAutofit/>
          </a:bodyPr>
          <a:lstStyle>
            <a:lvl1pPr marL="0" indent="0" algn="l">
              <a:buNone/>
              <a:defRPr sz="2200" i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7DC221-9A2E-7459-102F-C3CFB27CC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020671-6F7D-3A03-EEC1-661A87F96F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453D3A-E0F9-8386-2A6C-96671FBB1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13849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26D03-149A-DAB3-4B2A-E9B74F2E25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C1E73D-41A7-9934-0990-9208B95232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2A3F-E719-673C-5D56-F663712D0E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AE594A-52F5-D85E-343C-ADFEE3C72E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D5C9C-B2E2-FC26-E459-9E880EF97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35733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9D51F-B2D5-2804-4F7C-C99850FBD0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4288536"/>
          </a:xfrm>
        </p:spPr>
        <p:txBody>
          <a:bodyPr anchor="t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FE5516-03B6-C488-EB4A-68AE681EDF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5266944"/>
            <a:ext cx="5020056" cy="1088136"/>
          </a:xfrm>
        </p:spPr>
        <p:txBody>
          <a:bodyPr anchor="b">
            <a:normAutofit/>
          </a:bodyPr>
          <a:lstStyle>
            <a:lvl1pPr marL="0" indent="0">
              <a:buNone/>
              <a:defRPr sz="22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ECB4D7-49A7-D050-70B9-11A1E2D44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A9A913F-AD00-C1EE-B01A-8590671C01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4FC386-B2AF-6FAD-D053-E22D48CD7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E1E1B67-3BFF-F04B-52F4-7E724FB3B24D}"/>
              </a:ext>
            </a:extLst>
          </p:cNvPr>
          <p:cNvSpPr/>
          <p:nvPr/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80806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CE3B21-CF4D-1B01-0F4E-D32C1B218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B39FF2-6858-B514-B695-58442557D0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1208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A30130-974D-B91D-5B93-EC52AABDB5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519672" y="2578608"/>
            <a:ext cx="5166360" cy="37673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5BED99-6FD7-9C6B-1152-A6E42715B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253AAC-5967-2565-A715-82D3505AB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B51313-69FB-E016-3CC1-62CA476ED2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DF9D-B849-CE37-97E4-AD37F88067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64824" cy="121615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D4C626-4008-960A-E601-6AA9F4BB8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6E8D6C-AC07-ED6B-2EA8-9C40A5AEA7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21208" y="3035808"/>
            <a:ext cx="5166360" cy="3310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C52617E-C6D9-246B-E7B7-8159DF17C0A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19672" y="2340864"/>
            <a:ext cx="5166360" cy="658368"/>
          </a:xfrm>
        </p:spPr>
        <p:txBody>
          <a:bodyPr anchor="b">
            <a:normAutofit/>
          </a:bodyPr>
          <a:lstStyle>
            <a:lvl1pPr marL="0" indent="0">
              <a:buNone/>
              <a:defRPr sz="22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DBC2094-7EBC-02C5-5AB5-233E63080A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519672" y="3035808"/>
            <a:ext cx="5166360" cy="331012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3010BD2-59B4-FD2E-3C5E-C83AE60039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2B35C4-A654-7759-BDA0-94D9D1A216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55F4347-2EC0-CA6E-2637-8048456D7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6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4716D-52F2-C7FB-83B1-2DA1AD375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F4A371-AC27-6A28-32E6-74A28371B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55941A-A24E-885D-E894-0326F4C40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D5E5B4-971F-FF6A-1B07-A5C853705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3970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9F431F-E6DC-4137-3092-A30A0A3628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6AC814B-67B4-C70F-FA51-6205D5E2CB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AA9C9-D895-DD20-1089-EA75EA42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15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50562-884C-9053-70C1-3B72A0B45E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18F509-68F0-39D5-1A8B-CE246715AE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19672" y="987424"/>
            <a:ext cx="5166360" cy="5358384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58E37C-27CE-3A84-FC74-BDCCD8A9A3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A95F79-E23E-11D2-40BF-66ED34019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57F7FC-06F3-3D89-5D1A-4EC4B1D735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54ACD5-6E0B-5713-DC9A-41E9D62AB1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421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B2D45-7CDB-D38C-2AAE-273F797674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5020056" cy="2459736"/>
          </a:xfrm>
        </p:spPr>
        <p:txBody>
          <a:bodyPr anchor="t">
            <a:no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CBF0855-1744-56E4-B115-3A3C5EA7834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6519672" y="987424"/>
            <a:ext cx="5166360" cy="5358384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5E8A1D-28AE-4A19-BD96-401D4822A5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208" y="3575304"/>
            <a:ext cx="5020056" cy="2770632"/>
          </a:xfrm>
        </p:spPr>
        <p:txBody>
          <a:bodyPr>
            <a:normAutofit/>
          </a:bodyPr>
          <a:lstStyle>
            <a:lvl1pPr marL="0" indent="0">
              <a:buNone/>
              <a:defRPr sz="2200" i="1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327DDB-CE95-4C89-DFC5-7DDBFC24E8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522C835-F3B5-943C-FFC4-D5BA9666A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709891-6E3C-ADED-01DD-15FCED37A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38644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C36771-E72D-FAD8-771E-3E196DD2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5BB827-257D-60D9-792F-E6959004297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E5D2E7-C856-F78A-E88C-375474982A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AB289-9591-51C9-9E3C-B6F2ACC6A6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FE037C-790D-7442-8E43-D2740B395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19297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2635151-A38B-3766-6A32-FF1DF7687D9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659368" y="978408"/>
            <a:ext cx="2551176" cy="536752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3D132D1-640C-FB9A-AD6F-D845738349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21208" y="978408"/>
            <a:ext cx="8010144" cy="536752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55F80A-4BA7-8ED8-9A62-B921942726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0C50CD-E178-4744-9B35-B2F624D6C5E9}" type="datetimeFigureOut">
              <a:rPr lang="en-US" smtClean="0"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E38113-D55A-A1A0-D1FE-53C95860F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919DDB-F89D-4B2D-21A2-82AF1D102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8CC95F-0247-41B6-91CF-DC97C76A7088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2572D8-D485-1DB1-34B1-C35C61C89940}"/>
              </a:ext>
            </a:extLst>
          </p:cNvPr>
          <p:cNvSpPr/>
          <p:nvPr/>
        </p:nvSpPr>
        <p:spPr>
          <a:xfrm rot="5400000">
            <a:off x="8936623" y="3585018"/>
            <a:ext cx="5325734" cy="14927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9090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31A28D7-6581-4956-AAE3-9104804DF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146304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CFCCA4-57A4-08A1-FC45-D2BBA66FAB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1208" y="2578608"/>
            <a:ext cx="11155680" cy="37673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AA0F4-2442-8D45-3C3D-1B8F55C8683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1208" y="6419088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6/24/2025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03785E-FB42-1D54-92AC-D0A61A8FABD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21208" y="100584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C9CF34-1274-DB45-4809-90E5D244A9A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57432" y="6419088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774A975B-A886-5202-0489-6965514A0D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08109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8" r:id="rId1"/>
    <p:sldLayoutId id="2147483669" r:id="rId2"/>
    <p:sldLayoutId id="2147483670" r:id="rId3"/>
    <p:sldLayoutId id="2147483671" r:id="rId4"/>
    <p:sldLayoutId id="2147483672" r:id="rId5"/>
    <p:sldLayoutId id="2147483666" r:id="rId6"/>
    <p:sldLayoutId id="2147483662" r:id="rId7"/>
    <p:sldLayoutId id="2147483663" r:id="rId8"/>
    <p:sldLayoutId id="2147483664" r:id="rId9"/>
    <p:sldLayoutId id="2147483665" r:id="rId10"/>
    <p:sldLayoutId id="2147483667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E20BB609-EF92-42DB-836C-0699A590B5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Gráfico económico digital">
            <a:extLst>
              <a:ext uri="{FF2B5EF4-FFF2-40B4-BE49-F238E27FC236}">
                <a16:creationId xmlns:a16="http://schemas.microsoft.com/office/drawing/2014/main" id="{61B78A45-B1FB-99A6-9A7D-62BA391787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637992A9-1E8C-4E57-B4F4-EE2D38E504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517870" y="978407"/>
            <a:ext cx="10920574" cy="4590529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s-ES" sz="4800">
                <a:solidFill>
                  <a:srgbClr val="FFFFFF"/>
                </a:solidFill>
              </a:rPr>
              <a:t>ANALÍTICA DE DATOS </a:t>
            </a:r>
            <a:br>
              <a:rPr lang="es-ES" sz="4800"/>
            </a:br>
            <a:r>
              <a:rPr lang="es-ES" sz="4800">
                <a:solidFill>
                  <a:srgbClr val="FFFFFF"/>
                </a:solidFill>
              </a:rPr>
              <a:t>Y POWER BI</a:t>
            </a:r>
            <a:br>
              <a:rPr lang="es-ES" sz="5400"/>
            </a:br>
            <a:br>
              <a:rPr lang="es-ES" sz="5400"/>
            </a:br>
            <a:r>
              <a:rPr lang="es-ES" sz="7300">
                <a:solidFill>
                  <a:srgbClr val="FFFFFF"/>
                </a:solidFill>
              </a:rPr>
              <a:t>SESION 08</a:t>
            </a:r>
            <a:r>
              <a:rPr lang="es-ES" sz="6700">
                <a:solidFill>
                  <a:srgbClr val="FFFFFF"/>
                </a:solidFill>
              </a:rPr>
              <a:t> </a:t>
            </a:r>
            <a:br>
              <a:rPr lang="es-ES" sz="6700"/>
            </a:br>
            <a:r>
              <a:rPr lang="es-ES" sz="4900">
                <a:solidFill>
                  <a:srgbClr val="FFFFFF"/>
                </a:solidFill>
              </a:rPr>
              <a:t>MODELADO Y VISUALIZACION DE DATOS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C335F7-F61C-4EB4-80F2-4B1438FE6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7170C6F-5843-788C-E66A-316BB2E71A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039" y="6171871"/>
            <a:ext cx="1777233" cy="4613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ECA126D8-33B9-5D37-7D77-F3DD0A16A2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8876" y="6171543"/>
            <a:ext cx="1841281" cy="46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627317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5146B6A-386A-54EB-3777-97232708F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24784D-03E4-B3AA-9BCA-C99A0A07D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69" y="506630"/>
            <a:ext cx="11160942" cy="889233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en-US" sz="5400"/>
              <a:t>SESIONES PENDIENTES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3C091E60-4099-B3FF-A35B-A43B1F48A4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5601045"/>
              </p:ext>
            </p:extLst>
          </p:nvPr>
        </p:nvGraphicFramePr>
        <p:xfrm>
          <a:off x="604097" y="1526709"/>
          <a:ext cx="11050107" cy="4583715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1821656">
                  <a:extLst>
                    <a:ext uri="{9D8B030D-6E8A-4147-A177-3AD203B41FA5}">
                      <a16:colId xmlns:a16="http://schemas.microsoft.com/office/drawing/2014/main" val="3256238080"/>
                    </a:ext>
                  </a:extLst>
                </a:gridCol>
                <a:gridCol w="1797843">
                  <a:extLst>
                    <a:ext uri="{9D8B030D-6E8A-4147-A177-3AD203B41FA5}">
                      <a16:colId xmlns:a16="http://schemas.microsoft.com/office/drawing/2014/main" val="1312472185"/>
                    </a:ext>
                  </a:extLst>
                </a:gridCol>
                <a:gridCol w="7430608">
                  <a:extLst>
                    <a:ext uri="{9D8B030D-6E8A-4147-A177-3AD203B41FA5}">
                      <a16:colId xmlns:a16="http://schemas.microsoft.com/office/drawing/2014/main" val="2903575754"/>
                    </a:ext>
                  </a:extLst>
                </a:gridCol>
              </a:tblGrid>
              <a:tr h="444575">
                <a:tc>
                  <a:txBody>
                    <a:bodyPr/>
                    <a:lstStyle/>
                    <a:p>
                      <a:r>
                        <a:rPr lang="en-US" sz="2000">
                          <a:solidFill>
                            <a:schemeClr val="tx1"/>
                          </a:solidFill>
                        </a:rPr>
                        <a:t>G-01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>
                          <a:solidFill>
                            <a:schemeClr val="tx1"/>
                          </a:solidFill>
                        </a:rPr>
                        <a:t>G-02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>
                          <a:solidFill>
                            <a:schemeClr val="tx1"/>
                          </a:solidFill>
                        </a:rPr>
                        <a:t>TEMARIO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49062459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1"/>
                        <a:t>07/05/2025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1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07/05/2025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i="1"/>
                        <a:t>SESION 01 - ANALÍTICA DE DATOS (</a:t>
                      </a:r>
                      <a:r>
                        <a:rPr lang="en-US" sz="1600" i="1" err="1"/>
                        <a:t>Sesión</a:t>
                      </a:r>
                      <a:r>
                        <a:rPr lang="en-US" sz="1600" i="1"/>
                        <a:t> </a:t>
                      </a:r>
                      <a:r>
                        <a:rPr lang="en-US" sz="1600" i="1" err="1"/>
                        <a:t>conjunta</a:t>
                      </a:r>
                      <a:r>
                        <a:rPr lang="en-US" sz="1600" i="1"/>
                        <a:t> 02 horas)</a:t>
                      </a:r>
                      <a:endParaRPr lang="en-US" sz="1600" b="0" i="1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1847459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14/05/2025</a:t>
                      </a:r>
                      <a:endParaRPr 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14/05/2025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SESION 02 – INTRODUCCION POWER BI (</a:t>
                      </a:r>
                      <a:r>
                        <a:rPr lang="en-US" sz="1600" b="0" i="0" u="none" strike="noStrike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Sesión</a:t>
                      </a: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600" b="0" i="0" u="none" strike="noStrike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conjunta</a:t>
                      </a: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405513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/>
                        <a:t>20/05/2025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21/05/2025</a:t>
                      </a:r>
                      <a:endParaRPr 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/>
                        <a:t>SESION 03 - TRANSFORMACIÓN DE DATOS I (</a:t>
                      </a:r>
                      <a:r>
                        <a:rPr lang="en-US" sz="1600" b="0" err="1"/>
                        <a:t>Básica</a:t>
                      </a:r>
                      <a:r>
                        <a:rPr lang="en-US" sz="1600" b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258542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/>
                        <a:t>27/05/2025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28/05/2025</a:t>
                      </a:r>
                      <a:endParaRPr 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/>
                        <a:t>SESION 04 - </a:t>
                      </a: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TRANSFORMACIÓN DE DATOS II  (Intermedia)</a:t>
                      </a:r>
                      <a:endParaRPr 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5676922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/>
                        <a:t>03/06/2025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04/06/2025</a:t>
                      </a:r>
                      <a:endParaRPr lang="en-US" sz="1600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SESION 05 – TRANSFORMACIÓN DE DATOS III (Avanzada)</a:t>
                      </a:r>
                      <a:endParaRPr lang="en-US" sz="16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6455308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/>
                        <a:t>10/06/2025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/>
                        <a:t>11/06/2025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SESION 06 –MODELADO DE DATOS E INFORMES </a:t>
                      </a:r>
                      <a:endParaRPr lang="en-US" sz="18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681409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/>
                        <a:t>17/06/2025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/>
                        <a:t>18/06/2025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SESION 07 – VISUALIZACIÓN DE DATOS</a:t>
                      </a:r>
                      <a:endParaRPr lang="en-US" sz="1800" b="0" i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1804357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23/06/2025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23/06/2025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SESION 08 – CASOS PRÁCTICOS I (</a:t>
                      </a:r>
                      <a:r>
                        <a:rPr lang="en-US" sz="2000" b="1" i="0" u="none" strike="noStrike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sesion</a:t>
                      </a:r>
                      <a:r>
                        <a:rPr lang="en-US" sz="20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1" i="0" u="none" strike="noStrike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conjunta</a:t>
                      </a:r>
                      <a:r>
                        <a:rPr lang="en-US" sz="20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)</a:t>
                      </a:r>
                      <a:endParaRPr lang="en-US" sz="2000" b="1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5896519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/>
                        <a:t>24/06/2025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25/06/2025</a:t>
                      </a:r>
                      <a:endParaRPr lang="en-US" b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SESION 09 – CASOS PRÁCTICOS II Y BUENAS PRÁCTICAS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67718880"/>
                  </a:ext>
                </a:extLst>
              </a:tr>
              <a:tr h="413914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1"/>
                        <a:t>02/07/2025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02/07/2025</a:t>
                      </a:r>
                      <a:endParaRPr lang="en-US" b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600"/>
                        <a:t>SESION 10 – EVALUACIÓN FINAL Y CIERRE </a:t>
                      </a: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(</a:t>
                      </a:r>
                      <a:r>
                        <a:rPr lang="en-US" sz="1600" b="0" i="0" u="none" strike="noStrike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Sesión</a:t>
                      </a: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600" b="0" i="0" u="none" strike="noStrike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conjunta</a:t>
                      </a:r>
                      <a:r>
                        <a:rPr lang="en-US" sz="1600" b="0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 02 horas)</a:t>
                      </a:r>
                      <a:endParaRPr lang="en-US" sz="16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331253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05129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2A9C6B-8CF6-4181-3BEA-DA04DD2E0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7C100CD8-F92C-FE85-A24B-4EFB4B6385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1AF9CE0-AB89-D44B-F1E7-A64DDE2EC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CAA3E703-63BF-BDC8-2E30-365D7FE5FE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Gráficas financieras en una pantalla oscura">
            <a:extLst>
              <a:ext uri="{FF2B5EF4-FFF2-40B4-BE49-F238E27FC236}">
                <a16:creationId xmlns:a16="http://schemas.microsoft.com/office/drawing/2014/main" id="{B68DD651-815B-49CB-689C-A089A0D5619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77" r="6" b="6"/>
          <a:stretch/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5D8AFBD2-3766-6B5C-1FBB-921254B468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BD0C86-71CB-420F-DB8C-46DEE714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1368478"/>
            <a:ext cx="11086221" cy="330951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6600"/>
              <a:t>TIPOS DE INFORMES EN POWER BI</a:t>
            </a:r>
            <a:br>
              <a:rPr lang="en-US" sz="6600"/>
            </a:br>
            <a:endParaRPr lang="en-US" sz="5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20A50E-89F5-3598-47D0-8F9243BA1C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82610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A397-39B4-C62E-742E-D849F42E8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B2F20-D4AB-13BD-71C6-BDD7CE8CF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E5BB2A0-4C64-23B5-3002-BE5F636C9AF9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3EB7FC-A600-0108-9415-E056D740BEB7}"/>
              </a:ext>
            </a:extLst>
          </p:cNvPr>
          <p:cNvSpPr txBox="1"/>
          <p:nvPr/>
        </p:nvSpPr>
        <p:spPr>
          <a:xfrm>
            <a:off x="524539" y="1977656"/>
            <a:ext cx="11151780" cy="452431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b="1" i="1" err="1">
                <a:cs typeface="Arial"/>
              </a:rPr>
              <a:t>Informes</a:t>
            </a:r>
            <a:r>
              <a:rPr lang="en-US" b="1" i="1">
                <a:cs typeface="Arial"/>
              </a:rPr>
              <a:t> </a:t>
            </a:r>
            <a:r>
              <a:rPr lang="en-US" b="1" i="1" err="1">
                <a:cs typeface="Arial"/>
              </a:rPr>
              <a:t>Estáticos</a:t>
            </a:r>
            <a:r>
              <a:rPr lang="en-US" b="1" i="1">
                <a:cs typeface="Arial"/>
              </a:rPr>
              <a:t>: </a:t>
            </a:r>
            <a:r>
              <a:rPr lang="en-US">
                <a:cs typeface="Arial"/>
              </a:rPr>
              <a:t>Se </a:t>
            </a:r>
            <a:r>
              <a:rPr lang="en-US" err="1">
                <a:cs typeface="Arial"/>
              </a:rPr>
              <a:t>presentan</a:t>
            </a:r>
            <a:r>
              <a:rPr lang="en-US">
                <a:cs typeface="Arial"/>
              </a:rPr>
              <a:t> con </a:t>
            </a:r>
            <a:r>
              <a:rPr lang="en-US" err="1">
                <a:cs typeface="Arial"/>
              </a:rPr>
              <a:t>datos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en</a:t>
            </a:r>
            <a:r>
              <a:rPr lang="en-US">
                <a:cs typeface="Arial"/>
              </a:rPr>
              <a:t> un </a:t>
            </a:r>
            <a:r>
              <a:rPr lang="en-US" err="1">
                <a:cs typeface="Arial"/>
              </a:rPr>
              <a:t>estado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específico</a:t>
            </a:r>
            <a:r>
              <a:rPr lang="en-US">
                <a:cs typeface="Arial"/>
              </a:rPr>
              <a:t>, sin </a:t>
            </a:r>
            <a:r>
              <a:rPr lang="en-US" err="1">
                <a:cs typeface="Arial"/>
              </a:rPr>
              <a:t>interactividad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significativa</a:t>
            </a:r>
            <a:r>
              <a:rPr lang="en-US">
                <a:cs typeface="Arial"/>
              </a:rPr>
              <a:t>. Se </a:t>
            </a:r>
            <a:r>
              <a:rPr lang="en-US" err="1">
                <a:cs typeface="Arial"/>
              </a:rPr>
              <a:t>utilizan</a:t>
            </a:r>
            <a:r>
              <a:rPr lang="en-US">
                <a:cs typeface="Arial"/>
              </a:rPr>
              <a:t> para </a:t>
            </a:r>
            <a:r>
              <a:rPr lang="en-US" err="1">
                <a:cs typeface="Arial"/>
              </a:rPr>
              <a:t>reportes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periódicos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como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informes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financieros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mensuales</a:t>
            </a:r>
            <a:r>
              <a:rPr lang="en-US">
                <a:cs typeface="Arial"/>
              </a:rPr>
              <a:t> o </a:t>
            </a:r>
            <a:r>
              <a:rPr lang="en-US" err="1">
                <a:cs typeface="Arial"/>
              </a:rPr>
              <a:t>resúmenes</a:t>
            </a:r>
            <a:r>
              <a:rPr lang="en-US">
                <a:cs typeface="Arial"/>
              </a:rPr>
              <a:t> de </a:t>
            </a:r>
            <a:r>
              <a:rPr lang="en-US" err="1">
                <a:cs typeface="Arial"/>
              </a:rPr>
              <a:t>ventas</a:t>
            </a:r>
            <a:r>
              <a:rPr lang="en-US">
                <a:cs typeface="Arial"/>
              </a:rPr>
              <a:t>.</a:t>
            </a:r>
            <a:endParaRPr lang="en-US"/>
          </a:p>
          <a:p>
            <a:pPr marL="800100" lvl="1" indent="-342900">
              <a:buFont typeface="Calibri"/>
              <a:buChar char="-"/>
            </a:pPr>
            <a:endParaRPr lang="en-US">
              <a:cs typeface="Arial"/>
            </a:endParaRPr>
          </a:p>
          <a:p>
            <a:pPr lvl="1"/>
            <a:r>
              <a:rPr lang="en-US" b="1" i="1" err="1">
                <a:cs typeface="Arial"/>
              </a:rPr>
              <a:t>Informes</a:t>
            </a:r>
            <a:r>
              <a:rPr lang="en-US" b="1" i="1">
                <a:cs typeface="Arial"/>
              </a:rPr>
              <a:t> </a:t>
            </a:r>
            <a:r>
              <a:rPr lang="en-US" b="1" i="1" err="1">
                <a:cs typeface="Arial"/>
              </a:rPr>
              <a:t>Interactivos</a:t>
            </a:r>
            <a:r>
              <a:rPr lang="en-US" b="1" i="1">
                <a:cs typeface="Arial"/>
              </a:rPr>
              <a:t>: </a:t>
            </a:r>
            <a:r>
              <a:rPr lang="en-US" err="1">
                <a:cs typeface="Arial"/>
              </a:rPr>
              <a:t>Permiten</a:t>
            </a:r>
            <a:r>
              <a:rPr lang="en-US">
                <a:cs typeface="Arial"/>
              </a:rPr>
              <a:t> la </a:t>
            </a:r>
            <a:r>
              <a:rPr lang="en-US" err="1">
                <a:cs typeface="Arial"/>
              </a:rPr>
              <a:t>exploración</a:t>
            </a:r>
            <a:r>
              <a:rPr lang="en-US">
                <a:cs typeface="Arial"/>
              </a:rPr>
              <a:t> de </a:t>
            </a:r>
            <a:r>
              <a:rPr lang="en-US" err="1">
                <a:cs typeface="Arial"/>
              </a:rPr>
              <a:t>datos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mediante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segmentaciones</a:t>
            </a:r>
            <a:r>
              <a:rPr lang="en-US">
                <a:cs typeface="Arial"/>
              </a:rPr>
              <a:t>, </a:t>
            </a:r>
            <a:r>
              <a:rPr lang="en-US" err="1">
                <a:cs typeface="Arial"/>
              </a:rPr>
              <a:t>filtros</a:t>
            </a:r>
            <a:r>
              <a:rPr lang="en-US">
                <a:cs typeface="Arial"/>
              </a:rPr>
              <a:t> y </a:t>
            </a:r>
            <a:r>
              <a:rPr lang="en-US" err="1">
                <a:cs typeface="Arial"/>
              </a:rPr>
              <a:t>visualizaciones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dinámicas</a:t>
            </a:r>
            <a:r>
              <a:rPr lang="en-US">
                <a:cs typeface="Arial"/>
              </a:rPr>
              <a:t>. Son </a:t>
            </a:r>
            <a:r>
              <a:rPr lang="en-US" err="1">
                <a:cs typeface="Arial"/>
              </a:rPr>
              <a:t>ideales</a:t>
            </a:r>
            <a:r>
              <a:rPr lang="en-US">
                <a:cs typeface="Arial"/>
              </a:rPr>
              <a:t> para </a:t>
            </a:r>
            <a:r>
              <a:rPr lang="en-US" err="1">
                <a:cs typeface="Arial"/>
              </a:rPr>
              <a:t>análisis</a:t>
            </a:r>
            <a:r>
              <a:rPr lang="en-US">
                <a:cs typeface="Arial"/>
              </a:rPr>
              <a:t> de </a:t>
            </a:r>
            <a:r>
              <a:rPr lang="en-US" err="1">
                <a:cs typeface="Arial"/>
              </a:rPr>
              <a:t>tendencias</a:t>
            </a:r>
            <a:r>
              <a:rPr lang="en-US">
                <a:cs typeface="Arial"/>
              </a:rPr>
              <a:t> y </a:t>
            </a:r>
            <a:r>
              <a:rPr lang="en-US" err="1">
                <a:cs typeface="Arial"/>
              </a:rPr>
              <a:t>comparaciones</a:t>
            </a:r>
            <a:r>
              <a:rPr lang="en-US">
                <a:cs typeface="Arial"/>
              </a:rPr>
              <a:t> entre </a:t>
            </a:r>
            <a:r>
              <a:rPr lang="en-US" err="1">
                <a:cs typeface="Arial"/>
              </a:rPr>
              <a:t>períodos</a:t>
            </a:r>
            <a:r>
              <a:rPr lang="en-US">
                <a:cs typeface="Arial"/>
              </a:rPr>
              <a:t>.</a:t>
            </a:r>
          </a:p>
          <a:p>
            <a:pPr marL="800100" lvl="1" indent="-342900">
              <a:buFont typeface="Calibri"/>
              <a:buChar char="-"/>
            </a:pPr>
            <a:endParaRPr lang="en-US">
              <a:cs typeface="Arial"/>
            </a:endParaRPr>
          </a:p>
          <a:p>
            <a:pPr lvl="1"/>
            <a:r>
              <a:rPr lang="en-US" b="1" i="1" err="1">
                <a:cs typeface="Arial"/>
              </a:rPr>
              <a:t>Paneles</a:t>
            </a:r>
            <a:r>
              <a:rPr lang="en-US" b="1" i="1">
                <a:cs typeface="Arial"/>
              </a:rPr>
              <a:t> o Dashboards: </a:t>
            </a:r>
            <a:r>
              <a:rPr lang="en-US" err="1">
                <a:cs typeface="Arial"/>
              </a:rPr>
              <a:t>Recopilan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múltiples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visualizaciones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en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una</a:t>
            </a:r>
            <a:r>
              <a:rPr lang="en-US">
                <a:cs typeface="Arial"/>
              </a:rPr>
              <a:t> sola </a:t>
            </a:r>
            <a:r>
              <a:rPr lang="en-US" err="1">
                <a:cs typeface="Arial"/>
              </a:rPr>
              <a:t>pantalla</a:t>
            </a:r>
            <a:r>
              <a:rPr lang="en-US">
                <a:cs typeface="Arial"/>
              </a:rPr>
              <a:t>, </a:t>
            </a:r>
            <a:r>
              <a:rPr lang="en-US" err="1">
                <a:cs typeface="Arial"/>
              </a:rPr>
              <a:t>proporcionando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una</a:t>
            </a:r>
            <a:r>
              <a:rPr lang="en-US">
                <a:cs typeface="Arial"/>
              </a:rPr>
              <a:t> vista global </a:t>
            </a:r>
            <a:r>
              <a:rPr lang="en-US" err="1">
                <a:cs typeface="Arial"/>
              </a:rPr>
              <a:t>rápida</a:t>
            </a:r>
            <a:r>
              <a:rPr lang="en-US">
                <a:cs typeface="Arial"/>
              </a:rPr>
              <a:t>. Se </a:t>
            </a:r>
            <a:r>
              <a:rPr lang="en-US" err="1">
                <a:cs typeface="Arial"/>
              </a:rPr>
              <a:t>utilizan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en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monitoreo</a:t>
            </a:r>
            <a:r>
              <a:rPr lang="en-US">
                <a:cs typeface="Arial"/>
              </a:rPr>
              <a:t> de KPIs, </a:t>
            </a:r>
            <a:r>
              <a:rPr lang="en-US" err="1">
                <a:cs typeface="Arial"/>
              </a:rPr>
              <a:t>productividad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empresarial</a:t>
            </a:r>
            <a:r>
              <a:rPr lang="en-US">
                <a:cs typeface="Arial"/>
              </a:rPr>
              <a:t> o </a:t>
            </a:r>
            <a:r>
              <a:rPr lang="en-US" err="1">
                <a:cs typeface="Arial"/>
              </a:rPr>
              <a:t>rendimiento</a:t>
            </a:r>
            <a:r>
              <a:rPr lang="en-US">
                <a:cs typeface="Arial"/>
              </a:rPr>
              <a:t> </a:t>
            </a:r>
            <a:r>
              <a:rPr lang="en-US" err="1">
                <a:cs typeface="Arial"/>
              </a:rPr>
              <a:t>operativo</a:t>
            </a:r>
            <a:r>
              <a:rPr lang="en-US">
                <a:cs typeface="Arial"/>
              </a:rPr>
              <a:t>.</a:t>
            </a:r>
          </a:p>
          <a:p>
            <a:pPr marL="800100" lvl="1" indent="-342900">
              <a:buFont typeface="Calibri"/>
              <a:buChar char="-"/>
            </a:pPr>
            <a:endParaRPr lang="en-US">
              <a:cs typeface="Arial"/>
            </a:endParaRPr>
          </a:p>
          <a:p>
            <a:pPr lvl="1"/>
            <a:r>
              <a:rPr lang="en-US" b="1" i="1" err="1">
                <a:cs typeface="Arial"/>
              </a:rPr>
              <a:t>Informes</a:t>
            </a:r>
            <a:r>
              <a:rPr lang="en-US" b="1" i="1">
                <a:cs typeface="Arial"/>
              </a:rPr>
              <a:t> </a:t>
            </a:r>
            <a:r>
              <a:rPr lang="en-US" b="1" i="1" err="1">
                <a:cs typeface="Arial"/>
              </a:rPr>
              <a:t>en</a:t>
            </a:r>
            <a:r>
              <a:rPr lang="en-US" b="1" i="1">
                <a:cs typeface="Arial"/>
              </a:rPr>
              <a:t> </a:t>
            </a:r>
            <a:r>
              <a:rPr lang="en-US" b="1" i="1" err="1">
                <a:cs typeface="Arial"/>
              </a:rPr>
              <a:t>tiempo</a:t>
            </a:r>
            <a:r>
              <a:rPr lang="en-US" b="1" i="1">
                <a:cs typeface="Arial"/>
              </a:rPr>
              <a:t> real: </a:t>
            </a:r>
            <a:r>
              <a:rPr lang="en-US" i="1">
                <a:cs typeface="Arial"/>
              </a:rPr>
              <a:t>Se </a:t>
            </a:r>
            <a:r>
              <a:rPr lang="en-US" i="1" err="1">
                <a:cs typeface="Arial"/>
              </a:rPr>
              <a:t>actualizan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automáticamente</a:t>
            </a:r>
            <a:r>
              <a:rPr lang="en-US" i="1">
                <a:cs typeface="Arial"/>
              </a:rPr>
              <a:t> con </a:t>
            </a:r>
            <a:r>
              <a:rPr lang="en-US" i="1" err="1">
                <a:cs typeface="Arial"/>
              </a:rPr>
              <a:t>datos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en</a:t>
            </a:r>
            <a:r>
              <a:rPr lang="en-US" i="1">
                <a:cs typeface="Arial"/>
              </a:rPr>
              <a:t> vivo, </a:t>
            </a:r>
            <a:r>
              <a:rPr lang="en-US" i="1" err="1">
                <a:cs typeface="Arial"/>
              </a:rPr>
              <a:t>cruciales</a:t>
            </a:r>
            <a:r>
              <a:rPr lang="en-US" i="1">
                <a:cs typeface="Arial"/>
              </a:rPr>
              <a:t> para </a:t>
            </a:r>
            <a:r>
              <a:rPr lang="en-US" i="1" err="1">
                <a:cs typeface="Arial"/>
              </a:rPr>
              <a:t>monitoreo</a:t>
            </a:r>
            <a:r>
              <a:rPr lang="en-US" i="1">
                <a:cs typeface="Arial"/>
              </a:rPr>
              <a:t> de </a:t>
            </a:r>
            <a:r>
              <a:rPr lang="en-US" i="1" err="1">
                <a:cs typeface="Arial"/>
              </a:rPr>
              <a:t>operaciones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en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tiempo</a:t>
            </a:r>
            <a:r>
              <a:rPr lang="en-US" i="1">
                <a:cs typeface="Arial"/>
              </a:rPr>
              <a:t> real. </a:t>
            </a:r>
            <a:r>
              <a:rPr lang="en-US" i="1" err="1">
                <a:cs typeface="Arial"/>
              </a:rPr>
              <a:t>Ejemplo</a:t>
            </a:r>
            <a:r>
              <a:rPr lang="en-US" i="1">
                <a:cs typeface="Arial"/>
              </a:rPr>
              <a:t>: </a:t>
            </a:r>
            <a:r>
              <a:rPr lang="en-US" i="1" err="1">
                <a:cs typeface="Arial"/>
              </a:rPr>
              <a:t>seguimiento</a:t>
            </a:r>
            <a:r>
              <a:rPr lang="en-US" i="1">
                <a:cs typeface="Arial"/>
              </a:rPr>
              <a:t> de </a:t>
            </a:r>
            <a:r>
              <a:rPr lang="en-US" i="1" err="1">
                <a:cs typeface="Arial"/>
              </a:rPr>
              <a:t>tráfico</a:t>
            </a:r>
            <a:r>
              <a:rPr lang="en-US" i="1">
                <a:cs typeface="Arial"/>
              </a:rPr>
              <a:t> web, control de </a:t>
            </a:r>
            <a:r>
              <a:rPr lang="en-US" i="1" err="1">
                <a:cs typeface="Arial"/>
              </a:rPr>
              <a:t>inventario</a:t>
            </a:r>
            <a:r>
              <a:rPr lang="en-US" i="1">
                <a:cs typeface="Arial"/>
              </a:rPr>
              <a:t> o </a:t>
            </a:r>
            <a:r>
              <a:rPr lang="en-US" i="1" err="1">
                <a:cs typeface="Arial"/>
              </a:rPr>
              <a:t>desempeño</a:t>
            </a:r>
            <a:r>
              <a:rPr lang="en-US" i="1">
                <a:cs typeface="Arial"/>
              </a:rPr>
              <a:t> de </a:t>
            </a:r>
            <a:r>
              <a:rPr lang="en-US" i="1" err="1">
                <a:cs typeface="Arial"/>
              </a:rPr>
              <a:t>producción</a:t>
            </a:r>
            <a:r>
              <a:rPr lang="en-US" i="1">
                <a:cs typeface="Arial"/>
              </a:rPr>
              <a:t>.</a:t>
            </a:r>
            <a:endParaRPr lang="en-US">
              <a:cs typeface="Arial"/>
            </a:endParaRPr>
          </a:p>
          <a:p>
            <a:pPr marL="800100" lvl="1" indent="-342900">
              <a:buFont typeface="Calibri"/>
              <a:buChar char="-"/>
            </a:pPr>
            <a:endParaRPr lang="en-US" i="1">
              <a:cs typeface="Arial"/>
            </a:endParaRPr>
          </a:p>
          <a:p>
            <a:pPr lvl="1"/>
            <a:r>
              <a:rPr lang="en-US" b="1" i="1" err="1">
                <a:cs typeface="Arial"/>
              </a:rPr>
              <a:t>Informes</a:t>
            </a:r>
            <a:r>
              <a:rPr lang="en-US" b="1" i="1">
                <a:cs typeface="Arial"/>
              </a:rPr>
              <a:t> </a:t>
            </a:r>
            <a:r>
              <a:rPr lang="en-US" b="1" i="1" err="1">
                <a:cs typeface="Arial"/>
              </a:rPr>
              <a:t>Narrativos</a:t>
            </a:r>
            <a:r>
              <a:rPr lang="en-US" b="1" i="1">
                <a:cs typeface="Arial"/>
              </a:rPr>
              <a:t> o de Storytelling: </a:t>
            </a:r>
            <a:r>
              <a:rPr lang="en-US" i="1" err="1">
                <a:cs typeface="Arial"/>
              </a:rPr>
              <a:t>Diseñados</a:t>
            </a:r>
            <a:r>
              <a:rPr lang="en-US" i="1">
                <a:cs typeface="Arial"/>
              </a:rPr>
              <a:t> para </a:t>
            </a:r>
            <a:r>
              <a:rPr lang="en-US" i="1" err="1">
                <a:cs typeface="Arial"/>
              </a:rPr>
              <a:t>contar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una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historia</a:t>
            </a:r>
            <a:r>
              <a:rPr lang="en-US" i="1">
                <a:cs typeface="Arial"/>
              </a:rPr>
              <a:t> con </a:t>
            </a:r>
            <a:r>
              <a:rPr lang="en-US" i="1" err="1">
                <a:cs typeface="Arial"/>
              </a:rPr>
              <a:t>los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datos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mediante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gráficas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secuenciales</a:t>
            </a:r>
            <a:r>
              <a:rPr lang="en-US" i="1">
                <a:cs typeface="Arial"/>
              </a:rPr>
              <a:t> y </a:t>
            </a:r>
            <a:r>
              <a:rPr lang="en-US" i="1" err="1">
                <a:cs typeface="Arial"/>
              </a:rPr>
              <a:t>anotaciones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explicativas</a:t>
            </a:r>
            <a:r>
              <a:rPr lang="en-US" i="1">
                <a:cs typeface="Arial"/>
              </a:rPr>
              <a:t>. </a:t>
            </a:r>
            <a:r>
              <a:rPr lang="en-US" i="1" err="1">
                <a:cs typeface="Arial"/>
              </a:rPr>
              <a:t>Usados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en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presentaciones</a:t>
            </a:r>
            <a:r>
              <a:rPr lang="en-US" i="1">
                <a:cs typeface="Arial"/>
              </a:rPr>
              <a:t> </a:t>
            </a:r>
            <a:r>
              <a:rPr lang="en-US" i="1" err="1">
                <a:cs typeface="Arial"/>
              </a:rPr>
              <a:t>estratégicas</a:t>
            </a:r>
            <a:r>
              <a:rPr lang="en-US" i="1">
                <a:cs typeface="Arial"/>
              </a:rPr>
              <a:t> o </a:t>
            </a:r>
            <a:r>
              <a:rPr lang="en-US" i="1" err="1">
                <a:cs typeface="Arial"/>
              </a:rPr>
              <a:t>análisis</a:t>
            </a:r>
            <a:r>
              <a:rPr lang="en-US" i="1">
                <a:cs typeface="Arial"/>
              </a:rPr>
              <a:t> de </a:t>
            </a:r>
            <a:r>
              <a:rPr lang="en-US" i="1" err="1">
                <a:cs typeface="Arial"/>
              </a:rPr>
              <a:t>impacto</a:t>
            </a:r>
            <a:r>
              <a:rPr lang="en-US" i="1">
                <a:cs typeface="Arial"/>
              </a:rPr>
              <a:t> de </a:t>
            </a:r>
            <a:r>
              <a:rPr lang="en-US" i="1" err="1">
                <a:cs typeface="Arial"/>
              </a:rPr>
              <a:t>decisiones</a:t>
            </a:r>
            <a:r>
              <a:rPr lang="en-US" i="1">
                <a:cs typeface="Arial"/>
              </a:rPr>
              <a:t>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4674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A358530-3B06-5070-E075-EDD7ED77A4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A5D4E69C-6D17-51F2-BD3B-1F588E5179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A509F9DD-F69E-1DC3-79AE-FDCABBFBD5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EE4A497F-8880-2279-84EC-74A76D4B79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Gráficas financieras en una pantalla oscura">
            <a:extLst>
              <a:ext uri="{FF2B5EF4-FFF2-40B4-BE49-F238E27FC236}">
                <a16:creationId xmlns:a16="http://schemas.microsoft.com/office/drawing/2014/main" id="{B28FF6E3-09E7-B130-B387-A660907BF83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77" r="6" b="6"/>
          <a:stretch/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DA0DF378-D8FE-5EFC-528A-DAE6213D90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A3F6DC-838C-6AC5-CF4C-7C9A39240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1368478"/>
            <a:ext cx="11086221" cy="330951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6600"/>
              <a:t>PASOS A SEGUIR EN LA PRÁCTICA</a:t>
            </a:r>
            <a:br>
              <a:rPr lang="en-US" sz="6600"/>
            </a:br>
            <a:endParaRPr lang="en-US" sz="5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0B34C96-8BAC-0B94-3482-13D1CB8230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452649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26BC67-9FDD-E408-F2B5-4458340BF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EAEEC9-66DF-7D96-CBA4-D1E5CB17B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PASOS A SEGUIR EN LA CREACIÓN DEL INFORME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1A35A2D-324D-0BA6-7ACD-6FC338967E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43075"/>
            <a:ext cx="11155680" cy="460286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s-ES" b="1" u="sng">
                <a:solidFill>
                  <a:srgbClr val="424242"/>
                </a:solidFill>
              </a:rPr>
              <a:t>01 – IMPORTAR  DATOS</a:t>
            </a:r>
            <a:r>
              <a:rPr lang="es-ES" u="sng">
                <a:solidFill>
                  <a:srgbClr val="424242"/>
                </a:solidFill>
              </a:rPr>
              <a:t>:</a:t>
            </a:r>
            <a:r>
              <a:rPr lang="es-ES">
                <a:solidFill>
                  <a:srgbClr val="424242"/>
                </a:solidFill>
              </a:rPr>
              <a:t> Desde </a:t>
            </a:r>
            <a:r>
              <a:rPr lang="es-ES" err="1">
                <a:solidFill>
                  <a:srgbClr val="424242"/>
                </a:solidFill>
              </a:rPr>
              <a:t>Power</a:t>
            </a:r>
            <a:r>
              <a:rPr lang="es-ES">
                <a:solidFill>
                  <a:srgbClr val="424242"/>
                </a:solidFill>
              </a:rPr>
              <a:t> BI Desktop, seleccionamos “Obtener datos” para importar </a:t>
            </a:r>
            <a:r>
              <a:rPr lang="es-ES" err="1">
                <a:solidFill>
                  <a:srgbClr val="424242"/>
                </a:solidFill>
              </a:rPr>
              <a:t>ficheris</a:t>
            </a:r>
            <a:r>
              <a:rPr lang="es-ES">
                <a:solidFill>
                  <a:srgbClr val="424242"/>
                </a:solidFill>
              </a:rPr>
              <a:t> Excel, bases de datos, servicios en la nube u otros orígenes. </a:t>
            </a:r>
            <a:endParaRPr lang="en-US"/>
          </a:p>
          <a:p>
            <a:pPr marL="0" indent="0">
              <a:buNone/>
            </a:pPr>
            <a:r>
              <a:rPr lang="es-ES" b="1" u="sng">
                <a:solidFill>
                  <a:srgbClr val="424242"/>
                </a:solidFill>
              </a:rPr>
              <a:t>02 – TRANSFORMAR DATOS</a:t>
            </a:r>
            <a:r>
              <a:rPr lang="es-ES" u="sng">
                <a:solidFill>
                  <a:srgbClr val="424242"/>
                </a:solidFill>
              </a:rPr>
              <a:t>:</a:t>
            </a:r>
            <a:r>
              <a:rPr lang="es-ES">
                <a:solidFill>
                  <a:srgbClr val="424242"/>
                </a:solidFill>
              </a:rPr>
              <a:t> Usar </a:t>
            </a:r>
            <a:r>
              <a:rPr lang="es-ES" err="1">
                <a:solidFill>
                  <a:srgbClr val="424242"/>
                </a:solidFill>
              </a:rPr>
              <a:t>Power</a:t>
            </a:r>
            <a:r>
              <a:rPr lang="es-ES">
                <a:solidFill>
                  <a:srgbClr val="424242"/>
                </a:solidFill>
              </a:rPr>
              <a:t> </a:t>
            </a:r>
            <a:r>
              <a:rPr lang="es-ES" err="1">
                <a:solidFill>
                  <a:srgbClr val="424242"/>
                </a:solidFill>
              </a:rPr>
              <a:t>Query</a:t>
            </a:r>
            <a:r>
              <a:rPr lang="es-ES">
                <a:solidFill>
                  <a:srgbClr val="424242"/>
                </a:solidFill>
              </a:rPr>
              <a:t> para limpiar y hacer las transformaciones necesarias ((tipos de datos, dividir columnas, eliminar duplicados, etc.)</a:t>
            </a:r>
            <a:endParaRPr lang="es-ES"/>
          </a:p>
          <a:p>
            <a:pPr marL="0" indent="0">
              <a:buNone/>
            </a:pPr>
            <a:r>
              <a:rPr lang="es-ES" b="1" u="sng">
                <a:solidFill>
                  <a:srgbClr val="424242"/>
                </a:solidFill>
              </a:rPr>
              <a:t>03 – MODELADO DE DATOS</a:t>
            </a:r>
            <a:r>
              <a:rPr lang="es-ES" u="sng">
                <a:solidFill>
                  <a:srgbClr val="424242"/>
                </a:solidFill>
              </a:rPr>
              <a:t>:</a:t>
            </a:r>
            <a:r>
              <a:rPr lang="es-ES">
                <a:solidFill>
                  <a:srgbClr val="424242"/>
                </a:solidFill>
              </a:rPr>
              <a:t> Establecer relaciones entre distintas tablas para que los datos interactúen correctamente.</a:t>
            </a:r>
          </a:p>
          <a:p>
            <a:pPr marL="0" indent="0">
              <a:buNone/>
            </a:pPr>
            <a:r>
              <a:rPr lang="es-ES" b="1" u="sng">
                <a:solidFill>
                  <a:srgbClr val="424242"/>
                </a:solidFill>
              </a:rPr>
              <a:t>04 - VISUALIZACIÓN DE DATOS: </a:t>
            </a:r>
            <a:r>
              <a:rPr lang="es-ES">
                <a:solidFill>
                  <a:srgbClr val="424242"/>
                </a:solidFill>
              </a:rPr>
              <a:t> Gráficos de barras, mapas o tarjetas KPI, y arrástrales campos desde el panel de campos.</a:t>
            </a:r>
          </a:p>
          <a:p>
            <a:pPr marL="0" indent="0">
              <a:buNone/>
            </a:pPr>
            <a:r>
              <a:rPr lang="es-ES" b="1" u="sng">
                <a:solidFill>
                  <a:srgbClr val="424242"/>
                </a:solidFill>
              </a:rPr>
              <a:t>05 - PERSONALIZACIÓN</a:t>
            </a:r>
            <a:r>
              <a:rPr lang="es-ES" u="sng">
                <a:solidFill>
                  <a:srgbClr val="424242"/>
                </a:solidFill>
              </a:rPr>
              <a:t>: </a:t>
            </a:r>
            <a:r>
              <a:rPr lang="es-ES">
                <a:solidFill>
                  <a:srgbClr val="424242"/>
                </a:solidFill>
              </a:rPr>
              <a:t>Ajusta colores, fuentes y estilos. Puedes agregar filtros, segmentaciones y campos calculados con DAX (el lenguaje de fórmulas de </a:t>
            </a:r>
            <a:r>
              <a:rPr lang="es-ES" err="1">
                <a:solidFill>
                  <a:srgbClr val="424242"/>
                </a:solidFill>
              </a:rPr>
              <a:t>Power</a:t>
            </a:r>
            <a:r>
              <a:rPr lang="es-ES">
                <a:solidFill>
                  <a:srgbClr val="424242"/>
                </a:solidFill>
              </a:rPr>
              <a:t> BI).</a:t>
            </a:r>
          </a:p>
          <a:p>
            <a:pPr marL="0" indent="0">
              <a:buNone/>
            </a:pPr>
            <a:r>
              <a:rPr lang="es-ES" b="1" u="sng">
                <a:solidFill>
                  <a:srgbClr val="424242"/>
                </a:solidFill>
              </a:rPr>
              <a:t>06 – PUBLICAR</a:t>
            </a:r>
            <a:r>
              <a:rPr lang="es-ES" u="sng">
                <a:solidFill>
                  <a:srgbClr val="424242"/>
                </a:solidFill>
              </a:rPr>
              <a:t>: </a:t>
            </a:r>
            <a:r>
              <a:rPr lang="es-ES">
                <a:solidFill>
                  <a:srgbClr val="424242"/>
                </a:solidFill>
              </a:rPr>
              <a:t>Publicar  </a:t>
            </a:r>
            <a:r>
              <a:rPr lang="es-ES" err="1">
                <a:solidFill>
                  <a:srgbClr val="424242"/>
                </a:solidFill>
              </a:rPr>
              <a:t>Power</a:t>
            </a:r>
            <a:r>
              <a:rPr lang="es-ES">
                <a:solidFill>
                  <a:srgbClr val="424242"/>
                </a:solidFill>
              </a:rPr>
              <a:t> BI para acceder desde cualquier lugar y compartirlo con tu equipo.</a:t>
            </a:r>
          </a:p>
        </p:txBody>
      </p:sp>
    </p:spTree>
    <p:extLst>
      <p:ext uri="{BB962C8B-B14F-4D97-AF65-F5344CB8AC3E}">
        <p14:creationId xmlns:p14="http://schemas.microsoft.com/office/powerpoint/2010/main" val="30124656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9D030-9432-5226-F134-217A888018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EC309A7-316A-F083-9CB8-2560B186F7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01 - IMPORTAR DATOS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391B149-B5D7-5DB1-6912-9E14F62338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069" y="1594891"/>
            <a:ext cx="10968181" cy="4472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377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BED13-759D-292C-6394-0F2CF214DA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BD5072C-DB32-7F2E-9F95-EB738E46D0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02 – TRANSFORMAR DATOS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7506EB6-98DF-2BD2-11EB-8709113699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43075"/>
            <a:ext cx="11155680" cy="4602861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s-ES" sz="2000" b="1" u="sng">
                <a:solidFill>
                  <a:srgbClr val="424242"/>
                </a:solidFill>
              </a:rPr>
              <a:t>Proceso de modificar, limpiar, estructura y enriquecer los datos para que sean adecuados para el análisis.</a:t>
            </a:r>
          </a:p>
          <a:p>
            <a:pPr marL="0" indent="0">
              <a:buNone/>
            </a:pPr>
            <a:endParaRPr lang="es-ES" b="1" u="sng">
              <a:solidFill>
                <a:srgbClr val="424242"/>
              </a:solidFill>
            </a:endParaRPr>
          </a:p>
          <a:p>
            <a:pPr marL="0" indent="0">
              <a:buNone/>
            </a:pPr>
            <a:r>
              <a:rPr lang="es-ES" sz="2000" b="1" u="sng">
                <a:solidFill>
                  <a:srgbClr val="424242"/>
                </a:solidFill>
              </a:rPr>
              <a:t>ALGUNAS DE SUS TAREAS:</a:t>
            </a:r>
          </a:p>
          <a:p>
            <a:pPr marL="285750" indent="-285750"/>
            <a:r>
              <a:rPr lang="es-ES" sz="2000">
                <a:solidFill>
                  <a:srgbClr val="424242"/>
                </a:solidFill>
              </a:rPr>
              <a:t>Eliminar columnas innecesarias.</a:t>
            </a:r>
          </a:p>
          <a:p>
            <a:pPr marL="285750" indent="-285750"/>
            <a:r>
              <a:rPr lang="es-ES" sz="2000">
                <a:solidFill>
                  <a:srgbClr val="424242"/>
                </a:solidFill>
              </a:rPr>
              <a:t>Corregir errores.</a:t>
            </a:r>
          </a:p>
          <a:p>
            <a:pPr marL="285750" indent="-285750"/>
            <a:r>
              <a:rPr lang="es-ES" sz="2000">
                <a:solidFill>
                  <a:srgbClr val="424242"/>
                </a:solidFill>
              </a:rPr>
              <a:t>Cambiar tipos de datos.</a:t>
            </a:r>
          </a:p>
          <a:p>
            <a:pPr marL="285750" indent="-285750"/>
            <a:r>
              <a:rPr lang="es-ES" sz="2000">
                <a:solidFill>
                  <a:srgbClr val="424242"/>
                </a:solidFill>
              </a:rPr>
              <a:t>Combinar o dividir columnas.</a:t>
            </a:r>
          </a:p>
          <a:p>
            <a:pPr marL="285750" indent="-285750"/>
            <a:r>
              <a:rPr lang="es-ES" sz="2000">
                <a:solidFill>
                  <a:srgbClr val="424242"/>
                </a:solidFill>
              </a:rPr>
              <a:t>Agrupar o resumir información.</a:t>
            </a:r>
            <a:endParaRPr lang="es-ES" sz="2000"/>
          </a:p>
        </p:txBody>
      </p:sp>
      <p:pic>
        <p:nvPicPr>
          <p:cNvPr id="3" name="Picture 2" descr="datos transformación icono línea vector ilustración 35193493 Vector en  Vecteezy">
            <a:extLst>
              <a:ext uri="{FF2B5EF4-FFF2-40B4-BE49-F238E27FC236}">
                <a16:creationId xmlns:a16="http://schemas.microsoft.com/office/drawing/2014/main" id="{20BF8FC2-A9CD-7710-A554-08A35A7AE7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0163" y="2448647"/>
            <a:ext cx="4031961" cy="4008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9714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B350F98-18E3-7CD4-C465-2DCC30FD32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6F63D-21AC-816E-1EA1-4CE279D9F2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3882" y="978408"/>
            <a:ext cx="9441869" cy="79629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sz="3200"/>
              <a:t>02 – TRANSFORMAR </a:t>
            </a:r>
            <a:r>
              <a:rPr lang="es-ES" sz="3200" b="1" kern="1200">
                <a:latin typeface="+mj-lt"/>
                <a:ea typeface="+mj-ea"/>
                <a:cs typeface="+mj-cs"/>
              </a:rPr>
              <a:t>DATOS</a:t>
            </a:r>
            <a:endParaRPr lang="es-ES" sz="3200" b="0"/>
          </a:p>
          <a:p>
            <a:endParaRPr lang="en-US" sz="3200" b="1" u="sng" kern="1200">
              <a:latin typeface="+mj-lt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ED7F632-F5B2-6453-898E-71BD38E2E976}"/>
              </a:ext>
            </a:extLst>
          </p:cNvPr>
          <p:cNvGraphicFramePr>
            <a:graphicFrameLocks noGrp="1"/>
          </p:cNvGraphicFramePr>
          <p:nvPr/>
        </p:nvGraphicFramePr>
        <p:xfrm>
          <a:off x="575135" y="1773556"/>
          <a:ext cx="10871880" cy="4340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3960">
                  <a:extLst>
                    <a:ext uri="{9D8B030D-6E8A-4147-A177-3AD203B41FA5}">
                      <a16:colId xmlns:a16="http://schemas.microsoft.com/office/drawing/2014/main" val="888680872"/>
                    </a:ext>
                  </a:extLst>
                </a:gridCol>
                <a:gridCol w="3623960">
                  <a:extLst>
                    <a:ext uri="{9D8B030D-6E8A-4147-A177-3AD203B41FA5}">
                      <a16:colId xmlns:a16="http://schemas.microsoft.com/office/drawing/2014/main" val="3256746793"/>
                    </a:ext>
                  </a:extLst>
                </a:gridCol>
                <a:gridCol w="3623960">
                  <a:extLst>
                    <a:ext uri="{9D8B030D-6E8A-4147-A177-3AD203B41FA5}">
                      <a16:colId xmlns:a16="http://schemas.microsoft.com/office/drawing/2014/main" val="2224259293"/>
                    </a:ext>
                  </a:extLst>
                </a:gridCol>
              </a:tblGrid>
              <a:tr h="585365">
                <a:tc>
                  <a:txBody>
                    <a:bodyPr/>
                    <a:lstStyle/>
                    <a:p>
                      <a:pPr algn="ctr"/>
                      <a:r>
                        <a:rPr lang="en-US" sz="3600" i="1">
                          <a:solidFill>
                            <a:schemeClr val="tx1"/>
                          </a:solidFill>
                        </a:rPr>
                        <a:t>BÁSICAS</a:t>
                      </a:r>
                    </a:p>
                    <a:p>
                      <a:pPr lvl="0" algn="ctr">
                        <a:buNone/>
                      </a:pPr>
                      <a:endParaRPr lang="en-US" sz="3600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i="1">
                          <a:solidFill>
                            <a:schemeClr val="tx1"/>
                          </a:solidFill>
                        </a:rPr>
                        <a:t>INTERMEDIAS</a:t>
                      </a:r>
                    </a:p>
                    <a:p>
                      <a:pPr lvl="0" algn="ctr">
                        <a:buNone/>
                      </a:pPr>
                      <a:endParaRPr lang="en-US" sz="3600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3600" i="1">
                          <a:solidFill>
                            <a:schemeClr val="tx1"/>
                          </a:solidFill>
                        </a:rPr>
                        <a:t>AVANZADAS</a:t>
                      </a:r>
                    </a:p>
                    <a:p>
                      <a:pPr lvl="0" algn="ctr">
                        <a:buNone/>
                      </a:pPr>
                      <a:endParaRPr lang="en-US" sz="3600" i="1">
                        <a:solidFill>
                          <a:schemeClr val="tx1"/>
                        </a:solidFill>
                      </a:endParaRP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8704544"/>
                  </a:ext>
                </a:extLst>
              </a:tr>
              <a:tr h="585365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ELIMINAR COLUMNAS Y FILAS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/>
                        <a:t>DIVIDIR/COMBINAR 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/>
                        <a:t>COMBINAR / ANEXAR CONSULTAS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34780669"/>
                  </a:ext>
                </a:extLst>
              </a:tr>
              <a:tr h="585365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CAMBIAR TIPOS DE DATOS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/>
                        <a:t>REEMPLAZAR VALORES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COLUMNA DINÁMICA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lvl="0" algn="ctr">
                        <a:buNone/>
                      </a:pPr>
                      <a:r>
                        <a:rPr lang="en-US" sz="1800" b="1"/>
                        <a:t> 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581780"/>
                  </a:ext>
                </a:extLst>
              </a:tr>
              <a:tr h="585365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RENOMBRAR 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/>
                        <a:t>CONDICIONALES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TRANSPONER TABLA</a:t>
                      </a:r>
                      <a:endParaRPr lang="en-US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9493655"/>
                  </a:ext>
                </a:extLst>
              </a:tr>
              <a:tr h="585365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REORDENAR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/>
                        <a:t>PERSONALIZADAS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1" i="0" u="none" strike="noStrike" noProof="0">
                          <a:solidFill>
                            <a:srgbClr val="000000"/>
                          </a:solidFill>
                          <a:latin typeface="Bierstadt"/>
                        </a:rPr>
                        <a:t>FUNCIONES PERSONALIZADAS </a:t>
                      </a:r>
                      <a:endParaRPr lang="en-US" sz="1800" b="0" i="0" u="none" strike="noStrike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lvl="0" algn="ctr">
                        <a:buNone/>
                      </a:pPr>
                      <a:endParaRPr lang="en-US" sz="1800" b="1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0267806"/>
                  </a:ext>
                </a:extLst>
              </a:tr>
              <a:tr h="585365">
                <a:tc>
                  <a:txBody>
                    <a:bodyPr/>
                    <a:lstStyle/>
                    <a:p>
                      <a:pPr algn="ctr"/>
                      <a:r>
                        <a:rPr lang="en-US" sz="2000" b="1"/>
                        <a:t>FILTRAR DATOS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b="1"/>
                        <a:t>AGRUPADAS</a:t>
                      </a:r>
                    </a:p>
                  </a:txBody>
                  <a:tcP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600" b="1"/>
                    </a:p>
                  </a:txBody>
                  <a:tcP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88481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6079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7F1847-DF3A-79A9-D17F-BA6A9D7DE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2A41A-4635-71F9-5AC5-B6FD251C8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s-ES" sz="3200"/>
              <a:t>03 – MODELADO DE DATOS</a:t>
            </a:r>
            <a:endParaRPr lang="es-ES" sz="3200" b="0"/>
          </a:p>
          <a:p>
            <a:endParaRPr lang="es-ES" sz="3200"/>
          </a:p>
          <a:p>
            <a:endParaRPr lang="en-US" sz="490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94C0CD-1598-EC68-AED2-4EDA20B27E04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B2D8D1-000E-99B8-BAD4-815230FC015E}"/>
              </a:ext>
            </a:extLst>
          </p:cNvPr>
          <p:cNvSpPr txBox="1"/>
          <p:nvPr/>
        </p:nvSpPr>
        <p:spPr>
          <a:xfrm>
            <a:off x="516094" y="1722666"/>
            <a:ext cx="11120610" cy="347787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85750">
              <a:buFont typeface="Calibri"/>
              <a:buChar char="-"/>
            </a:pPr>
            <a:r>
              <a:rPr lang="en-US" sz="2000"/>
              <a:t>Se </a:t>
            </a:r>
            <a:r>
              <a:rPr lang="en-US" sz="2000" err="1"/>
              <a:t>trata</a:t>
            </a:r>
            <a:r>
              <a:rPr lang="en-US" sz="2000"/>
              <a:t> de la </a:t>
            </a:r>
            <a:r>
              <a:rPr lang="en-US" sz="2000" err="1"/>
              <a:t>Representación</a:t>
            </a:r>
            <a:r>
              <a:rPr lang="en-US" sz="2000"/>
              <a:t> </a:t>
            </a:r>
            <a:r>
              <a:rPr lang="en-US" sz="2000" err="1"/>
              <a:t>estructurada</a:t>
            </a:r>
            <a:r>
              <a:rPr lang="en-US" sz="2000"/>
              <a:t> de </a:t>
            </a:r>
            <a:r>
              <a:rPr lang="en-US" sz="2000" b="1" err="1"/>
              <a:t>cómo</a:t>
            </a:r>
            <a:r>
              <a:rPr lang="en-US" sz="2000" b="1"/>
              <a:t> se </a:t>
            </a:r>
            <a:r>
              <a:rPr lang="en-US" sz="2000" b="1" err="1"/>
              <a:t>relacionan</a:t>
            </a:r>
            <a:r>
              <a:rPr lang="en-US" sz="2000" b="1"/>
              <a:t> </a:t>
            </a:r>
            <a:r>
              <a:rPr lang="en-US" sz="2000" b="1" err="1"/>
              <a:t>los</a:t>
            </a:r>
            <a:r>
              <a:rPr lang="en-US" sz="2000" b="1"/>
              <a:t> </a:t>
            </a:r>
            <a:r>
              <a:rPr lang="en-US" sz="2000" b="1" err="1"/>
              <a:t>datos</a:t>
            </a:r>
            <a:r>
              <a:rPr lang="en-US" sz="2000"/>
              <a:t>.</a:t>
            </a:r>
            <a:endParaRPr lang="en-US"/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/>
              <a:t>Permite </a:t>
            </a:r>
            <a:r>
              <a:rPr lang="en-US" sz="2000" err="1"/>
              <a:t>realizar</a:t>
            </a:r>
            <a:r>
              <a:rPr lang="en-US" sz="2000"/>
              <a:t> </a:t>
            </a:r>
            <a:r>
              <a:rPr lang="en-US" sz="2000" err="1"/>
              <a:t>análisis</a:t>
            </a:r>
            <a:r>
              <a:rPr lang="en-US" sz="2000"/>
              <a:t> </a:t>
            </a:r>
            <a:r>
              <a:rPr lang="en-US" sz="2000" err="1"/>
              <a:t>complejos</a:t>
            </a:r>
            <a:r>
              <a:rPr lang="en-US" sz="2000"/>
              <a:t> de forma </a:t>
            </a:r>
            <a:r>
              <a:rPr lang="en-US" sz="2000" err="1"/>
              <a:t>sencilla</a:t>
            </a:r>
            <a:r>
              <a:rPr lang="en-US" sz="2000"/>
              <a:t> y </a:t>
            </a:r>
            <a:r>
              <a:rPr lang="en-US" sz="2000" err="1"/>
              <a:t>rápida</a:t>
            </a:r>
            <a:r>
              <a:rPr lang="en-US" sz="2000"/>
              <a:t> y </a:t>
            </a:r>
            <a:r>
              <a:rPr lang="en-US" sz="2000" b="1"/>
              <a:t>es la base para </a:t>
            </a:r>
            <a:r>
              <a:rPr lang="en-US" sz="2000" b="1" err="1"/>
              <a:t>obtener</a:t>
            </a:r>
            <a:r>
              <a:rPr lang="en-US" sz="2000" b="1"/>
              <a:t> </a:t>
            </a:r>
            <a:r>
              <a:rPr lang="en-US" sz="2000" b="1" err="1"/>
              <a:t>informes</a:t>
            </a:r>
            <a:r>
              <a:rPr lang="en-US" sz="2000" b="1"/>
              <a:t> </a:t>
            </a:r>
            <a:r>
              <a:rPr lang="en-US" sz="2000" b="1" err="1"/>
              <a:t>precisos</a:t>
            </a:r>
            <a:r>
              <a:rPr lang="en-US" sz="2000" b="1"/>
              <a:t>, </a:t>
            </a:r>
            <a:r>
              <a:rPr lang="en-US" sz="2000" b="1" err="1"/>
              <a:t>eficientes</a:t>
            </a:r>
            <a:r>
              <a:rPr lang="en-US" sz="2000" b="1"/>
              <a:t> y </a:t>
            </a:r>
            <a:r>
              <a:rPr lang="en-US" sz="2000" b="1" err="1"/>
              <a:t>escalables</a:t>
            </a:r>
            <a:r>
              <a:rPr lang="en-US" sz="2000" b="1"/>
              <a:t>.</a:t>
            </a:r>
            <a:r>
              <a:rPr lang="en-US" sz="2000"/>
              <a:t> </a:t>
            </a:r>
            <a:endParaRPr lang="en-US"/>
          </a:p>
          <a:p>
            <a:pPr marL="285750" indent="-285750">
              <a:buFont typeface="Calibri"/>
              <a:buChar char="-"/>
            </a:pPr>
            <a:endParaRPr lang="en-US" sz="2000"/>
          </a:p>
          <a:p>
            <a:pPr marL="285750" indent="-285750">
              <a:buFont typeface="Calibri,Sans-Serif"/>
              <a:buChar char="-"/>
            </a:pPr>
            <a:r>
              <a:rPr lang="en-US" sz="2000"/>
              <a:t>El </a:t>
            </a:r>
            <a:r>
              <a:rPr lang="en-US" sz="2000" err="1"/>
              <a:t>proceso</a:t>
            </a:r>
            <a:r>
              <a:rPr lang="en-US" sz="2000"/>
              <a:t> de </a:t>
            </a:r>
            <a:r>
              <a:rPr lang="en-US" sz="2000" err="1"/>
              <a:t>modelado</a:t>
            </a:r>
            <a:r>
              <a:rPr lang="en-US" sz="2000"/>
              <a:t> de </a:t>
            </a:r>
            <a:r>
              <a:rPr lang="en-US" sz="2000" err="1"/>
              <a:t>datos</a:t>
            </a:r>
            <a:r>
              <a:rPr lang="en-US" sz="2000"/>
              <a:t>, </a:t>
            </a:r>
            <a:r>
              <a:rPr lang="en-US" sz="2000" err="1"/>
              <a:t>implica</a:t>
            </a:r>
            <a:r>
              <a:rPr lang="en-US" sz="2000"/>
              <a:t>: </a:t>
            </a:r>
          </a:p>
          <a:p>
            <a:pPr marL="742950" lvl="1" indent="-285750">
              <a:buFont typeface="Courier New,monospace"/>
              <a:buChar char="o"/>
            </a:pPr>
            <a:r>
              <a:rPr lang="en-US" sz="2000" b="1" err="1"/>
              <a:t>Definir</a:t>
            </a:r>
            <a:r>
              <a:rPr lang="en-US" sz="2000" b="1"/>
              <a:t> </a:t>
            </a:r>
            <a:r>
              <a:rPr lang="en-US" sz="2000" b="1" err="1"/>
              <a:t>relaciones</a:t>
            </a:r>
            <a:r>
              <a:rPr lang="en-US" sz="2000" b="1"/>
              <a:t> entre </a:t>
            </a:r>
            <a:r>
              <a:rPr lang="en-US" sz="2000" b="1" err="1"/>
              <a:t>tablas</a:t>
            </a:r>
            <a:r>
              <a:rPr lang="en-US" sz="2000" b="1"/>
              <a:t>. </a:t>
            </a:r>
          </a:p>
          <a:p>
            <a:pPr marL="742950" lvl="1" indent="-285750">
              <a:buFont typeface="Courier New,monospace"/>
              <a:buChar char="o"/>
            </a:pPr>
            <a:r>
              <a:rPr lang="en-US" sz="2000" b="1"/>
              <a:t>Crear </a:t>
            </a:r>
            <a:r>
              <a:rPr lang="en-US" sz="2000" b="1" err="1"/>
              <a:t>medidas</a:t>
            </a:r>
            <a:r>
              <a:rPr lang="en-US" sz="2000" b="1"/>
              <a:t>.</a:t>
            </a:r>
          </a:p>
          <a:p>
            <a:pPr marL="742950" lvl="1" indent="-285750">
              <a:buFont typeface="Courier New,monospace"/>
              <a:buChar char="o"/>
            </a:pP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 err="1"/>
              <a:t>Construímos</a:t>
            </a:r>
            <a:r>
              <a:rPr lang="en-US" sz="2000"/>
              <a:t> </a:t>
            </a:r>
            <a:r>
              <a:rPr lang="en-US" sz="2000" err="1"/>
              <a:t>el</a:t>
            </a:r>
            <a:r>
              <a:rPr lang="en-US" sz="2000"/>
              <a:t> </a:t>
            </a:r>
            <a:r>
              <a:rPr lang="en-US" sz="2000" err="1"/>
              <a:t>modelado</a:t>
            </a:r>
            <a:r>
              <a:rPr lang="en-US" sz="2000"/>
              <a:t> de </a:t>
            </a:r>
            <a:r>
              <a:rPr lang="en-US" sz="2000" err="1"/>
              <a:t>datos</a:t>
            </a:r>
            <a:r>
              <a:rPr lang="en-US" sz="2000"/>
              <a:t> </a:t>
            </a:r>
            <a:r>
              <a:rPr lang="en-US" sz="2000" err="1"/>
              <a:t>mediante</a:t>
            </a:r>
            <a:r>
              <a:rPr lang="en-US" sz="2000"/>
              <a:t> </a:t>
            </a:r>
            <a:r>
              <a:rPr lang="en-US" sz="2000" b="1" err="1"/>
              <a:t>relaciones</a:t>
            </a:r>
            <a:r>
              <a:rPr lang="en-US" sz="2000" b="1"/>
              <a:t> entre </a:t>
            </a:r>
            <a:r>
              <a:rPr lang="en-US" sz="2000" b="1" err="1"/>
              <a:t>tablas</a:t>
            </a:r>
            <a:r>
              <a:rPr lang="en-US" sz="2000" b="1"/>
              <a:t> </a:t>
            </a:r>
            <a:r>
              <a:rPr lang="en-US" sz="2000" b="1" err="1"/>
              <a:t>en</a:t>
            </a:r>
            <a:r>
              <a:rPr lang="en-US" sz="2000" b="1"/>
              <a:t> la vista de </a:t>
            </a:r>
            <a:r>
              <a:rPr lang="en-US" sz="2000" b="1" err="1"/>
              <a:t>modelo</a:t>
            </a:r>
            <a:r>
              <a:rPr lang="en-US" sz="2000" b="1"/>
              <a:t> de Power Query.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2897043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E8B1C3-C1EB-0186-EAE9-50F3B4483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2767E1-2E48-79AA-C304-8E59BC319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s-ES" sz="3200"/>
              <a:t>03 – MODELADO DE DATOS</a:t>
            </a:r>
            <a:endParaRPr lang="es-ES" sz="3200" b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B44B75E-DB26-747C-1C74-E27EFA3D041F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FC6369-D38C-9D4B-26FC-E5BFB6BA9B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4923" y="1920365"/>
            <a:ext cx="9222154" cy="4375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6019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8909A5-973A-DBA9-5344-4C5288758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A89D59-DEA5-78FE-73D8-66A5127D36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04 – VISUALIZACIÓN DE DATOS</a:t>
            </a:r>
            <a:endParaRPr lang="es-ES" sz="3200" b="0"/>
          </a:p>
          <a:p>
            <a:endParaRPr lang="es-ES" sz="320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3573CD4-F444-1900-6486-94E6198831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43075"/>
            <a:ext cx="11155680" cy="4602861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s-ES" sz="2000" b="1"/>
              <a:t>PRINCIPIOS DE DISEÑO DE INFORMES</a:t>
            </a:r>
            <a:endParaRPr lang="en-US" sz="2000"/>
          </a:p>
          <a:p>
            <a:pPr marL="0" indent="0">
              <a:buNone/>
            </a:pP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Un informe interactivo en </a:t>
            </a:r>
            <a:r>
              <a:rPr lang="es-ES" sz="1200" err="1">
                <a:solidFill>
                  <a:srgbClr val="424242"/>
                </a:solidFill>
                <a:ea typeface="+mn-lt"/>
                <a:cs typeface="+mn-lt"/>
              </a:rPr>
              <a:t>Power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 BI no solo debe ser visualmente atractivo, sino también funcional, intuitivo y orientado a la toma de decisiones. </a:t>
            </a:r>
            <a:r>
              <a:rPr lang="es-ES" sz="1200" err="1">
                <a:solidFill>
                  <a:srgbClr val="424242"/>
                </a:solidFill>
                <a:ea typeface="+mn-lt"/>
                <a:cs typeface="+mn-lt"/>
              </a:rPr>
              <a:t>ALgunos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 principios clave que debemos conocer para lograrlo:</a:t>
            </a:r>
            <a:endParaRPr lang="es-ES"/>
          </a:p>
          <a:p>
            <a:pPr>
              <a:buNone/>
            </a:pPr>
            <a:r>
              <a:rPr lang="es-ES" b="1" i="1" u="sng">
                <a:solidFill>
                  <a:srgbClr val="424242"/>
                </a:solidFill>
              </a:rPr>
              <a:t>1. Claridad y simplicidad</a:t>
            </a:r>
            <a:endParaRPr lang="es-ES" i="1" u="sng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Evita la sobrecarga visual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Usa solo los elementos necesarios. Demasiadas visualizaciones pueden confundir al usuario.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Usa títulos claros y descriptivos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Cada gráfico debe tener un propósito evidente.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Agrupa la información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Organiza los elementos relacionados en secciones o paneles.</a:t>
            </a:r>
            <a:endParaRPr lang="es-ES"/>
          </a:p>
          <a:p>
            <a:pPr>
              <a:buNone/>
            </a:pPr>
            <a:r>
              <a:rPr lang="es-ES" b="1" i="1" u="sng">
                <a:solidFill>
                  <a:srgbClr val="424242"/>
                </a:solidFill>
              </a:rPr>
              <a:t>2. Interactividad significativa</a:t>
            </a:r>
            <a:endParaRPr lang="es-ES" b="1" i="1" u="sng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Filtros y segmentaciones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Usa </a:t>
            </a:r>
            <a:r>
              <a:rPr lang="es-ES" sz="1200" err="1">
                <a:solidFill>
                  <a:srgbClr val="424242"/>
                </a:solidFill>
                <a:ea typeface="+mn-lt"/>
                <a:cs typeface="+mn-lt"/>
              </a:rPr>
              <a:t>slicers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, filtros y segmentaciones para permitir al usuario explorar los datos por sí mismo.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 err="1">
                <a:solidFill>
                  <a:srgbClr val="424242"/>
                </a:solidFill>
                <a:ea typeface="+mn-lt"/>
                <a:cs typeface="+mn-lt"/>
              </a:rPr>
              <a:t>Bookmarks</a:t>
            </a: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 y botones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Crea experiencias de navegación personalizadas, como menús desplegables o vistas detalladas.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 err="1">
                <a:solidFill>
                  <a:srgbClr val="424242"/>
                </a:solidFill>
                <a:ea typeface="+mn-lt"/>
                <a:cs typeface="+mn-lt"/>
              </a:rPr>
              <a:t>Tooltips</a:t>
            </a: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 personalizados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Agrega información adicional al pasar el cursor sobre un elemento sin saturar la vista principal.</a:t>
            </a:r>
            <a:endParaRPr lang="es-ES"/>
          </a:p>
          <a:p>
            <a:pPr marL="0" indent="0">
              <a:buNone/>
            </a:pPr>
            <a:endParaRPr lang="es-ES" sz="1600" b="1"/>
          </a:p>
        </p:txBody>
      </p:sp>
    </p:spTree>
    <p:extLst>
      <p:ext uri="{BB962C8B-B14F-4D97-AF65-F5344CB8AC3E}">
        <p14:creationId xmlns:p14="http://schemas.microsoft.com/office/powerpoint/2010/main" val="24357928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5C7057-758F-C750-9665-4EA3E663A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8FE5713-ADFA-5A00-D884-771AF8B254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04 – VISUALIZACIÓN DE DATOS</a:t>
            </a:r>
            <a:endParaRPr lang="es-ES" sz="3200" b="0"/>
          </a:p>
          <a:p>
            <a:endParaRPr lang="es-ES" sz="320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940B0B7-C41E-9945-AB43-FF9CE860F9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43075"/>
            <a:ext cx="11155680" cy="460286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s-ES" b="1" i="1" u="sng">
                <a:solidFill>
                  <a:srgbClr val="424242"/>
                </a:solidFill>
              </a:rPr>
              <a:t>3. Jerarquía visual</a:t>
            </a:r>
            <a:endParaRPr lang="en-US" i="1" u="sng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Tamaño y color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Usa el tamaño de los elementos y los colores para guiar la atención del usuario hacia lo más importante.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Orden lógico de lectura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Diseña de arriba hacia abajo y de izquierda a derecha, siguiendo patrones naturales de lectura.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Indicadores clave (</a:t>
            </a:r>
            <a:r>
              <a:rPr lang="es-ES" sz="1200" b="1" err="1">
                <a:solidFill>
                  <a:srgbClr val="424242"/>
                </a:solidFill>
                <a:ea typeface="+mn-lt"/>
                <a:cs typeface="+mn-lt"/>
              </a:rPr>
              <a:t>KPIs</a:t>
            </a: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)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Destaca métricas importantes con tarjetas o indicadores visuales.</a:t>
            </a:r>
            <a:endParaRPr lang="es-ES"/>
          </a:p>
          <a:p>
            <a:pPr>
              <a:buNone/>
            </a:pPr>
            <a:r>
              <a:rPr lang="es-ES" b="1" i="1" u="sng">
                <a:solidFill>
                  <a:srgbClr val="424242"/>
                </a:solidFill>
              </a:rPr>
              <a:t>4. Consistencia visual</a:t>
            </a:r>
            <a:endParaRPr lang="es-ES" i="1" u="sng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Paleta de colores uniforme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Usa colores corporativos o una paleta coherente en todo el informe.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Tipografía y estilos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Mantén el mismo tipo de letra, tamaño y estilo para títulos, etiquetas y valores.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Alineación y espaciado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Usa cuadrículas y márgenes para mantener una estructura ordenada.</a:t>
            </a:r>
            <a:endParaRPr lang="es-ES"/>
          </a:p>
          <a:p>
            <a:pPr>
              <a:buNone/>
            </a:pPr>
            <a:r>
              <a:rPr lang="es-ES" b="1" i="1" u="sng">
                <a:solidFill>
                  <a:srgbClr val="424242"/>
                </a:solidFill>
              </a:rPr>
              <a:t>5. Diseño responsivo y adaptable</a:t>
            </a:r>
            <a:endParaRPr lang="es-ES" i="1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Diseño para diferentes dispositivos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Considera cómo se verá el informe en </a:t>
            </a:r>
            <a:r>
              <a:rPr lang="es-ES" sz="1200" err="1">
                <a:solidFill>
                  <a:srgbClr val="424242"/>
                </a:solidFill>
                <a:ea typeface="+mn-lt"/>
                <a:cs typeface="+mn-lt"/>
              </a:rPr>
              <a:t>Power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 BI Mobile.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Prueba de navegación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Asegúrate de que los botones, filtros y enlaces funcionen correctamente.</a:t>
            </a:r>
            <a:endParaRPr lang="es-ES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Carga eficiente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Evita visualizaciones complejas innecesarias que ralenticen el informe.</a:t>
            </a:r>
            <a:endParaRPr lang="es-ES"/>
          </a:p>
          <a:p>
            <a:pPr marL="0" indent="0">
              <a:buNone/>
            </a:pPr>
            <a:endParaRPr lang="es-ES" sz="2000" b="1"/>
          </a:p>
          <a:p>
            <a:pPr marL="0" indent="0">
              <a:buNone/>
            </a:pPr>
            <a:endParaRPr lang="es-ES" sz="1600" b="1"/>
          </a:p>
        </p:txBody>
      </p:sp>
    </p:spTree>
    <p:extLst>
      <p:ext uri="{BB962C8B-B14F-4D97-AF65-F5344CB8AC3E}">
        <p14:creationId xmlns:p14="http://schemas.microsoft.com/office/powerpoint/2010/main" val="40154377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2ADFA-67EC-7B24-9847-89B55167C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6418B1-792D-1CB8-3747-8B125CDD5B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04 – VISUALIZACIÓN DE DATOS</a:t>
            </a:r>
            <a:endParaRPr lang="es-ES" sz="3200" b="0"/>
          </a:p>
          <a:p>
            <a:endParaRPr lang="es-ES" sz="320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843B15C-9C4C-40F0-6B4B-E5882334A9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43075"/>
            <a:ext cx="11155680" cy="460286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s-ES" b="1" i="1" u="sng">
                <a:solidFill>
                  <a:srgbClr val="424242"/>
                </a:solidFill>
              </a:rPr>
              <a:t>6. Contexto y narrativa</a:t>
            </a:r>
            <a:endParaRPr lang="en-US" u="sng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Cuenta una historia con los datos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Presenta la información en un orden lógico que guíe al usuario desde una visión general hasta el detalle.</a:t>
            </a:r>
            <a:endParaRPr lang="es-ES" sz="1200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Incluye contexto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Agrega descripciones, leyendas o notas para ayudar a interpretar los datos.</a:t>
            </a:r>
            <a:endParaRPr lang="es-ES" sz="1200"/>
          </a:p>
          <a:p>
            <a:pPr>
              <a:buFont typeface="Arial"/>
              <a:buChar char="•"/>
            </a:pPr>
            <a:r>
              <a:rPr lang="es-ES" sz="1200" b="1">
                <a:solidFill>
                  <a:srgbClr val="424242"/>
                </a:solidFill>
                <a:ea typeface="+mn-lt"/>
                <a:cs typeface="+mn-lt"/>
              </a:rPr>
              <a:t>Define objetivos</a:t>
            </a:r>
            <a:r>
              <a:rPr lang="es-ES" sz="1200">
                <a:solidFill>
                  <a:srgbClr val="424242"/>
                </a:solidFill>
                <a:ea typeface="+mn-lt"/>
                <a:cs typeface="+mn-lt"/>
              </a:rPr>
              <a:t>: Cada página del informe debe responder a una pregunta o necesidad específica del negocio.</a:t>
            </a:r>
            <a:endParaRPr lang="es-ES" sz="1200"/>
          </a:p>
          <a:p>
            <a:pPr>
              <a:buNone/>
            </a:pPr>
            <a:endParaRPr lang="es-ES" sz="1500" b="1">
              <a:solidFill>
                <a:srgbClr val="424242"/>
              </a:solidFill>
            </a:endParaRPr>
          </a:p>
          <a:p>
            <a:pPr marL="0" indent="0">
              <a:buNone/>
            </a:pPr>
            <a:endParaRPr lang="es-ES" sz="2000" b="1"/>
          </a:p>
          <a:p>
            <a:pPr marL="0" indent="0">
              <a:buNone/>
            </a:pPr>
            <a:endParaRPr lang="es-ES" sz="1600" b="1"/>
          </a:p>
        </p:txBody>
      </p:sp>
    </p:spTree>
    <p:extLst>
      <p:ext uri="{BB962C8B-B14F-4D97-AF65-F5344CB8AC3E}">
        <p14:creationId xmlns:p14="http://schemas.microsoft.com/office/powerpoint/2010/main" val="29049061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C4A47E-695F-B54A-5A50-3EDE9CF841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4B5167-DC65-A634-3D11-8BF0DB10D6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s-ES" sz="3200"/>
              <a:t>05 – PERSONALIZACION DE DATOS</a:t>
            </a:r>
            <a:endParaRPr lang="en-US" sz="3200" b="0"/>
          </a:p>
          <a:p>
            <a:endParaRPr lang="en-US" sz="490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0E6E6E2-FB33-464F-9926-3D1A97717458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6705A9-F55F-CD01-FAA3-A5CA5AC8D42C}"/>
              </a:ext>
            </a:extLst>
          </p:cNvPr>
          <p:cNvSpPr txBox="1"/>
          <p:nvPr/>
        </p:nvSpPr>
        <p:spPr>
          <a:xfrm>
            <a:off x="516094" y="1722666"/>
            <a:ext cx="11120610" cy="418576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¿QUE ES UNA COLUMNA CALCULADA?</a:t>
            </a:r>
          </a:p>
          <a:p>
            <a:pPr marL="285750" indent="-285750">
              <a:buFont typeface="Calibri"/>
              <a:buChar char="-"/>
            </a:pPr>
            <a:endParaRPr lang="en-US"/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Se </a:t>
            </a:r>
            <a:r>
              <a:rPr lang="en-US" sz="2000" err="1">
                <a:solidFill>
                  <a:srgbClr val="000000"/>
                </a:solidFill>
              </a:rPr>
              <a:t>calcula</a:t>
            </a:r>
            <a:r>
              <a:rPr lang="en-US" sz="2000">
                <a:solidFill>
                  <a:srgbClr val="000000"/>
                </a:solidFill>
              </a:rPr>
              <a:t> </a:t>
            </a:r>
            <a:r>
              <a:rPr lang="en-US" sz="2000" b="1">
                <a:solidFill>
                  <a:srgbClr val="000000"/>
                </a:solidFill>
              </a:rPr>
              <a:t>fila </a:t>
            </a:r>
            <a:r>
              <a:rPr lang="en-US" sz="2000" b="1" err="1">
                <a:solidFill>
                  <a:srgbClr val="000000"/>
                </a:solidFill>
              </a:rPr>
              <a:t>por</a:t>
            </a:r>
            <a:r>
              <a:rPr lang="en-US" sz="2000" b="1">
                <a:solidFill>
                  <a:srgbClr val="000000"/>
                </a:solidFill>
              </a:rPr>
              <a:t> fila</a:t>
            </a:r>
            <a:r>
              <a:rPr lang="en-US" sz="2000">
                <a:solidFill>
                  <a:srgbClr val="000000"/>
                </a:solidFill>
              </a:rPr>
              <a:t> </a:t>
            </a:r>
            <a:r>
              <a:rPr lang="en-US" sz="2000" err="1">
                <a:solidFill>
                  <a:srgbClr val="000000"/>
                </a:solidFill>
              </a:rPr>
              <a:t>en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una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tabla</a:t>
            </a:r>
            <a:r>
              <a:rPr lang="en-US" sz="2000">
                <a:solidFill>
                  <a:srgbClr val="000000"/>
                </a:solidFill>
              </a:rPr>
              <a:t>.</a:t>
            </a:r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Se </a:t>
            </a:r>
            <a:r>
              <a:rPr lang="en-US" sz="2000" err="1">
                <a:solidFill>
                  <a:srgbClr val="000000"/>
                </a:solidFill>
              </a:rPr>
              <a:t>almacena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físicamente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en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el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modelo</a:t>
            </a:r>
            <a:r>
              <a:rPr lang="en-US" sz="2000">
                <a:solidFill>
                  <a:srgbClr val="000000"/>
                </a:solidFill>
              </a:rPr>
              <a:t>.</a:t>
            </a: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Se </a:t>
            </a:r>
            <a:r>
              <a:rPr lang="en-US" sz="2000" err="1">
                <a:solidFill>
                  <a:srgbClr val="000000"/>
                </a:solidFill>
              </a:rPr>
              <a:t>usa</a:t>
            </a:r>
            <a:r>
              <a:rPr lang="en-US" sz="2000">
                <a:solidFill>
                  <a:srgbClr val="000000"/>
                </a:solidFill>
              </a:rPr>
              <a:t> para </a:t>
            </a:r>
            <a:r>
              <a:rPr lang="en-US" sz="2000" err="1">
                <a:solidFill>
                  <a:srgbClr val="000000"/>
                </a:solidFill>
              </a:rPr>
              <a:t>crear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nuevas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categorías</a:t>
            </a:r>
            <a:r>
              <a:rPr lang="en-US" sz="2000">
                <a:solidFill>
                  <a:srgbClr val="000000"/>
                </a:solidFill>
              </a:rPr>
              <a:t> o </a:t>
            </a:r>
            <a:r>
              <a:rPr lang="en-US" sz="2000" err="1">
                <a:solidFill>
                  <a:srgbClr val="000000"/>
                </a:solidFill>
              </a:rPr>
              <a:t>atributos</a:t>
            </a:r>
            <a:r>
              <a:rPr lang="en-US" sz="2000">
                <a:solidFill>
                  <a:srgbClr val="000000"/>
                </a:solidFill>
              </a:rPr>
              <a:t>.</a:t>
            </a: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Es </a:t>
            </a:r>
            <a:r>
              <a:rPr lang="en-US" sz="2000" err="1">
                <a:solidFill>
                  <a:srgbClr val="000000"/>
                </a:solidFill>
              </a:rPr>
              <a:t>bastante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útil</a:t>
            </a:r>
            <a:r>
              <a:rPr lang="en-US" sz="2000">
                <a:solidFill>
                  <a:srgbClr val="000000"/>
                </a:solidFill>
              </a:rPr>
              <a:t> para </a:t>
            </a:r>
            <a:r>
              <a:rPr lang="en-US" sz="2000" err="1">
                <a:solidFill>
                  <a:srgbClr val="000000"/>
                </a:solidFill>
              </a:rPr>
              <a:t>segmentar</a:t>
            </a:r>
            <a:r>
              <a:rPr lang="en-US" sz="2000">
                <a:solidFill>
                  <a:srgbClr val="000000"/>
                </a:solidFill>
              </a:rPr>
              <a:t>, </a:t>
            </a:r>
            <a:r>
              <a:rPr lang="en-US" sz="2000" err="1">
                <a:solidFill>
                  <a:srgbClr val="000000"/>
                </a:solidFill>
              </a:rPr>
              <a:t>agrupar</a:t>
            </a:r>
            <a:r>
              <a:rPr lang="en-US" sz="2000">
                <a:solidFill>
                  <a:srgbClr val="000000"/>
                </a:solidFill>
              </a:rPr>
              <a:t> o </a:t>
            </a:r>
            <a:r>
              <a:rPr lang="en-US" sz="2000" err="1">
                <a:solidFill>
                  <a:srgbClr val="000000"/>
                </a:solidFill>
              </a:rPr>
              <a:t>visualizar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directamente</a:t>
            </a:r>
            <a:r>
              <a:rPr lang="en-US" sz="2000">
                <a:solidFill>
                  <a:srgbClr val="000000"/>
                </a:solidFill>
              </a:rPr>
              <a:t>.</a:t>
            </a:r>
          </a:p>
          <a:p>
            <a:pPr marL="285750" indent="-285750">
              <a:buFont typeface="Calibri"/>
              <a:buChar char="-"/>
            </a:pPr>
            <a:endParaRPr lang="en-US" sz="2000">
              <a:solidFill>
                <a:srgbClr val="000000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en-US" sz="2000" err="1">
                <a:solidFill>
                  <a:srgbClr val="000000"/>
                </a:solidFill>
              </a:rPr>
              <a:t>Ejemplo</a:t>
            </a:r>
            <a:r>
              <a:rPr lang="en-US" sz="2000">
                <a:solidFill>
                  <a:srgbClr val="000000"/>
                </a:solidFill>
              </a:rPr>
              <a:t>:</a:t>
            </a:r>
          </a:p>
          <a:p>
            <a:pPr marL="742950" lvl="1" indent="-285750">
              <a:buFont typeface="Courier New"/>
              <a:buChar char="o"/>
            </a:pPr>
            <a:endParaRPr lang="en-US">
              <a:solidFill>
                <a:srgbClr val="000000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1600" b="1">
              <a:solidFill>
                <a:srgbClr val="424242"/>
              </a:solidFill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 sz="1600">
              <a:solidFill>
                <a:srgbClr val="424242"/>
              </a:solidFill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 sz="1600">
              <a:solidFill>
                <a:srgbClr val="424242"/>
              </a:solidFill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>
              <a:solidFill>
                <a:srgbClr val="424242"/>
              </a:solidFill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 sz="2000">
              <a:solidFill>
                <a:srgbClr val="FF0000"/>
              </a:solidFill>
              <a:ea typeface="+mn-lt"/>
              <a:cs typeface="+mn-lt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E4EAAB-1FBC-E05E-CA93-0797B6992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784" y="4472245"/>
            <a:ext cx="7154647" cy="885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016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B087A-DB77-C200-054D-83701586B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FCFACB-ECD7-6E6D-77DF-48B41E2B78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s-ES" sz="3200"/>
              <a:t>05 – PERSONALIZACION DE DATOS</a:t>
            </a:r>
            <a:endParaRPr lang="en-US" sz="3200" b="0"/>
          </a:p>
          <a:p>
            <a:endParaRPr lang="en-US" sz="490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C870776-4672-8C3C-2695-F8FF21AF36A8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C4EDB8A-CCC2-0CA2-3A8B-5888318E128B}"/>
              </a:ext>
            </a:extLst>
          </p:cNvPr>
          <p:cNvSpPr txBox="1"/>
          <p:nvPr/>
        </p:nvSpPr>
        <p:spPr>
          <a:xfrm>
            <a:off x="516094" y="1722666"/>
            <a:ext cx="11120610" cy="477053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/>
              <a:t>¿QUE ES UNA MEDIDA?</a:t>
            </a:r>
          </a:p>
          <a:p>
            <a:pPr marL="285750" indent="-285750">
              <a:buFont typeface="Calibri"/>
              <a:buChar char="-"/>
            </a:pPr>
            <a:endParaRPr lang="en-US"/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Se </a:t>
            </a:r>
            <a:r>
              <a:rPr lang="en-US" sz="2000" err="1">
                <a:solidFill>
                  <a:srgbClr val="000000"/>
                </a:solidFill>
              </a:rPr>
              <a:t>calcula</a:t>
            </a:r>
            <a:r>
              <a:rPr lang="en-US" sz="2000">
                <a:solidFill>
                  <a:srgbClr val="000000"/>
                </a:solidFill>
              </a:rPr>
              <a:t> </a:t>
            </a:r>
            <a:r>
              <a:rPr lang="en-US" sz="2000" b="1" err="1">
                <a:solidFill>
                  <a:srgbClr val="000000"/>
                </a:solidFill>
              </a:rPr>
              <a:t>dinámicamente</a:t>
            </a:r>
            <a:r>
              <a:rPr lang="en-US" sz="2000" b="1">
                <a:solidFill>
                  <a:srgbClr val="000000"/>
                </a:solidFill>
              </a:rPr>
              <a:t> </a:t>
            </a:r>
            <a:r>
              <a:rPr lang="en-US" sz="2000" err="1">
                <a:solidFill>
                  <a:srgbClr val="000000"/>
                </a:solidFill>
              </a:rPr>
              <a:t>en</a:t>
            </a:r>
            <a:r>
              <a:rPr lang="en-US" sz="2000">
                <a:solidFill>
                  <a:srgbClr val="000000"/>
                </a:solidFill>
              </a:rPr>
              <a:t> </a:t>
            </a:r>
            <a:r>
              <a:rPr lang="en-US" sz="2000" err="1">
                <a:solidFill>
                  <a:srgbClr val="000000"/>
                </a:solidFill>
              </a:rPr>
              <a:t>función</a:t>
            </a:r>
            <a:r>
              <a:rPr lang="en-US" sz="2000">
                <a:solidFill>
                  <a:srgbClr val="000000"/>
                </a:solidFill>
              </a:rPr>
              <a:t> del </a:t>
            </a:r>
            <a:r>
              <a:rPr lang="en-US" sz="2000" err="1">
                <a:solidFill>
                  <a:srgbClr val="000000"/>
                </a:solidFill>
              </a:rPr>
              <a:t>contexto</a:t>
            </a:r>
            <a:r>
              <a:rPr lang="en-US" sz="2000">
                <a:solidFill>
                  <a:srgbClr val="000000"/>
                </a:solidFill>
              </a:rPr>
              <a:t> de </a:t>
            </a:r>
            <a:r>
              <a:rPr lang="en-US" sz="2000" err="1">
                <a:solidFill>
                  <a:srgbClr val="000000"/>
                </a:solidFill>
              </a:rPr>
              <a:t>filtro</a:t>
            </a:r>
            <a:r>
              <a:rPr lang="en-US" sz="2000">
                <a:solidFill>
                  <a:srgbClr val="000000"/>
                </a:solidFill>
              </a:rPr>
              <a:t>.</a:t>
            </a:r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No se </a:t>
            </a:r>
            <a:r>
              <a:rPr lang="en-US" sz="2000" err="1">
                <a:solidFill>
                  <a:srgbClr val="000000"/>
                </a:solidFill>
              </a:rPr>
              <a:t>almacena</a:t>
            </a:r>
            <a:r>
              <a:rPr lang="en-US" sz="2000">
                <a:solidFill>
                  <a:srgbClr val="000000"/>
                </a:solidFill>
              </a:rPr>
              <a:t>, se </a:t>
            </a:r>
            <a:r>
              <a:rPr lang="en-US" sz="2000" err="1">
                <a:solidFill>
                  <a:srgbClr val="000000"/>
                </a:solidFill>
              </a:rPr>
              <a:t>calcula</a:t>
            </a:r>
            <a:r>
              <a:rPr lang="en-US" sz="2000">
                <a:solidFill>
                  <a:srgbClr val="000000"/>
                </a:solidFill>
              </a:rPr>
              <a:t> al </a:t>
            </a:r>
            <a:r>
              <a:rPr lang="en-US" sz="2000" err="1">
                <a:solidFill>
                  <a:srgbClr val="000000"/>
                </a:solidFill>
              </a:rPr>
              <a:t>vuelo</a:t>
            </a:r>
            <a:r>
              <a:rPr lang="en-US" sz="2000">
                <a:solidFill>
                  <a:srgbClr val="000000"/>
                </a:solidFill>
              </a:rPr>
              <a:t>.</a:t>
            </a:r>
            <a:endParaRPr lang="en-US" sz="2000"/>
          </a:p>
          <a:p>
            <a:pPr marL="285750" indent="-285750">
              <a:buFont typeface="Calibri"/>
              <a:buChar char="-"/>
            </a:pPr>
            <a:r>
              <a:rPr lang="en-US" sz="2000">
                <a:solidFill>
                  <a:srgbClr val="000000"/>
                </a:solidFill>
              </a:rPr>
              <a:t>Se </a:t>
            </a:r>
            <a:r>
              <a:rPr lang="en-US" sz="2000" err="1">
                <a:solidFill>
                  <a:srgbClr val="000000"/>
                </a:solidFill>
              </a:rPr>
              <a:t>usa</a:t>
            </a:r>
            <a:r>
              <a:rPr lang="en-US" sz="2000">
                <a:solidFill>
                  <a:srgbClr val="000000"/>
                </a:solidFill>
              </a:rPr>
              <a:t> para KPIs, </a:t>
            </a:r>
            <a:r>
              <a:rPr lang="en-US" sz="2000" err="1">
                <a:solidFill>
                  <a:srgbClr val="000000"/>
                </a:solidFill>
              </a:rPr>
              <a:t>agregaciones</a:t>
            </a:r>
            <a:r>
              <a:rPr lang="en-US" sz="2000">
                <a:solidFill>
                  <a:srgbClr val="000000"/>
                </a:solidFill>
              </a:rPr>
              <a:t> y </a:t>
            </a:r>
            <a:r>
              <a:rPr lang="en-US" sz="2000" err="1">
                <a:solidFill>
                  <a:srgbClr val="000000"/>
                </a:solidFill>
              </a:rPr>
              <a:t>análisis</a:t>
            </a:r>
            <a:r>
              <a:rPr lang="en-US" sz="2000">
                <a:solidFill>
                  <a:srgbClr val="000000"/>
                </a:solidFill>
              </a:rPr>
              <a:t>.</a:t>
            </a:r>
            <a:endParaRPr lang="en-US" sz="2000"/>
          </a:p>
          <a:p>
            <a:pPr marL="285750" indent="-285750">
              <a:buFont typeface="Calibri"/>
              <a:buChar char="-"/>
            </a:pPr>
            <a:endParaRPr lang="en-US" sz="2000">
              <a:solidFill>
                <a:srgbClr val="000000"/>
              </a:solidFill>
            </a:endParaRPr>
          </a:p>
          <a:p>
            <a:pPr marL="285750" indent="-285750">
              <a:buFont typeface="Calibri"/>
              <a:buChar char="-"/>
            </a:pPr>
            <a:r>
              <a:rPr lang="en-US" sz="2000" err="1">
                <a:solidFill>
                  <a:srgbClr val="000000"/>
                </a:solidFill>
              </a:rPr>
              <a:t>Ejemplo</a:t>
            </a:r>
            <a:r>
              <a:rPr lang="en-US" sz="2000">
                <a:solidFill>
                  <a:srgbClr val="000000"/>
                </a:solidFill>
              </a:rPr>
              <a:t>:</a:t>
            </a:r>
          </a:p>
          <a:p>
            <a:pPr marL="285750" indent="-285750">
              <a:buFont typeface="Calibri"/>
              <a:buChar char="-"/>
            </a:pPr>
            <a:endParaRPr lang="en-US">
              <a:solidFill>
                <a:srgbClr val="000000"/>
              </a:solidFill>
            </a:endParaRPr>
          </a:p>
          <a:p>
            <a:pPr marL="285750" indent="-285750">
              <a:buFont typeface="Calibri"/>
              <a:buChar char="-"/>
            </a:pP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285750" indent="-285750">
              <a:buFont typeface="Calibri"/>
              <a:buChar char="-"/>
            </a:pPr>
            <a:endParaRPr lang="en-US">
              <a:solidFill>
                <a:srgbClr val="000000"/>
              </a:solidFill>
              <a:ea typeface="+mn-lt"/>
              <a:cs typeface="+mn-lt"/>
            </a:endParaRPr>
          </a:p>
          <a:p>
            <a:pPr marL="342900" indent="-342900">
              <a:buFont typeface="Calibri"/>
              <a:buChar char="-"/>
            </a:pPr>
            <a:endParaRPr lang="en-US" sz="1600">
              <a:solidFill>
                <a:srgbClr val="42424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1600">
              <a:solidFill>
                <a:srgbClr val="424242"/>
              </a:solidFill>
            </a:endParaRPr>
          </a:p>
          <a:p>
            <a:pPr marL="342900" indent="-342900">
              <a:buFont typeface="Calibri"/>
              <a:buChar char="-"/>
            </a:pPr>
            <a:r>
              <a:rPr lang="en-US" sz="2000" err="1">
                <a:solidFill>
                  <a:srgbClr val="424242"/>
                </a:solidFill>
              </a:rPr>
              <a:t>Útil</a:t>
            </a:r>
            <a:r>
              <a:rPr lang="en-US" sz="2000">
                <a:solidFill>
                  <a:srgbClr val="424242"/>
                </a:solidFill>
              </a:rPr>
              <a:t> para </a:t>
            </a:r>
            <a:r>
              <a:rPr lang="en-US" sz="2000" err="1">
                <a:solidFill>
                  <a:srgbClr val="424242"/>
                </a:solidFill>
              </a:rPr>
              <a:t>mostrar</a:t>
            </a:r>
            <a:r>
              <a:rPr lang="en-US" sz="2000">
                <a:solidFill>
                  <a:srgbClr val="424242"/>
                </a:solidFill>
              </a:rPr>
              <a:t> </a:t>
            </a:r>
            <a:r>
              <a:rPr lang="en-US" sz="2000" b="1" err="1">
                <a:solidFill>
                  <a:srgbClr val="424242"/>
                </a:solidFill>
              </a:rPr>
              <a:t>resultados</a:t>
            </a:r>
            <a:r>
              <a:rPr lang="en-US" sz="2000" b="1">
                <a:solidFill>
                  <a:srgbClr val="424242"/>
                </a:solidFill>
              </a:rPr>
              <a:t> </a:t>
            </a:r>
            <a:r>
              <a:rPr lang="en-US" sz="2000" b="1" err="1">
                <a:solidFill>
                  <a:srgbClr val="424242"/>
                </a:solidFill>
              </a:rPr>
              <a:t>en</a:t>
            </a:r>
            <a:r>
              <a:rPr lang="en-US" sz="2000" b="1">
                <a:solidFill>
                  <a:srgbClr val="424242"/>
                </a:solidFill>
              </a:rPr>
              <a:t> </a:t>
            </a:r>
            <a:r>
              <a:rPr lang="en-US" sz="2000" b="1" err="1">
                <a:solidFill>
                  <a:srgbClr val="424242"/>
                </a:solidFill>
              </a:rPr>
              <a:t>tarjetas</a:t>
            </a:r>
            <a:r>
              <a:rPr lang="en-US" sz="2000" b="1">
                <a:solidFill>
                  <a:srgbClr val="424242"/>
                </a:solidFill>
              </a:rPr>
              <a:t>, </a:t>
            </a:r>
            <a:r>
              <a:rPr lang="en-US" sz="2000" b="1" err="1">
                <a:solidFill>
                  <a:srgbClr val="424242"/>
                </a:solidFill>
              </a:rPr>
              <a:t>gráficos</a:t>
            </a:r>
            <a:r>
              <a:rPr lang="en-US" sz="2000" b="1">
                <a:solidFill>
                  <a:srgbClr val="424242"/>
                </a:solidFill>
              </a:rPr>
              <a:t>, </a:t>
            </a:r>
            <a:r>
              <a:rPr lang="en-US" sz="2000" b="1" err="1">
                <a:solidFill>
                  <a:srgbClr val="424242"/>
                </a:solidFill>
              </a:rPr>
              <a:t>tablas</a:t>
            </a:r>
            <a:r>
              <a:rPr lang="en-US" sz="2000" b="1">
                <a:solidFill>
                  <a:srgbClr val="424242"/>
                </a:solidFill>
              </a:rPr>
              <a:t> </a:t>
            </a:r>
            <a:r>
              <a:rPr lang="en-US" sz="2000" b="1" err="1">
                <a:solidFill>
                  <a:srgbClr val="424242"/>
                </a:solidFill>
              </a:rPr>
              <a:t>dinámicas</a:t>
            </a:r>
            <a:r>
              <a:rPr lang="en-US" sz="2000">
                <a:solidFill>
                  <a:srgbClr val="424242"/>
                </a:solidFill>
              </a:rPr>
              <a:t>.</a:t>
            </a:r>
            <a:endParaRPr lang="en-US" sz="2000"/>
          </a:p>
          <a:p>
            <a:pPr marL="342900" indent="-342900">
              <a:buFont typeface="Calibri"/>
              <a:buChar char="-"/>
            </a:pPr>
            <a:endParaRPr lang="en-US">
              <a:solidFill>
                <a:srgbClr val="424242"/>
              </a:solidFill>
            </a:endParaRPr>
          </a:p>
          <a:p>
            <a:pPr marL="342900" indent="-342900">
              <a:buFont typeface="Calibri"/>
              <a:buChar char="-"/>
            </a:pPr>
            <a:endParaRPr lang="en-US" sz="2000">
              <a:solidFill>
                <a:srgbClr val="FF0000"/>
              </a:solidFill>
              <a:ea typeface="+mn-lt"/>
              <a:cs typeface="+mn-lt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2174F9-0C73-650B-F53F-0E2D83B834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472" y="3997883"/>
            <a:ext cx="5324732" cy="1175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42077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43824-EDF5-E3E2-9C1B-1D0842A5A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80C6DD0-A814-17CD-28BB-AAFBAE98B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05383"/>
            <a:ext cx="11155680" cy="691642"/>
          </a:xfrm>
        </p:spPr>
        <p:txBody>
          <a:bodyPr>
            <a:normAutofit/>
          </a:bodyPr>
          <a:lstStyle/>
          <a:p>
            <a:r>
              <a:rPr lang="es-ES" sz="3200"/>
              <a:t>06 – PUBLICACION DE DATOS</a:t>
            </a:r>
            <a:endParaRPr lang="es-ES" sz="3200" b="0"/>
          </a:p>
          <a:p>
            <a:endParaRPr lang="es-ES" sz="3200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58113AEC-5DE4-06D7-696A-47CFEF57AC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1208" y="1743075"/>
            <a:ext cx="11155680" cy="4602861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buNone/>
            </a:pPr>
            <a:r>
              <a:rPr lang="es-ES" sz="2400" b="1">
                <a:solidFill>
                  <a:srgbClr val="424242"/>
                </a:solidFill>
              </a:rPr>
              <a:t>PASOS PARA PUBLICAR UN INFORME EN POWER BI SERVICE </a:t>
            </a:r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Haz clic en </a:t>
            </a:r>
            <a:r>
              <a:rPr lang="es-ES" sz="1600" b="1">
                <a:solidFill>
                  <a:srgbClr val="424242"/>
                </a:solidFill>
                <a:ea typeface="+mn-lt"/>
                <a:cs typeface="+mn-lt"/>
              </a:rPr>
              <a:t>“Publicar”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 en la cinta de opciones.</a:t>
            </a:r>
            <a:endParaRPr lang="es-ES" sz="1600">
              <a:solidFill>
                <a:srgbClr val="000000"/>
              </a:solidFill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Inicia sesión con tu cuenta de </a:t>
            </a:r>
            <a:r>
              <a:rPr lang="es-ES" sz="1600" err="1">
                <a:solidFill>
                  <a:srgbClr val="424242"/>
                </a:solidFill>
                <a:ea typeface="+mn-lt"/>
                <a:cs typeface="+mn-lt"/>
              </a:rPr>
              <a:t>Power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 BI (Microsoft 365).</a:t>
            </a:r>
            <a:endParaRPr lang="es-ES" sz="1600"/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Selecciona el </a:t>
            </a:r>
            <a:r>
              <a:rPr lang="es-ES" sz="1600" b="1" err="1">
                <a:solidFill>
                  <a:srgbClr val="424242"/>
                </a:solidFill>
                <a:ea typeface="+mn-lt"/>
                <a:cs typeface="+mn-lt"/>
              </a:rPr>
              <a:t>workspace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 (espacio de trabajo) de destino.</a:t>
            </a:r>
            <a:endParaRPr lang="es-ES" sz="1600">
              <a:ea typeface="+mn-lt"/>
              <a:cs typeface="+mn-lt"/>
            </a:endParaRPr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Espera la confirmación de que el informe fue publicado correctamente.</a:t>
            </a:r>
            <a:endParaRPr lang="es-ES" sz="1600">
              <a:ea typeface="+mn-lt"/>
              <a:cs typeface="+mn-lt"/>
            </a:endParaRPr>
          </a:p>
          <a:p>
            <a:pPr marL="0" indent="0">
              <a:buNone/>
            </a:pPr>
            <a:r>
              <a:rPr lang="es-ES" sz="2400" b="1">
                <a:solidFill>
                  <a:srgbClr val="424242"/>
                </a:solidFill>
              </a:rPr>
              <a:t>ESPACIOS DE TRABAJO</a:t>
            </a:r>
            <a:endParaRPr lang="es-ES" sz="2400"/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Son contenedores colaborativos donde se almacenan informes, </a:t>
            </a:r>
            <a:r>
              <a:rPr lang="es-ES" sz="1600" err="1">
                <a:solidFill>
                  <a:srgbClr val="424242"/>
                </a:solidFill>
                <a:ea typeface="+mn-lt"/>
                <a:cs typeface="+mn-lt"/>
              </a:rPr>
              <a:t>datasets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 y </a:t>
            </a:r>
            <a:r>
              <a:rPr lang="es-ES" sz="1600" err="1">
                <a:solidFill>
                  <a:srgbClr val="424242"/>
                </a:solidFill>
                <a:ea typeface="+mn-lt"/>
                <a:cs typeface="+mn-lt"/>
              </a:rPr>
              <a:t>dashboards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.</a:t>
            </a:r>
            <a:endParaRPr lang="es-ES" sz="1600"/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Puedes tener </a:t>
            </a:r>
            <a:r>
              <a:rPr lang="es-ES" sz="1600" err="1">
                <a:solidFill>
                  <a:srgbClr val="424242"/>
                </a:solidFill>
                <a:ea typeface="+mn-lt"/>
                <a:cs typeface="+mn-lt"/>
              </a:rPr>
              <a:t>workspaces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 personales (Mi área de trabajo) o compartidos con equipos.</a:t>
            </a:r>
            <a:endParaRPr lang="es-ES" sz="1600"/>
          </a:p>
          <a:p>
            <a:pPr>
              <a:buFont typeface="Arial"/>
              <a:buChar char="•"/>
            </a:pP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En los </a:t>
            </a:r>
            <a:r>
              <a:rPr lang="es-ES" sz="1600" err="1">
                <a:solidFill>
                  <a:srgbClr val="424242"/>
                </a:solidFill>
                <a:ea typeface="+mn-lt"/>
                <a:cs typeface="+mn-lt"/>
              </a:rPr>
              <a:t>workspaces</a:t>
            </a:r>
            <a:r>
              <a:rPr lang="es-ES" sz="1600">
                <a:solidFill>
                  <a:srgbClr val="424242"/>
                </a:solidFill>
                <a:ea typeface="+mn-lt"/>
                <a:cs typeface="+mn-lt"/>
              </a:rPr>
              <a:t> puedes:</a:t>
            </a:r>
            <a:endParaRPr lang="es-ES" sz="1600"/>
          </a:p>
          <a:p>
            <a:pPr marL="971550" lvl="1" indent="-285750">
              <a:buFont typeface="Arial"/>
              <a:buChar char="•"/>
            </a:pPr>
            <a:r>
              <a:rPr lang="es-ES">
                <a:solidFill>
                  <a:srgbClr val="424242"/>
                </a:solidFill>
                <a:ea typeface="+mn-lt"/>
                <a:cs typeface="+mn-lt"/>
              </a:rPr>
              <a:t>Asignar roles (lector, colaborador, administrador).</a:t>
            </a:r>
            <a:endParaRPr lang="es-ES"/>
          </a:p>
          <a:p>
            <a:pPr marL="971550" lvl="1" indent="-285750">
              <a:buFont typeface="Arial"/>
              <a:buChar char="•"/>
            </a:pPr>
            <a:r>
              <a:rPr lang="es-ES">
                <a:solidFill>
                  <a:srgbClr val="424242"/>
                </a:solidFill>
                <a:ea typeface="+mn-lt"/>
                <a:cs typeface="+mn-lt"/>
              </a:rPr>
              <a:t>Publicar aplicaciones (apps) para distribuir contenido a usuarios finales.</a:t>
            </a:r>
            <a:endParaRPr lang="es-ES"/>
          </a:p>
          <a:p>
            <a:pPr>
              <a:buNone/>
            </a:pPr>
            <a:endParaRPr lang="es-ES" sz="1500" b="1">
              <a:solidFill>
                <a:srgbClr val="424242"/>
              </a:solidFill>
            </a:endParaRPr>
          </a:p>
          <a:p>
            <a:pPr marL="0" indent="0">
              <a:buNone/>
            </a:pPr>
            <a:endParaRPr lang="es-ES" sz="2000" b="1"/>
          </a:p>
          <a:p>
            <a:pPr marL="0" indent="0">
              <a:buNone/>
            </a:pPr>
            <a:endParaRPr lang="es-ES" sz="1200">
              <a:solidFill>
                <a:srgbClr val="424242"/>
              </a:solidFill>
            </a:endParaRPr>
          </a:p>
          <a:p>
            <a:pPr marL="0" indent="0">
              <a:buNone/>
            </a:pPr>
            <a:endParaRPr lang="es-ES" sz="1600" b="1"/>
          </a:p>
        </p:txBody>
      </p:sp>
      <p:pic>
        <p:nvPicPr>
          <p:cNvPr id="3" name="Picture 2" descr="Syncing Generic color lineal-color icon">
            <a:extLst>
              <a:ext uri="{FF2B5EF4-FFF2-40B4-BE49-F238E27FC236}">
                <a16:creationId xmlns:a16="http://schemas.microsoft.com/office/drawing/2014/main" id="{9ED73F81-9D28-0831-667C-714D4F254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292" y="3139108"/>
            <a:ext cx="2246244" cy="2246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9097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9DB688F-F859-1C2B-58E0-EDD7EE662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FDD15A61-C581-6E4C-6AA8-33EEE4D21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84EFD0B3-C29B-0C9C-928C-EC92F6F008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4EF41F90-8949-B6EE-4BCE-BC8F93C59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Gráficas financieras en una pantalla oscura">
            <a:extLst>
              <a:ext uri="{FF2B5EF4-FFF2-40B4-BE49-F238E27FC236}">
                <a16:creationId xmlns:a16="http://schemas.microsoft.com/office/drawing/2014/main" id="{734D2574-0F3B-4129-A978-35DE37A3FCD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77" r="6" b="6"/>
          <a:stretch/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4D64112F-4BDF-CB8E-7CC3-25642E7B94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CA2450-7249-A2E2-449E-8406CE885F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1368478"/>
            <a:ext cx="11086221" cy="330951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6600"/>
              <a:t>CASOS PRÁCTICOS</a:t>
            </a:r>
            <a:br>
              <a:rPr lang="en-US" sz="6600"/>
            </a:br>
            <a:endParaRPr lang="en-US" sz="5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EE85EF1-2C30-89AD-CA90-39E4A3842E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47307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3DD61B-47F0-F1F1-F25A-E99C9E72F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BCE79-3B16-6368-2309-C719A357E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CEAFAE5-8FF0-218F-79B2-DE8BC60C13C9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490BF4-510A-59EE-2163-003044E82DCC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01 - VENTAS Y RENTABILIDAD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BDA6A153-D850-D940-60A7-BAC3E9014D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5785125"/>
              </p:ext>
            </p:extLst>
          </p:nvPr>
        </p:nvGraphicFramePr>
        <p:xfrm>
          <a:off x="709192" y="2627376"/>
          <a:ext cx="11058877" cy="28346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u="none" strike="noStrike" baseline="0" noProof="0" err="1">
                          <a:solidFill>
                            <a:srgbClr val="000000"/>
                          </a:solidFill>
                        </a:rPr>
                        <a:t>Analizar</a:t>
                      </a:r>
                      <a:r>
                        <a:rPr lang="en-US" sz="1800" b="0" u="none" strike="noStrike" baseline="0" noProof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800" b="0" u="none" strike="noStrike" baseline="0" noProof="0" err="1">
                          <a:solidFill>
                            <a:srgbClr val="000000"/>
                          </a:solidFill>
                        </a:rPr>
                        <a:t>ingresos</a:t>
                      </a:r>
                      <a:r>
                        <a:rPr lang="en-US" sz="1800" b="0" u="none" strike="noStrike" baseline="0" noProof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en-US" sz="1800" b="0" u="none" strike="noStrike" baseline="0" noProof="0" err="1">
                          <a:solidFill>
                            <a:srgbClr val="000000"/>
                          </a:solidFill>
                        </a:rPr>
                        <a:t>márgenes</a:t>
                      </a:r>
                      <a:r>
                        <a:rPr lang="en-US" sz="1800" b="0" u="none" strike="noStrike" baseline="0" noProof="0">
                          <a:solidFill>
                            <a:srgbClr val="000000"/>
                          </a:solidFill>
                        </a:rPr>
                        <a:t> y </a:t>
                      </a:r>
                      <a:r>
                        <a:rPr lang="en-US" sz="1800" b="0" u="none" strike="noStrike" baseline="0" noProof="0" err="1">
                          <a:solidFill>
                            <a:srgbClr val="000000"/>
                          </a:solidFill>
                        </a:rPr>
                        <a:t>tendencias</a:t>
                      </a:r>
                      <a:r>
                        <a:rPr lang="en-US" sz="1800" b="0" u="none" strike="noStrike" baseline="0" noProof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800" b="0" u="none" strike="noStrike" baseline="0" noProof="0" err="1">
                          <a:solidFill>
                            <a:srgbClr val="000000"/>
                          </a:solidFill>
                        </a:rPr>
                        <a:t>ventas</a:t>
                      </a:r>
                      <a:r>
                        <a:rPr lang="en-US" sz="1800" b="0" u="none" strike="noStrike" baseline="0" noProof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en-US" sz="1800" b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/>
                        <a:t>ERP, CRM, BBDD Ventas, Hojas Excel.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err="1"/>
                        <a:t>Conversión</a:t>
                      </a:r>
                      <a:r>
                        <a:rPr lang="en-US" sz="1800"/>
                        <a:t> de </a:t>
                      </a:r>
                      <a:r>
                        <a:rPr lang="en-US" sz="1800" err="1"/>
                        <a:t>Monedas</a:t>
                      </a:r>
                      <a:r>
                        <a:rPr lang="en-US" sz="1800"/>
                        <a:t>, </a:t>
                      </a:r>
                      <a:r>
                        <a:rPr lang="en-US" sz="1800" err="1"/>
                        <a:t>Cálculo</a:t>
                      </a:r>
                      <a:r>
                        <a:rPr lang="en-US" sz="1800"/>
                        <a:t> de </a:t>
                      </a:r>
                      <a:r>
                        <a:rPr lang="en-US" sz="1800" err="1"/>
                        <a:t>márgenes</a:t>
                      </a:r>
                      <a:r>
                        <a:rPr lang="en-US" sz="1800"/>
                        <a:t>, </a:t>
                      </a:r>
                      <a:r>
                        <a:rPr lang="en-US" sz="1800" err="1"/>
                        <a:t>limpieza</a:t>
                      </a:r>
                      <a:r>
                        <a:rPr lang="en-US" sz="1800"/>
                        <a:t> de </a:t>
                      </a:r>
                      <a:r>
                        <a:rPr lang="en-US" sz="1800" err="1"/>
                        <a:t>fechas</a:t>
                      </a:r>
                      <a:r>
                        <a:rPr lang="en-US" sz="180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Modelo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estrella con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tabla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hechos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ventas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y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dimensiones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productos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clientes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fechas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Gráficos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de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columnas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líneas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,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tarjetas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de KPIs,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segmentadores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por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región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 o </a:t>
                      </a:r>
                      <a:r>
                        <a:rPr lang="en-US" sz="1800" u="none" strike="noStrike" baseline="0" noProof="0" err="1">
                          <a:solidFill>
                            <a:srgbClr val="000000"/>
                          </a:solidFill>
                        </a:rPr>
                        <a:t>producto</a:t>
                      </a:r>
                      <a:r>
                        <a:rPr lang="en-US" sz="1800" u="none" strike="noStrike" baseline="0" noProof="0">
                          <a:solidFill>
                            <a:srgbClr val="000000"/>
                          </a:solidFill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658765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5B3A0-702F-DEB5-A762-D82E05B318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F3EFE7-1FBD-A328-4581-6C69179A48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10E297A-9B5C-2F84-BEC4-84DF8B08E452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DDA2025-CF4E-9504-0A11-4970923E974B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01 - VENTAS Y RENTABILIDAD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ABB497C-BC0C-7740-C055-E4084B6A3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4637811"/>
              </p:ext>
            </p:extLst>
          </p:nvPr>
        </p:nvGraphicFramePr>
        <p:xfrm>
          <a:off x="709192" y="2627376"/>
          <a:ext cx="11058877" cy="103632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FILTROS Y SEGMENTACIONES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Incluir filtros por: tiempo, categoría, cliente o canal de ventas.</a:t>
                      </a:r>
                    </a:p>
                    <a:p>
                      <a:pPr lvl="0">
                        <a:buNone/>
                      </a:pPr>
                      <a:endParaRPr lang="en-US" sz="1800" b="0" u="none" strike="noStrike" baseline="0" noProof="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INDICADORES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Ingresos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margen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bruto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rentabilidad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neta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crecimiento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etc.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870847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A836DE-9340-6B35-7EBC-2B793A7A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1EFEE-5006-9FF2-BBEC-1632C45F48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87E16F1-E530-9AA9-0D83-A4CBBC61C514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00FB07-6C58-0A59-ACB7-C80D215F646D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01 - VENTAS Y RENTABILIDAD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7768A67-43EB-53A9-63B1-9A8199727F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73840609"/>
              </p:ext>
            </p:extLst>
          </p:nvPr>
        </p:nvGraphicFramePr>
        <p:xfrm>
          <a:off x="709192" y="2627376"/>
          <a:ext cx="11058877" cy="256032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01 - Ventas totales </a:t>
                      </a: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Ventas Totales = SUM(Ventas[</a:t>
                      </a:r>
                      <a:r>
                        <a:rPr lang="es-ES" sz="18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TotalVentas</a:t>
                      </a: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02 – Coste total</a:t>
                      </a: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Coste Total = SUM(Ventas[Coste])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03 – Ganancia Bruta</a:t>
                      </a: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04 – Margen bruto</a:t>
                      </a: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05 – Rentabilidad por producto</a:t>
                      </a: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>
                        <a:buNone/>
                      </a:pPr>
                      <a:endParaRPr lang="en-US" sz="1800" b="0" u="none" strike="noStrike" baseline="0" noProof="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125486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347D97-8BB9-7919-8230-9C4D0D79D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050B9B-2ACC-6106-27EB-D10B4DB3A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83A06A5-66B1-9D7B-0EBC-808B4922863C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705EB5-9B35-B6BC-2753-F6A304C54F2F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02 - RECURSOS HUMANOS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3341437-F3C3-698F-9E3E-5848ADB246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94140490"/>
              </p:ext>
            </p:extLst>
          </p:nvPr>
        </p:nvGraphicFramePr>
        <p:xfrm>
          <a:off x="709192" y="2627376"/>
          <a:ext cx="11058877" cy="28346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Monitorear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plantilla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ausencias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desempeño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Sistemas de RRHH,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nóminas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encuestas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clima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laboral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Normalización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cargos,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cálculo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antigüedad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limpieza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duplicados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Modelo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hechos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empleados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dimensiones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departamentos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ubicaciones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Gráficos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barras, matrices,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indicadores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segmentadores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género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área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8996899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1BC8-67E8-E6ED-5DDF-581046F141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963DA-79DE-17C6-65BC-415B3A744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992EC05-5F79-DBED-7CA1-57BBB6935089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B10953-39AB-E9AA-BC9C-5C271A771305}"/>
              </a:ext>
            </a:extLst>
          </p:cNvPr>
          <p:cNvSpPr txBox="1"/>
          <p:nvPr/>
        </p:nvSpPr>
        <p:spPr>
          <a:xfrm>
            <a:off x="525863" y="1712897"/>
            <a:ext cx="11142018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02 - RECURSOS HUMANOS</a:t>
            </a:r>
            <a:endParaRPr lang="en-US" sz="3200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A17361B-BFE2-BF16-81A1-170188AA3A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5817814"/>
              </p:ext>
            </p:extLst>
          </p:nvPr>
        </p:nvGraphicFramePr>
        <p:xfrm>
          <a:off x="709192" y="2627376"/>
          <a:ext cx="11058877" cy="2651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FILTROS Y SEGMENTACIONES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Por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ejemplo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género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antigüedad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departamento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ubicación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geográfica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 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INDICADORES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Tasa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endParaRPr lang="en-US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Promedio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antigüedad</a:t>
                      </a:r>
                      <a:endParaRPr lang="en-US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Coste medio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empleado</a:t>
                      </a:r>
                      <a:endParaRPr lang="en-US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Distribución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género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edad</a:t>
                      </a:r>
                      <a:endParaRPr lang="en-US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Vacantes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abiertas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vs.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cubiertas</a:t>
                      </a:r>
                      <a:endParaRPr lang="en-US" err="1"/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355103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96806-26E5-D38E-0F3A-73760B527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A1982-B969-EF2B-776A-81F71A14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9AB76EF-817F-6C4C-F305-4CBA4E4153AD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EC1AD-BA57-91EF-E425-57C3C9A32139}"/>
              </a:ext>
            </a:extLst>
          </p:cNvPr>
          <p:cNvSpPr txBox="1"/>
          <p:nvPr/>
        </p:nvSpPr>
        <p:spPr>
          <a:xfrm>
            <a:off x="525863" y="1712897"/>
            <a:ext cx="11142018" cy="286232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02 - RECURSOS HUMANOS</a:t>
            </a:r>
            <a:endParaRPr lang="en-US" sz="3200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32BC6B7-2981-3A7C-7208-8D1645FA77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2779105"/>
              </p:ext>
            </p:extLst>
          </p:nvPr>
        </p:nvGraphicFramePr>
        <p:xfrm>
          <a:off x="709192" y="2627376"/>
          <a:ext cx="11058877" cy="31089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– Empleados antiguos</a:t>
                      </a: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</a:rPr>
                        <a:t>Empleados Activos = CALCULATE(COUNT(Empleado[</a:t>
                      </a:r>
                      <a:r>
                        <a:rPr lang="es-ES" sz="1800" b="0" i="0" u="none" strike="noStrike" baseline="0" noProof="0" err="1">
                          <a:solidFill>
                            <a:srgbClr val="000000"/>
                          </a:solidFill>
                        </a:rPr>
                        <a:t>IDEmpleado</a:t>
                      </a: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</a:rPr>
                        <a:t>]), Empleado[Estado] = "Activo")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02 - Antigüedad promedio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Antigüedad Promedio = AVERAGE(Empleado[</a:t>
                      </a:r>
                      <a:r>
                        <a:rPr lang="es-ES" sz="18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AñosAntiguedad</a:t>
                      </a: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</a:t>
                      </a:r>
                      <a:endParaRPr lang="es-ES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03 – Tasas de rotación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04 -  Promedio Salarial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05 - Distribución de Género</a:t>
                      </a: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>
                        <a:buNone/>
                      </a:pPr>
                      <a:endParaRPr lang="en-US" sz="1800" b="0" u="none" strike="noStrike" baseline="0" noProof="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449320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79EB2-4C8E-AA7F-74DD-ADB3F1A7D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5A9278-9910-410C-9876-DCE21C4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DC71-B2BF-D460-8B6D-FFAB5C2931F0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3A6A44-BE67-D12B-F02D-237E40D3244A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03 - INVENTARIO Y STOCK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E034815-BCC9-3635-8686-FF5029715279}"/>
              </a:ext>
            </a:extLst>
          </p:cNvPr>
          <p:cNvGraphicFramePr>
            <a:graphicFrameLocks noGrp="1"/>
          </p:cNvGraphicFramePr>
          <p:nvPr/>
        </p:nvGraphicFramePr>
        <p:xfrm>
          <a:off x="709192" y="2627376"/>
          <a:ext cx="11058877" cy="28956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Controlar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niveles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stock,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abastecimiento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ERP,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sistemas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almacén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hojas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inventario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Cálculo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stock disponible,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clasificación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ABC,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detección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faltantes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Modelo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hechos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movimientos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inventario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almacenes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Gráficos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columnas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tarjetas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stock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mínimo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mapas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almacén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segmentadores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categoría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2344449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2C3DDA-BA43-6B27-66A8-612066900B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E711A9-A31D-85E0-0F36-2BEE6DE88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A75B556-6894-4894-47D1-21A15ECF8B4E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7698D77-61A8-14C8-A89A-CEA8F89B009A}"/>
              </a:ext>
            </a:extLst>
          </p:cNvPr>
          <p:cNvSpPr txBox="1"/>
          <p:nvPr/>
        </p:nvSpPr>
        <p:spPr>
          <a:xfrm>
            <a:off x="525863" y="1712897"/>
            <a:ext cx="11142018" cy="335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03 - INVENTARIO Y STOCK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1B374F8-CA38-E14C-579D-BE9EAA54869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4203086"/>
              </p:ext>
            </p:extLst>
          </p:nvPr>
        </p:nvGraphicFramePr>
        <p:xfrm>
          <a:off x="709192" y="2627376"/>
          <a:ext cx="11058877" cy="2651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FILTROS Y SEGMENTACIONES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Control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ubicación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Si se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tiene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múltiples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almacenes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puntos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distribución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añade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esta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para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análisis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más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detallados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INDICADORES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Definir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Stock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mínimo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Óptimo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 para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alertar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sobre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roturas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stock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exceso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inventario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 </a:t>
                      </a:r>
                      <a:endParaRPr lang="en-US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antigüedad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del stock: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Importante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para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evitar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obsoletos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con baja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 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918474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3CB1-139F-777A-C913-17088B382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ED5CF0-450E-64C8-0DF7-308E7E616E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CAFAB63-512C-17A2-B7BC-BBA9ECE19454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762581E-32D4-8722-673F-0693DAC600F0}"/>
              </a:ext>
            </a:extLst>
          </p:cNvPr>
          <p:cNvSpPr txBox="1"/>
          <p:nvPr/>
        </p:nvSpPr>
        <p:spPr>
          <a:xfrm>
            <a:off x="525863" y="1712897"/>
            <a:ext cx="11142018" cy="33547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03 - INVENTARIO Y STOCK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BCADBB4-4932-3F87-EE6A-913CC6B416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0703166"/>
              </p:ext>
            </p:extLst>
          </p:nvPr>
        </p:nvGraphicFramePr>
        <p:xfrm>
          <a:off x="709192" y="2627376"/>
          <a:ext cx="11058877" cy="36576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– Stock Actual</a:t>
                      </a:r>
                      <a:endParaRPr lang="en-US"/>
                    </a:p>
                    <a:p>
                      <a:pPr lvl="0"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Stock Actual = CALCULATE( SUM(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Movimientos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[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Cantidad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]),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Movimientos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[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TipoMovimiento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 = "Entrada" ) - CALCULATE( SUM(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Movimientos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[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Cantidad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]),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Movimientos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[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TipoMovimiento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 = "Salida" ) 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02 - Valor de </a:t>
                      </a:r>
                      <a:r>
                        <a:rPr lang="en-US" sz="1800" b="1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Inventario</a:t>
                      </a:r>
                      <a:r>
                        <a:rPr lang="en-US" sz="18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(Costo): </a:t>
                      </a:r>
                      <a:endParaRPr lang="en-US" b="1"/>
                    </a:p>
                    <a:p>
                      <a:pPr lvl="0"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Valor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Inventario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= [Stock Actual] * AVERAGE(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DimProducto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[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CosteUnitario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]) 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03 - </a:t>
                      </a:r>
                      <a:r>
                        <a:rPr lang="en-US" sz="1800" b="1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1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inventario</a:t>
                      </a:r>
                      <a:endParaRPr lang="en-US" b="1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/>
                        <a:t>04 - Días de </a:t>
                      </a:r>
                      <a:r>
                        <a:rPr lang="en-US" err="1"/>
                        <a:t>cobertura</a:t>
                      </a:r>
                      <a:r>
                        <a:rPr lang="en-US"/>
                        <a:t> (stock </a:t>
                      </a:r>
                      <a:r>
                        <a:rPr lang="en-US" err="1"/>
                        <a:t>futuro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estimado</a:t>
                      </a:r>
                      <a:r>
                        <a:rPr lang="en-US"/>
                        <a:t>)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/>
                        <a:t>05 - </a:t>
                      </a:r>
                      <a:r>
                        <a:rPr lang="en-US" sz="1800" b="1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Alertas</a:t>
                      </a:r>
                      <a:r>
                        <a:rPr lang="en-US" sz="18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stock bajo 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085241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71B3E2-0845-FF08-8BF8-EE9EB3ED8B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B3D0A-19E0-88EE-CDBB-023658C511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34B9FF5-74D1-EDD6-B68D-17A5AF890637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FB7DB0-2FA4-5D4A-39F9-514D9A9C1C3F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04 - DESEMPEÑO DE PRODUCTOS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2245A27-47F9-5E04-8E44-C923338D9D85}"/>
              </a:ext>
            </a:extLst>
          </p:cNvPr>
          <p:cNvGraphicFramePr>
            <a:graphicFrameLocks noGrp="1"/>
          </p:cNvGraphicFramePr>
          <p:nvPr/>
        </p:nvGraphicFramePr>
        <p:xfrm>
          <a:off x="709192" y="2627376"/>
          <a:ext cx="11058877" cy="32004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Evaluar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qué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tienen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mejor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rendimiento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ventas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rentabilidad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ERP, CRM,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catálogos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Cálculo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rentabilidad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agrupación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categoría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Modelo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hechos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ventas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regiones.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Gráficos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dispersión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rankings,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tarjetas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KPIs,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segmentadores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línea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134523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BDED76-BB5C-285C-F709-949EA059AE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29E27C-6B72-4986-C75A-2C544752E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4D98E0-897F-B511-7878-CAD518B3D1F8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1A38C2-5805-FCDA-B909-FE59ACC67C41}"/>
              </a:ext>
            </a:extLst>
          </p:cNvPr>
          <p:cNvSpPr txBox="1"/>
          <p:nvPr/>
        </p:nvSpPr>
        <p:spPr>
          <a:xfrm>
            <a:off x="525863" y="1712897"/>
            <a:ext cx="11142018" cy="3847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04 - DESEMPEÑO DE PRODUCTOS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AF0B2A64-C040-C2D4-83FB-93816EF747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6820127"/>
              </p:ext>
            </p:extLst>
          </p:nvPr>
        </p:nvGraphicFramePr>
        <p:xfrm>
          <a:off x="709192" y="2627376"/>
          <a:ext cx="11058877" cy="2651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FILTROS Y SEGMENTACIONES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Comparativos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periodos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anteriores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(YoY, MoM)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tendencias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Evaluar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si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se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quiere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medir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nivel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SKU, familia,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categoría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línea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INDICADORES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Definir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qué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es "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desempeño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": Para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algunos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productos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será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ventas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para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otros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margen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rotación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satisfacción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del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cliente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Identifica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KPI que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realmente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miden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valor. 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42946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3411DC-3F6C-EEDB-F5BE-AE47BB39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C4F83-DF6F-837E-3891-C1D025562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EF75DD0-181E-BD50-ECC0-7EB85EAA735F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9B3218-3155-22D7-B492-F08A57E0AD45}"/>
              </a:ext>
            </a:extLst>
          </p:cNvPr>
          <p:cNvSpPr txBox="1"/>
          <p:nvPr/>
        </p:nvSpPr>
        <p:spPr>
          <a:xfrm>
            <a:off x="525863" y="1712897"/>
            <a:ext cx="11142018" cy="384720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04 - DESEMPEÑO DE PRODUCTOS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7642669-CC2F-F179-5EC5-08F8DB31EA8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565356"/>
              </p:ext>
            </p:extLst>
          </p:nvPr>
        </p:nvGraphicFramePr>
        <p:xfrm>
          <a:off x="709192" y="2627376"/>
          <a:ext cx="11058877" cy="33832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01 - Ventas Totales: 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Ventas Totales = SUM(Ventas[Venta]) </a:t>
                      </a:r>
                      <a:endParaRPr lang="en-US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02 - Cantidad Vendida: 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Unidades Vendidas = SUM(Ventas[Cantidad]) </a:t>
                      </a:r>
                      <a:endParaRPr lang="en-US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03 - Costo Total: 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Coste Total = SUM(Ventas[Coste]) </a:t>
                      </a:r>
                      <a:endParaRPr lang="en-US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800" b="0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04 - Margen Bruto: 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05 - Rentabilidad por producto: 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06 - Participación en ventas totales (por producto): 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07- Ranking de productos más vendidos: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US" sz="1800" b="0" u="none" strike="noStrike" baseline="0" noProof="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069227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7937F6-BAC4-E7FF-9A5A-4D7266ABE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10CEF-9E36-E732-DA88-23737A1D75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4EA7D23-A6BD-035E-9D87-F9A817EB1B81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C63B6B-688B-91AC-A668-F1AA80792381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05 – MARKETING DIGITAL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83B7959-6914-B739-078A-28DFB46287A3}"/>
              </a:ext>
            </a:extLst>
          </p:cNvPr>
          <p:cNvGraphicFramePr>
            <a:graphicFrameLocks noGrp="1"/>
          </p:cNvGraphicFramePr>
          <p:nvPr/>
        </p:nvGraphicFramePr>
        <p:xfrm>
          <a:off x="709192" y="2627376"/>
          <a:ext cx="11058877" cy="32004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Medir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campañas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tráfico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web,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conversiones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ROI.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Google Analytics, redes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sociales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plataformas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email marketing.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Unificación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fuentes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cálculo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tasas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conversión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limpieza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URLs.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Modelo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hechos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campañas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canales,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audiencias.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Gráficos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líneas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embudos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conversión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tarjetas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KPIs,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segmentadores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canal.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174695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47A623-1FBA-8249-57B6-C5B56D120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63B099-4301-D401-50D8-53419770A6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386422F-9179-18B9-8920-38B5D56A7408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850FFE-D39E-074D-0C1C-6088A21DF1A6}"/>
              </a:ext>
            </a:extLst>
          </p:cNvPr>
          <p:cNvSpPr txBox="1"/>
          <p:nvPr/>
        </p:nvSpPr>
        <p:spPr>
          <a:xfrm>
            <a:off x="525863" y="1712897"/>
            <a:ext cx="11142018" cy="433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05 – MARKETING DIGITAL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8958B61-669E-394C-5600-19D7F937CC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2084963"/>
              </p:ext>
            </p:extLst>
          </p:nvPr>
        </p:nvGraphicFramePr>
        <p:xfrm>
          <a:off x="709192" y="2627376"/>
          <a:ext cx="11058877" cy="155448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INDICADORES 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Más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allá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comprobar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el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tráfico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es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necesario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comprobar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métricas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eficiencia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rentabilidad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(CPA, ROAS, CPL...).</a:t>
                      </a:r>
                      <a:endParaRPr lang="en-US"/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  <a:tr h="370838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GRANULARIDAD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Evaluar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si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el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análisis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será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campaña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anuncio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palabra clave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tipo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audiencia.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5427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75728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E7BB30-37AA-F40B-7AA2-D7CF4FB2D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F8F596-710F-5B76-CE22-31FF095214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465EB24-A06C-0A36-D8E5-EE1633AA01E7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E68A536-F142-AC34-6D19-F0B5994F67BE}"/>
              </a:ext>
            </a:extLst>
          </p:cNvPr>
          <p:cNvSpPr txBox="1"/>
          <p:nvPr/>
        </p:nvSpPr>
        <p:spPr>
          <a:xfrm>
            <a:off x="525863" y="1712897"/>
            <a:ext cx="11142018" cy="433965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05 – MARKETING DIGITAL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F3690B68-78FB-DAB0-49AA-6B92F84A16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21952857"/>
              </p:ext>
            </p:extLst>
          </p:nvPr>
        </p:nvGraphicFramePr>
        <p:xfrm>
          <a:off x="709192" y="2627376"/>
          <a:ext cx="11058877" cy="36576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– Clics Totales: 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 Total Clics = SUM(Marketing[Clics]) 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02 - Impresiones totales:  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Total Impresiones = SUM(Marketing[Impresiones]) 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03 - Tasa de Clics 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CTR (%) = DIVIDE([Total Clics], [Total Impresiones]) 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04 – Conversiones totales 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05 - Tasa de conversión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06 – Costo total invertido </a:t>
                      </a:r>
                      <a:endParaRPr lang="en-U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07 - CPA (Costo por Adquisición)</a:t>
                      </a:r>
                      <a:endParaRPr lang="es-ES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08 - ROAS (Retorno sobre gasto en publicidad): </a:t>
                      </a:r>
                      <a:endParaRPr lang="es-ES"/>
                    </a:p>
                    <a:p>
                      <a:pPr lvl="0">
                        <a:buNone/>
                      </a:pPr>
                      <a:endParaRPr lang="en-US" sz="1800" b="0" u="none" strike="noStrike" baseline="0" noProof="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772240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C1E8F8-00A9-0832-CC68-8158D455D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F7E2E-7BD4-0178-B94C-6137C6C36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9EECB89-CDE1-8EBE-BE2F-766F5825894C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232416-69AF-9D70-D8BB-5415CBAC9F1B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06 – ATENCIÓN AL CLIENTE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EBA41425-56B2-1FFC-C293-DB4E395DA13F}"/>
              </a:ext>
            </a:extLst>
          </p:cNvPr>
          <p:cNvGraphicFramePr>
            <a:graphicFrameLocks noGrp="1"/>
          </p:cNvGraphicFramePr>
          <p:nvPr/>
        </p:nvGraphicFramePr>
        <p:xfrm>
          <a:off x="709192" y="2627376"/>
          <a:ext cx="11058877" cy="32004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Analizar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tiempos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respuesta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satisfacción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volumen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tickets.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Sistemas de tickets,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encuestas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satisfacción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CRM.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Clasificación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tickets,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cálculo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tiempos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promedio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limpieza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texto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Modelo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hechos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interacciones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clientes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agentes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Gráficos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barras,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indicadores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SLA, matrices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satisfacción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segmentadores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canal.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099814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885B38-8470-F278-6945-5BFE95DA3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2B0B9-AB9C-28E8-A69A-F0B124B18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40D6FD8-326D-0E81-A124-E6B6E5B92501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2F5544-19DA-3E1A-97FA-DF4859F9A64B}"/>
              </a:ext>
            </a:extLst>
          </p:cNvPr>
          <p:cNvSpPr txBox="1"/>
          <p:nvPr/>
        </p:nvSpPr>
        <p:spPr>
          <a:xfrm>
            <a:off x="525863" y="1712897"/>
            <a:ext cx="11142018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06 – ATENCIÓN AL CLIENTE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4EC42C72-513A-660E-06A4-1F757F6E6A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2950362"/>
              </p:ext>
            </p:extLst>
          </p:nvPr>
        </p:nvGraphicFramePr>
        <p:xfrm>
          <a:off x="709192" y="2627376"/>
          <a:ext cx="11058877" cy="265176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CATEGORÍA ÚTILES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 algn="l">
                        <a:lnSpc>
                          <a:spcPct val="100000"/>
                        </a:lnSpc>
                        <a:buFont typeface="Calibri"/>
                        <a:buChar char="-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Tipo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solicitud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: consulta,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queja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reclamo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felicitación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endParaRPr lang="en-US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Calibri"/>
                        <a:buChar char="-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Canal: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teléfono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email, chat, redes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sociales</a:t>
                      </a:r>
                      <a:endParaRPr lang="en-US" err="1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Calibri"/>
                        <a:buChar char="-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Nivel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prioridad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urgencia</a:t>
                      </a:r>
                      <a:endParaRPr lang="en-US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TIEMPOS CLAVE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- Tiempo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primera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respuesta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endParaRPr lang="en-US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- Tiempo de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resolución</a:t>
                      </a:r>
                      <a:endParaRPr lang="en-US" err="1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Calibri"/>
                        <a:buChar char="-"/>
                      </a:pP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SLA 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cumplidos</a:t>
                      </a:r>
                      <a:r>
                        <a:rPr lang="en-US" sz="18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/</a:t>
                      </a:r>
                      <a:r>
                        <a:rPr lang="en-US" sz="18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incumplidos</a:t>
                      </a:r>
                      <a:endParaRPr lang="en-US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072970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098E-CE78-8858-D4FA-BBAAB198D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3238D-D472-90F4-B373-9336A26468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D63D7F8-4A90-DB12-E48C-967295CF36FF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0ADA42-B2AC-6894-9403-AC1AA00B4806}"/>
              </a:ext>
            </a:extLst>
          </p:cNvPr>
          <p:cNvSpPr txBox="1"/>
          <p:nvPr/>
        </p:nvSpPr>
        <p:spPr>
          <a:xfrm>
            <a:off x="525863" y="1712897"/>
            <a:ext cx="11142018" cy="483209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06 – ATENCIÓN AL CLIENTE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FA21420-698F-CD27-2BCD-551D80D952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0182079"/>
              </p:ext>
            </p:extLst>
          </p:nvPr>
        </p:nvGraphicFramePr>
        <p:xfrm>
          <a:off x="709192" y="2627376"/>
          <a:ext cx="11058877" cy="29870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– Total tickets atendidos</a:t>
                      </a:r>
                      <a:endParaRPr lang="en-U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Tickets Atendidos = COUNT(Tickets[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IDTicket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 </a:t>
                      </a:r>
                      <a:endParaRPr lang="es-ES" sz="1600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02 – Tiempo promedio de respuesta (en horas) 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Tiempo Respuesta 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Prom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 = AVERAGE(Tickets[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HorasPrimeraRespuesta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 </a:t>
                      </a:r>
                      <a:endParaRPr lang="es-ES" sz="1600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03 – Tiempo promedio de resolución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Tiempo Resolución 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Prom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 = AVERAGE(Tickets[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HorasResolucion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 </a:t>
                      </a:r>
                      <a:endParaRPr lang="es-ES" sz="1600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04 – SLA cumplido (%) 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05 – Satisfacción promedio ( CSAT) 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8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06 – Tickets abiertos por agente </a:t>
                      </a:r>
                      <a:endParaRPr lang="es-ES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Tickets por Agente = COUNT(Tickets[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IDTicket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 </a:t>
                      </a:r>
                      <a:endParaRPr lang="es-ES" sz="1600" b="0"/>
                    </a:p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s-ES" sz="1800" b="1" i="0" u="none" strike="noStrike" baseline="0" noProof="0">
                        <a:solidFill>
                          <a:srgbClr val="000000"/>
                        </a:solidFill>
                        <a:latin typeface="Apto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94949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B67DDB-6113-B35C-A790-79FDFC55F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2DE0C-9E34-AE56-C94A-F330B2DFD3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0AE214-3280-A25A-1D46-34A3662099C6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710A6-AA15-3560-F0CB-C93B8EC1A263}"/>
              </a:ext>
            </a:extLst>
          </p:cNvPr>
          <p:cNvSpPr txBox="1"/>
          <p:nvPr/>
        </p:nvSpPr>
        <p:spPr>
          <a:xfrm>
            <a:off x="525863" y="1712897"/>
            <a:ext cx="11142018" cy="236988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07 – SEGUIMIENTO DE PROYECTOS</a:t>
            </a:r>
            <a:endParaRPr lang="en-US" sz="32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812DFAD9-EE88-2241-8841-918AB3DAAD32}"/>
              </a:ext>
            </a:extLst>
          </p:cNvPr>
          <p:cNvGraphicFramePr>
            <a:graphicFrameLocks noGrp="1"/>
          </p:cNvGraphicFramePr>
          <p:nvPr/>
        </p:nvGraphicFramePr>
        <p:xfrm>
          <a:off x="709192" y="2627376"/>
          <a:ext cx="11058877" cy="320040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USO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Controlar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avances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tiempos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costos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desviaciones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ORÍGENES DE DATOS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Herramientas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gestión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proyectos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(MS Project, Jira, Trello), hojas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seguimiento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52580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TRANSFORMACIONES COMUNES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Cálculo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%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completado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diferencias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entre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planificado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real,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consolidación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tareas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068149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MODELADO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Modelo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con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hechos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tareas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y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dimensiones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proyectos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responsables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848950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2000" b="1"/>
                        <a:t>ELEMENTOS VISUALES SUGERIDOS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Gráficos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Gantt,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tarjetas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avance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líneas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tiempo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segmentadores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por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20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estado</a:t>
                      </a:r>
                      <a:r>
                        <a:rPr lang="en-US" sz="20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.</a:t>
                      </a:r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117298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2805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C7332-0173-44F0-7759-4216E26AA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8E39E-0394-547F-689C-14B27D987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79F7D2D-EF96-F455-A5C6-D2205A3ED0ED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E28DC18-1CF9-30FD-7904-56036D676A89}"/>
              </a:ext>
            </a:extLst>
          </p:cNvPr>
          <p:cNvSpPr txBox="1"/>
          <p:nvPr/>
        </p:nvSpPr>
        <p:spPr>
          <a:xfrm>
            <a:off x="525863" y="1712897"/>
            <a:ext cx="11142018" cy="532453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07 – SEGUIMIENTO DE PROYECTOS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/>
          </a:p>
          <a:p>
            <a:pPr marL="342900" indent="-342900">
              <a:buFont typeface="Arial"/>
              <a:buChar char="•"/>
            </a:pPr>
            <a:endParaRPr lang="en-US" sz="2000" b="1"/>
          </a:p>
          <a:p>
            <a:br>
              <a:rPr lang="en-US"/>
            </a:br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00AA3-E72A-9B36-F40F-478EE76BAF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3620085"/>
              </p:ext>
            </p:extLst>
          </p:nvPr>
        </p:nvGraphicFramePr>
        <p:xfrm>
          <a:off x="709192" y="2627376"/>
          <a:ext cx="11058877" cy="271272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MÉTRICAS CLAVE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%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completado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endParaRPr lang="en-US" sz="1600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Tiempo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planificado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vs. real</a:t>
                      </a:r>
                      <a:endParaRPr lang="en-US" sz="1600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Presupuesto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consumido</a:t>
                      </a:r>
                      <a:endParaRPr lang="en-US" sz="1600" err="1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Riesgos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desviaciones</a:t>
                      </a:r>
                      <a:endParaRPr lang="en-US" sz="1600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sz="2000" b="1"/>
                        <a:t>DIMENSIONES ÚTILES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Categorías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de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proyectos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(IT, Marketing, Obras, etc.) </a:t>
                      </a:r>
                      <a:endParaRPr lang="en-US" sz="1600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Ubicación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o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cliente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final</a:t>
                      </a:r>
                      <a:endParaRPr lang="en-US" sz="1600"/>
                    </a:p>
                    <a:p>
                      <a:pPr marL="285750" lvl="0" indent="-285750" algn="l">
                        <a:lnSpc>
                          <a:spcPct val="100000"/>
                        </a:lnSpc>
                        <a:buFont typeface="Arial"/>
                        <a:buChar char="•"/>
                      </a:pP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Estado: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en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curso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retrasado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finalizado</a:t>
                      </a:r>
                      <a:r>
                        <a:rPr lang="en-U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, </a:t>
                      </a:r>
                      <a:r>
                        <a:rPr lang="en-U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cancelado</a:t>
                      </a:r>
                      <a:endParaRPr lang="en-US" sz="1600" err="1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  <a:p>
                      <a:pPr lvl="0">
                        <a:buNone/>
                      </a:pPr>
                      <a:endParaRPr lang="en-US" sz="1800" b="0" i="0" u="none" strike="noStrike" baseline="0" noProof="0">
                        <a:solidFill>
                          <a:srgbClr val="000000"/>
                        </a:solidFill>
                        <a:latin typeface="Bierstadt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37978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964078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437F3-4DF6-48DC-59D0-D7C3857B3C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F1E1D4-AEE5-4F17-9E98-F979A86187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TIPOS DE INFORMES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231AEEF-C3CC-16DD-1B3B-C030A47B9F0A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DA7C3A-C8EF-6F1F-4F13-DAD91E1F7C17}"/>
              </a:ext>
            </a:extLst>
          </p:cNvPr>
          <p:cNvSpPr txBox="1"/>
          <p:nvPr/>
        </p:nvSpPr>
        <p:spPr>
          <a:xfrm>
            <a:off x="525863" y="1712897"/>
            <a:ext cx="11142018" cy="233910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3200" b="1"/>
              <a:t>07 – SEGUIMIENTO DE PROYECTOS</a:t>
            </a:r>
            <a:endParaRPr lang="en-US" sz="3200"/>
          </a:p>
          <a:p>
            <a:endParaRPr lang="en-US" sz="3200" b="1"/>
          </a:p>
          <a:p>
            <a:endParaRPr lang="en-US" sz="3200" b="1"/>
          </a:p>
          <a:p>
            <a:endParaRPr lang="en-US" sz="3200" b="1"/>
          </a:p>
          <a:p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57729406-88D8-F06C-BADC-A7DEE19F31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1045826"/>
              </p:ext>
            </p:extLst>
          </p:nvPr>
        </p:nvGraphicFramePr>
        <p:xfrm>
          <a:off x="709192" y="2627376"/>
          <a:ext cx="11058877" cy="3291840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3953982">
                  <a:extLst>
                    <a:ext uri="{9D8B030D-6E8A-4147-A177-3AD203B41FA5}">
                      <a16:colId xmlns:a16="http://schemas.microsoft.com/office/drawing/2014/main" val="3463105677"/>
                    </a:ext>
                  </a:extLst>
                </a:gridCol>
                <a:gridCol w="7104895">
                  <a:extLst>
                    <a:ext uri="{9D8B030D-6E8A-4147-A177-3AD203B41FA5}">
                      <a16:colId xmlns:a16="http://schemas.microsoft.com/office/drawing/2014/main" val="195641574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2000"/>
                        <a:t>MEDIDAS DAX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01 - Porcentaje de avance por proyecto</a:t>
                      </a:r>
                      <a:endParaRPr lang="es-ES" sz="160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Avance % = AVERAGE(Tareas[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Aptos"/>
                        </a:rPr>
                        <a:t>PorcentajeAvance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Aptos"/>
                        </a:rPr>
                        <a:t>]) </a:t>
                      </a:r>
                      <a:endParaRPr lang="es-ES" b="0"/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/>
                        <a:t>02 - </a:t>
                      </a: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</a:rPr>
                        <a:t>Tareas completadas</a:t>
                      </a:r>
                      <a:endParaRPr lang="es-ES" sz="1600"/>
                    </a:p>
                    <a:p>
                      <a:pPr marL="0" lvl="0" indent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Tareas Completadas = CALCULATE(COUNT(Tareas[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IDTarea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]), Tareas[Estado] = "</a:t>
                      </a:r>
                      <a:r>
                        <a:rPr lang="es-ES" sz="1600" b="0" i="0" u="none" strike="noStrike" baseline="0" noProof="0">
                          <a:solidFill>
                            <a:schemeClr val="accent6">
                              <a:lumMod val="49000"/>
                            </a:schemeClr>
                          </a:solidFill>
                          <a:latin typeface="Bierstadt"/>
                        </a:rPr>
                        <a:t>Completada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") </a:t>
                      </a:r>
                      <a:endParaRPr lang="es-ES" b="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/>
                        <a:t>03 - </a:t>
                      </a: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Días de retraso (por tarea)</a:t>
                      </a:r>
                      <a:endParaRPr lang="es-ES" sz="160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Retraso = DATEDIFF(Tareas[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FechaFinPlanificada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], Tareas[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FechaFinReal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], DAY)</a:t>
                      </a:r>
                      <a:endParaRPr lang="es-ES" b="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04 - Presupuesto ejecutado</a:t>
                      </a:r>
                      <a:endParaRPr lang="es-ES" sz="160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Costo Ejecutado = SUM(</a:t>
                      </a:r>
                      <a:r>
                        <a:rPr lang="es-ES" sz="1600" b="0" i="0" u="none" strike="noStrike" baseline="0" noProof="0" err="1">
                          <a:solidFill>
                            <a:srgbClr val="000000"/>
                          </a:solidFill>
                          <a:latin typeface="Bierstadt"/>
                        </a:rPr>
                        <a:t>FactCostes</a:t>
                      </a:r>
                      <a:r>
                        <a:rPr lang="es-ES" sz="1600" b="0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[Monto]) </a:t>
                      </a:r>
                      <a:endParaRPr lang="es-ES" b="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05 - Presupuesto restante </a:t>
                      </a:r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06 - Tareas en riesgo (con retraso y no completadas)</a:t>
                      </a:r>
                      <a:endParaRPr lang="es-ES" sz="1600"/>
                    </a:p>
                    <a:p>
                      <a:pPr marL="0" lvl="0" indent="0" algn="l">
                        <a:lnSpc>
                          <a:spcPct val="100000"/>
                        </a:lnSpc>
                        <a:buNone/>
                      </a:pPr>
                      <a:r>
                        <a:rPr lang="es-ES" sz="1600" b="1" i="0" u="none" strike="noStrike" baseline="0" noProof="0">
                          <a:solidFill>
                            <a:srgbClr val="000000"/>
                          </a:solidFill>
                          <a:latin typeface="Bierstadt"/>
                        </a:rPr>
                        <a:t>07 - Duración real promedio del proyecto</a:t>
                      </a:r>
                      <a:endParaRPr lang="es-ES" sz="1600"/>
                    </a:p>
                    <a:p>
                      <a:pPr lvl="0">
                        <a:buNone/>
                      </a:pPr>
                      <a:endParaRPr lang="en-US" sz="1800" b="0" u="none" strike="noStrike" baseline="0" noProof="0">
                        <a:solidFill>
                          <a:srgbClr val="000000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9179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968002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6971503-0F2F-6832-DF89-927A0C901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EC36A951-8DAC-53F5-8B95-51FCAD1A3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69" y="508090"/>
            <a:ext cx="11153214" cy="149279"/>
          </a:xfrm>
          <a:custGeom>
            <a:avLst/>
            <a:gdLst>
              <a:gd name="connsiteX0" fmla="*/ 0 w 8085002"/>
              <a:gd name="connsiteY0" fmla="*/ 0 h 149279"/>
              <a:gd name="connsiteX1" fmla="*/ 8085002 w 8085002"/>
              <a:gd name="connsiteY1" fmla="*/ 0 h 149279"/>
              <a:gd name="connsiteX2" fmla="*/ 8085002 w 8085002"/>
              <a:gd name="connsiteY2" fmla="*/ 149279 h 149279"/>
              <a:gd name="connsiteX3" fmla="*/ 0 w 8085002"/>
              <a:gd name="connsiteY3" fmla="*/ 149279 h 1492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085002" h="149279">
                <a:moveTo>
                  <a:pt x="0" y="0"/>
                </a:moveTo>
                <a:lnTo>
                  <a:pt x="8085002" y="0"/>
                </a:lnTo>
                <a:lnTo>
                  <a:pt x="8085002" y="149279"/>
                </a:lnTo>
                <a:lnTo>
                  <a:pt x="0" y="14927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58C1B56C-1FB8-BD19-28A0-853A26B777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6209925"/>
            <a:ext cx="11155680" cy="45719"/>
          </a:xfrm>
          <a:custGeom>
            <a:avLst/>
            <a:gdLst/>
            <a:ahLst/>
            <a:cxnLst/>
            <a:rect l="l" t="t" r="r" b="b"/>
            <a:pathLst>
              <a:path w="8715708" h="45719">
                <a:moveTo>
                  <a:pt x="0" y="0"/>
                </a:moveTo>
                <a:lnTo>
                  <a:pt x="3694525" y="0"/>
                </a:lnTo>
                <a:lnTo>
                  <a:pt x="5021183" y="0"/>
                </a:lnTo>
                <a:lnTo>
                  <a:pt x="8715708" y="0"/>
                </a:lnTo>
                <a:lnTo>
                  <a:pt x="8715708" y="45719"/>
                </a:lnTo>
                <a:lnTo>
                  <a:pt x="5021183" y="45719"/>
                </a:lnTo>
                <a:lnTo>
                  <a:pt x="3694525" y="45719"/>
                </a:lnTo>
                <a:lnTo>
                  <a:pt x="0" y="45719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72B9F2F1-C716-CD75-049A-B7BF7A12F8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 descr="Gráficas financieras en una pantalla oscura">
            <a:extLst>
              <a:ext uri="{FF2B5EF4-FFF2-40B4-BE49-F238E27FC236}">
                <a16:creationId xmlns:a16="http://schemas.microsoft.com/office/drawing/2014/main" id="{F03763C5-589D-C040-937E-C860E36880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77" r="6" b="6"/>
          <a:stretch/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7" name="Rectangle 26">
            <a:extLst>
              <a:ext uri="{FF2B5EF4-FFF2-40B4-BE49-F238E27FC236}">
                <a16:creationId xmlns:a16="http://schemas.microsoft.com/office/drawing/2014/main" id="{1D309E88-B0E6-FF8C-B02A-E27AA0A8B4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2EF56FE-B3A6-80F7-2F68-01F07E797C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1368478"/>
            <a:ext cx="11086221" cy="330951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6600"/>
              <a:t>PROXIMOS PASOS:</a:t>
            </a:r>
            <a:br>
              <a:rPr lang="en-US" sz="6600"/>
            </a:br>
            <a:endParaRPr lang="en-US" sz="5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61F942-4D3E-3A84-8D79-B83DBC1AB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45690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0AF28-C479-88DD-E758-493FA6296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4434CB-47C8-2F52-EE4C-0B4B9670F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s-ES" sz="3200"/>
              <a:t>INFORME</a:t>
            </a:r>
            <a:endParaRPr lang="en-US" sz="3200" b="0"/>
          </a:p>
          <a:p>
            <a:endParaRPr lang="en-US" sz="490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B39D1BC-AF21-450A-1CAE-2157638F4E12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7ADD0C-FB51-3B85-4C1F-630D7C33B0DE}"/>
              </a:ext>
            </a:extLst>
          </p:cNvPr>
          <p:cNvSpPr txBox="1"/>
          <p:nvPr/>
        </p:nvSpPr>
        <p:spPr>
          <a:xfrm>
            <a:off x="516094" y="1722666"/>
            <a:ext cx="11120610" cy="378565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/>
              <a:t>01 – ELEGIR UN TIPO DE INFORME</a:t>
            </a:r>
          </a:p>
          <a:p>
            <a:r>
              <a:rPr lang="en-US" sz="2000">
                <a:solidFill>
                  <a:srgbClr val="000000"/>
                </a:solidFill>
              </a:rPr>
              <a:t>02 – </a:t>
            </a:r>
            <a:r>
              <a:rPr lang="en-US" sz="2000" b="1">
                <a:solidFill>
                  <a:srgbClr val="000000"/>
                </a:solidFill>
              </a:rPr>
              <a:t>OBTENER DATOS UTILIZANDO LA IMPORTACIÓN</a:t>
            </a:r>
          </a:p>
          <a:p>
            <a:r>
              <a:rPr lang="en-US" sz="2000">
                <a:solidFill>
                  <a:srgbClr val="000000"/>
                </a:solidFill>
              </a:rPr>
              <a:t>03 – UTILIZAR </a:t>
            </a:r>
            <a:r>
              <a:rPr lang="en-US" sz="2000" b="1">
                <a:solidFill>
                  <a:srgbClr val="000000"/>
                </a:solidFill>
              </a:rPr>
              <a:t>POWER QUERY</a:t>
            </a:r>
            <a:r>
              <a:rPr lang="en-US" sz="2000">
                <a:solidFill>
                  <a:srgbClr val="000000"/>
                </a:solidFill>
              </a:rPr>
              <a:t> PARA TRANSFORMAR LOS DATOS</a:t>
            </a:r>
          </a:p>
          <a:p>
            <a:r>
              <a:rPr lang="en-US" sz="2000">
                <a:solidFill>
                  <a:srgbClr val="000000"/>
                </a:solidFill>
              </a:rPr>
              <a:t>04 – EXPORTAR DATOS A POWER BI </a:t>
            </a:r>
          </a:p>
          <a:p>
            <a:r>
              <a:rPr lang="en-US" sz="2000">
                <a:solidFill>
                  <a:srgbClr val="000000"/>
                </a:solidFill>
              </a:rPr>
              <a:t>05 – MODELAR DATOS (RELACIONES ENTRE TABLAS Y DIRECCIÓN)</a:t>
            </a:r>
            <a:endParaRPr lang="en-US" sz="2000"/>
          </a:p>
          <a:p>
            <a:r>
              <a:rPr lang="en-US" sz="2000">
                <a:solidFill>
                  <a:srgbClr val="000000"/>
                </a:solidFill>
              </a:rPr>
              <a:t>06 – VISUALIZACIÓN DEL INFORME</a:t>
            </a:r>
          </a:p>
          <a:p>
            <a:r>
              <a:rPr lang="en-US" sz="2000">
                <a:solidFill>
                  <a:srgbClr val="000000"/>
                </a:solidFill>
              </a:rPr>
              <a:t>07 – PUBLICACIÓN (ENVIARLO POR CORREO)</a:t>
            </a:r>
            <a:endParaRPr lang="en-US"/>
          </a:p>
          <a:p>
            <a:endParaRPr lang="en-US" sz="2400">
              <a:solidFill>
                <a:srgbClr val="000000"/>
              </a:solidFill>
            </a:endParaRPr>
          </a:p>
          <a:p>
            <a:endParaRPr lang="en-US" sz="2400">
              <a:solidFill>
                <a:srgbClr val="000000"/>
              </a:solidFill>
              <a:ea typeface="+mn-lt"/>
              <a:cs typeface="+mn-lt"/>
            </a:endParaRPr>
          </a:p>
          <a:p>
            <a:r>
              <a:rPr lang="en-US" sz="3200">
                <a:solidFill>
                  <a:srgbClr val="000000"/>
                </a:solidFill>
                <a:ea typeface="+mn-lt"/>
                <a:cs typeface="+mn-lt"/>
              </a:rPr>
              <a:t>FECHA LÍMITE DE ENTREGA: </a:t>
            </a:r>
            <a:r>
              <a:rPr lang="en-US" sz="3200" b="1" u="sng">
                <a:solidFill>
                  <a:srgbClr val="000000"/>
                </a:solidFill>
                <a:ea typeface="+mn-lt"/>
                <a:cs typeface="+mn-lt"/>
              </a:rPr>
              <a:t>02 DE JULIO</a:t>
            </a:r>
          </a:p>
          <a:p>
            <a:pPr marL="342900" indent="-342900">
              <a:buFont typeface="Calibri"/>
              <a:buChar char="-"/>
            </a:pPr>
            <a:endParaRPr lang="en-US" sz="2000">
              <a:solidFill>
                <a:srgbClr val="FF0000"/>
              </a:solidFill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7110621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4C4A89A-982A-C1DE-53AD-41678CA7E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Gráficas financieras en una pantalla oscura">
            <a:extLst>
              <a:ext uri="{FF2B5EF4-FFF2-40B4-BE49-F238E27FC236}">
                <a16:creationId xmlns:a16="http://schemas.microsoft.com/office/drawing/2014/main" id="{77F84BB1-087D-3722-CB67-1EAEDA17420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977" r="6" b="6"/>
          <a:stretch/>
        </p:blipFill>
        <p:spPr>
          <a:xfrm>
            <a:off x="20" y="10"/>
            <a:ext cx="12188932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1D11E42-C967-B32F-2128-D06A87E9B9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7870" y="1368478"/>
            <a:ext cx="11086221" cy="3309511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90000"/>
              </a:lnSpc>
            </a:pPr>
            <a:r>
              <a:rPr lang="en-US" sz="8000">
                <a:solidFill>
                  <a:srgbClr val="FFFFFF"/>
                </a:solidFill>
              </a:rPr>
              <a:t>SOLUCIÓN CASO DE NEGOCIO</a:t>
            </a:r>
            <a:endParaRPr lang="en-US" sz="8000"/>
          </a:p>
        </p:txBody>
      </p:sp>
    </p:spTree>
    <p:extLst>
      <p:ext uri="{BB962C8B-B14F-4D97-AF65-F5344CB8AC3E}">
        <p14:creationId xmlns:p14="http://schemas.microsoft.com/office/powerpoint/2010/main" val="9375455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B6F0F1-65B5-E638-1097-7C95266C7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BC1326-263B-0FAC-E5CE-E97383AA4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EJERCICIO - CASO DE NEGOCIO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C5B3002-5B13-2986-0FEC-AED852291528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2597B0B-1420-1270-0FDC-08DD771AA340}"/>
              </a:ext>
            </a:extLst>
          </p:cNvPr>
          <p:cNvSpPr txBox="1"/>
          <p:nvPr/>
        </p:nvSpPr>
        <p:spPr>
          <a:xfrm>
            <a:off x="525863" y="1712897"/>
            <a:ext cx="11142018" cy="390876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err="1">
                <a:ea typeface="+mn-lt"/>
                <a:cs typeface="+mn-lt"/>
              </a:rPr>
              <a:t>Contexto</a:t>
            </a:r>
            <a:r>
              <a:rPr lang="en-US" sz="2000" b="1">
                <a:ea typeface="+mn-lt"/>
                <a:cs typeface="+mn-lt"/>
              </a:rPr>
              <a:t>:</a:t>
            </a:r>
            <a:endParaRPr lang="en-US" err="1"/>
          </a:p>
          <a:p>
            <a:r>
              <a:rPr lang="en-US" sz="1600">
                <a:latin typeface="Consolas"/>
                <a:ea typeface="+mn-lt"/>
                <a:cs typeface="+mn-lt"/>
              </a:rPr>
              <a:t>"Calor Urbano" es </a:t>
            </a:r>
            <a:r>
              <a:rPr lang="en-US" sz="1600" err="1">
                <a:latin typeface="Consolas"/>
                <a:ea typeface="+mn-lt"/>
                <a:cs typeface="+mn-lt"/>
              </a:rPr>
              <a:t>una</a:t>
            </a:r>
            <a:r>
              <a:rPr lang="en-US" sz="1600">
                <a:latin typeface="Consolas"/>
                <a:ea typeface="+mn-lt"/>
                <a:cs typeface="+mn-lt"/>
              </a:rPr>
              <a:t> tienda de </a:t>
            </a:r>
            <a:r>
              <a:rPr lang="en-US" sz="1600" err="1">
                <a:latin typeface="Consolas"/>
                <a:ea typeface="+mn-lt"/>
                <a:cs typeface="+mn-lt"/>
              </a:rPr>
              <a:t>ropa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especializada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en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moda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veraniega</a:t>
            </a:r>
            <a:r>
              <a:rPr lang="en-US" sz="1600">
                <a:latin typeface="Consolas"/>
                <a:ea typeface="+mn-lt"/>
                <a:cs typeface="+mn-lt"/>
              </a:rPr>
              <a:t> para </a:t>
            </a:r>
            <a:r>
              <a:rPr lang="en-US" sz="1600" err="1">
                <a:latin typeface="Consolas"/>
                <a:ea typeface="+mn-lt"/>
                <a:cs typeface="+mn-lt"/>
              </a:rPr>
              <a:t>jóvenes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adultos</a:t>
            </a:r>
            <a:r>
              <a:rPr lang="en-US" sz="1600">
                <a:latin typeface="Consolas"/>
                <a:ea typeface="+mn-lt"/>
                <a:cs typeface="+mn-lt"/>
              </a:rPr>
              <a:t>. La </a:t>
            </a:r>
            <a:r>
              <a:rPr lang="en-US" sz="1600" err="1">
                <a:latin typeface="Consolas"/>
                <a:ea typeface="+mn-lt"/>
                <a:cs typeface="+mn-lt"/>
              </a:rPr>
              <a:t>empresa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quiere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analizar</a:t>
            </a:r>
            <a:r>
              <a:rPr lang="en-US" sz="1600">
                <a:latin typeface="Consolas"/>
                <a:ea typeface="+mn-lt"/>
                <a:cs typeface="+mn-lt"/>
              </a:rPr>
              <a:t> sus </a:t>
            </a:r>
            <a:r>
              <a:rPr lang="en-US" sz="1600" err="1">
                <a:latin typeface="Consolas"/>
                <a:ea typeface="+mn-lt"/>
                <a:cs typeface="+mn-lt"/>
              </a:rPr>
              <a:t>ventas</a:t>
            </a:r>
            <a:r>
              <a:rPr lang="en-US" sz="1600">
                <a:latin typeface="Consolas"/>
                <a:ea typeface="+mn-lt"/>
                <a:cs typeface="+mn-lt"/>
              </a:rPr>
              <a:t> de </a:t>
            </a:r>
            <a:r>
              <a:rPr lang="en-US" sz="1600" err="1">
                <a:latin typeface="Consolas"/>
                <a:ea typeface="+mn-lt"/>
                <a:cs typeface="+mn-lt"/>
              </a:rPr>
              <a:t>los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años</a:t>
            </a:r>
            <a:r>
              <a:rPr lang="en-US" sz="1600">
                <a:latin typeface="Consolas"/>
                <a:ea typeface="+mn-lt"/>
                <a:cs typeface="+mn-lt"/>
              </a:rPr>
              <a:t> 2023 y 2024 para </a:t>
            </a:r>
            <a:r>
              <a:rPr lang="en-US" sz="1600" err="1">
                <a:latin typeface="Consolas"/>
                <a:ea typeface="+mn-lt"/>
                <a:cs typeface="+mn-lt"/>
              </a:rPr>
              <a:t>tomar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decisiones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estratégicas</a:t>
            </a:r>
            <a:r>
              <a:rPr lang="en-US" sz="1600">
                <a:latin typeface="Consolas"/>
                <a:ea typeface="+mn-lt"/>
                <a:cs typeface="+mn-lt"/>
              </a:rPr>
              <a:t> antes de la </a:t>
            </a:r>
            <a:r>
              <a:rPr lang="en-US" sz="1600" err="1">
                <a:latin typeface="Consolas"/>
                <a:ea typeface="+mn-lt"/>
                <a:cs typeface="+mn-lt"/>
              </a:rPr>
              <a:t>temporada</a:t>
            </a:r>
            <a:r>
              <a:rPr lang="en-US" sz="1600"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latin typeface="Consolas"/>
                <a:ea typeface="+mn-lt"/>
                <a:cs typeface="+mn-lt"/>
              </a:rPr>
              <a:t>alta</a:t>
            </a:r>
            <a:r>
              <a:rPr lang="en-US" sz="1600">
                <a:latin typeface="Consolas"/>
                <a:ea typeface="+mn-lt"/>
                <a:cs typeface="+mn-lt"/>
              </a:rPr>
              <a:t> de 2025.</a:t>
            </a:r>
            <a:endParaRPr lang="en-US" sz="1600">
              <a:latin typeface="Consolas"/>
            </a:endParaRPr>
          </a:p>
          <a:p>
            <a:endParaRPr lang="en-US" sz="2000">
              <a:ea typeface="+mn-lt"/>
              <a:cs typeface="+mn-lt"/>
            </a:endParaRPr>
          </a:p>
          <a:p>
            <a:r>
              <a:rPr lang="en-US" sz="2000" b="1" err="1">
                <a:ea typeface="+mn-lt"/>
                <a:cs typeface="+mn-lt"/>
              </a:rPr>
              <a:t>Archivos</a:t>
            </a:r>
            <a:r>
              <a:rPr lang="en-US" sz="2000" b="1">
                <a:ea typeface="+mn-lt"/>
                <a:cs typeface="+mn-lt"/>
              </a:rPr>
              <a:t>:</a:t>
            </a:r>
            <a:endParaRPr lang="en-US"/>
          </a:p>
          <a:p>
            <a:pPr marL="285750" indent="-285750">
              <a:buFont typeface="Calibri"/>
              <a:buChar char="-"/>
            </a:pPr>
            <a:r>
              <a:rPr lang="en-US" sz="1600">
                <a:solidFill>
                  <a:srgbClr val="424242"/>
                </a:solidFill>
                <a:latin typeface="Consolas"/>
              </a:rPr>
              <a:t>Ventas_2023.csv</a:t>
            </a:r>
            <a:endParaRPr lang="en-US" sz="160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1600">
                <a:solidFill>
                  <a:srgbClr val="424242"/>
                </a:solidFill>
                <a:latin typeface="Consolas"/>
              </a:rPr>
              <a:t>Ventas_2024.csv</a:t>
            </a:r>
            <a:endParaRPr lang="en-US" sz="1600">
              <a:latin typeface="Consolas"/>
            </a:endParaRPr>
          </a:p>
          <a:p>
            <a:pPr marL="285750" indent="-285750">
              <a:buFont typeface="Calibri"/>
              <a:buChar char="-"/>
            </a:pPr>
            <a:r>
              <a:rPr lang="en-US" sz="1600">
                <a:solidFill>
                  <a:srgbClr val="424242"/>
                </a:solidFill>
                <a:latin typeface="Consolas"/>
              </a:rPr>
              <a:t>Productos.csv</a:t>
            </a:r>
            <a:endParaRPr lang="en-US" sz="1600"/>
          </a:p>
          <a:p>
            <a:endParaRPr lang="en-US" sz="2000"/>
          </a:p>
          <a:p>
            <a:r>
              <a:rPr lang="en-US" sz="2000" b="1" err="1"/>
              <a:t>Objetivo</a:t>
            </a:r>
            <a:r>
              <a:rPr lang="en-US" sz="2000" b="1"/>
              <a:t> del </a:t>
            </a:r>
            <a:r>
              <a:rPr lang="en-US" sz="2000" b="1" err="1"/>
              <a:t>ejercicio</a:t>
            </a:r>
            <a:r>
              <a:rPr lang="en-US" sz="2000" b="1"/>
              <a:t>:</a:t>
            </a:r>
            <a:endParaRPr lang="en-US" sz="2000"/>
          </a:p>
          <a:p>
            <a:pPr marL="171450" indent="-171450">
              <a:buFont typeface="Calibri"/>
              <a:buChar char="-"/>
            </a:pP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Transformar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y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preparar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los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datos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de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ventas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para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generar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un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resumen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por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categoría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de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producto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,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incluyendo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condiciones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especiales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y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limpieza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 de </a:t>
            </a:r>
            <a:r>
              <a:rPr lang="en-US" sz="1600" err="1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datos</a:t>
            </a:r>
            <a:r>
              <a:rPr lang="en-US" sz="1600">
                <a:solidFill>
                  <a:srgbClr val="424242"/>
                </a:solidFill>
                <a:latin typeface="Consolas"/>
                <a:ea typeface="+mn-lt"/>
                <a:cs typeface="+mn-lt"/>
              </a:rPr>
              <a:t>.</a:t>
            </a:r>
            <a:endParaRPr lang="en-US" sz="1600">
              <a:latin typeface="Consolas"/>
            </a:endParaRPr>
          </a:p>
          <a:p>
            <a:endParaRPr lang="en-US" sz="2000" b="1"/>
          </a:p>
        </p:txBody>
      </p:sp>
    </p:spTree>
    <p:extLst>
      <p:ext uri="{BB962C8B-B14F-4D97-AF65-F5344CB8AC3E}">
        <p14:creationId xmlns:p14="http://schemas.microsoft.com/office/powerpoint/2010/main" val="187601846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9DBEA6-4013-2E4A-5B9D-535E49CFB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77E6D-B191-B544-9DDA-9D0F57A20F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EJERCICIO - CASO DE NEGOCIO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B431F559-F2B8-B91E-B923-7143CA40D85B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D2740C-EAE4-A7FF-FF65-CE1AA90B2F7F}"/>
              </a:ext>
            </a:extLst>
          </p:cNvPr>
          <p:cNvSpPr txBox="1"/>
          <p:nvPr/>
        </p:nvSpPr>
        <p:spPr>
          <a:xfrm>
            <a:off x="525863" y="1712897"/>
            <a:ext cx="11142018" cy="464742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ES" sz="2400" b="1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1: </a:t>
            </a:r>
            <a:r>
              <a:rPr lang="es-ES" sz="1600">
                <a:latin typeface="Aptos"/>
              </a:rPr>
              <a:t>Importar los archivos 1. Abre Excel y ve a la pestaña Datos → Obtener datos → Desde archivo → Desde texto/CSV. 2. Importa los archivos Ventas_2023.csv y Ventas_2024.csv. 3. Haz clic en Transformar datos para abrir </a:t>
            </a:r>
            <a:r>
              <a:rPr lang="es-ES" sz="1600" err="1">
                <a:latin typeface="Aptos"/>
              </a:rPr>
              <a:t>Power</a:t>
            </a:r>
            <a:r>
              <a:rPr lang="es-ES" sz="1600">
                <a:latin typeface="Aptos"/>
              </a:rPr>
              <a:t> </a:t>
            </a:r>
            <a:r>
              <a:rPr lang="es-ES" sz="1600" err="1">
                <a:latin typeface="Aptos"/>
              </a:rPr>
              <a:t>Query</a:t>
            </a:r>
            <a:r>
              <a:rPr lang="es-ES" sz="1600">
                <a:latin typeface="Aptos"/>
              </a:rPr>
              <a:t>.</a:t>
            </a:r>
          </a:p>
          <a:p>
            <a:pPr marL="285750" indent="-285750">
              <a:buFont typeface="Arial"/>
              <a:buChar char="•"/>
            </a:pPr>
            <a:endParaRPr lang="es-ES" sz="1600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2: </a:t>
            </a:r>
            <a:r>
              <a:rPr lang="es-ES" sz="1600">
                <a:latin typeface="Aptos"/>
              </a:rPr>
              <a:t>Renombrar y reordenar columnas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1. Renombra las columnas a: - </a:t>
            </a:r>
            <a:r>
              <a:rPr lang="es-ES" sz="1600" err="1">
                <a:latin typeface="Aptos"/>
              </a:rPr>
              <a:t>Fecha_Venta</a:t>
            </a:r>
            <a:r>
              <a:rPr lang="es-ES" sz="1600">
                <a:latin typeface="Aptos"/>
              </a:rPr>
              <a:t> - </a:t>
            </a:r>
            <a:r>
              <a:rPr lang="es-ES" sz="1600" err="1">
                <a:latin typeface="Aptos"/>
              </a:rPr>
              <a:t>ID_Producto</a:t>
            </a:r>
            <a:r>
              <a:rPr lang="es-ES" sz="1600">
                <a:latin typeface="Aptos"/>
              </a:rPr>
              <a:t> - Cantidad - </a:t>
            </a:r>
            <a:r>
              <a:rPr lang="es-ES" sz="1600" err="1">
                <a:latin typeface="Aptos"/>
              </a:rPr>
              <a:t>Precio_Unitario</a:t>
            </a:r>
            <a:r>
              <a:rPr lang="es-ES" sz="1600">
                <a:latin typeface="Aptos"/>
              </a:rPr>
              <a:t> - Tienda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2. Reordena las columnas en este orden: - </a:t>
            </a:r>
            <a:r>
              <a:rPr lang="es-ES" sz="1600" err="1">
                <a:latin typeface="Aptos"/>
              </a:rPr>
              <a:t>Fecha_Venta</a:t>
            </a:r>
            <a:r>
              <a:rPr lang="es-ES" sz="1600">
                <a:latin typeface="Aptos"/>
              </a:rPr>
              <a:t>, </a:t>
            </a:r>
            <a:r>
              <a:rPr lang="es-ES" sz="1600" err="1">
                <a:latin typeface="Aptos"/>
              </a:rPr>
              <a:t>ID_Producto</a:t>
            </a:r>
            <a:r>
              <a:rPr lang="es-ES" sz="1600">
                <a:latin typeface="Aptos"/>
              </a:rPr>
              <a:t>, Cantidad, </a:t>
            </a:r>
            <a:r>
              <a:rPr lang="es-ES" sz="1600" err="1">
                <a:latin typeface="Aptos"/>
              </a:rPr>
              <a:t>Precio_Unitario</a:t>
            </a:r>
            <a:r>
              <a:rPr lang="es-ES" sz="1600">
                <a:latin typeface="Aptos"/>
              </a:rPr>
              <a:t>, Tienda</a:t>
            </a:r>
            <a:endParaRPr lang="es-ES"/>
          </a:p>
          <a:p>
            <a:pPr marL="285750" indent="-285750">
              <a:buFont typeface="Arial"/>
              <a:buChar char="•"/>
            </a:pPr>
            <a:endParaRPr lang="es-ES" sz="1600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3: </a:t>
            </a:r>
            <a:r>
              <a:rPr lang="es-ES" sz="1600">
                <a:latin typeface="Aptos"/>
              </a:rPr>
              <a:t>Dividir columna de fecha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1. Selecciona la columna </a:t>
            </a:r>
            <a:r>
              <a:rPr lang="es-ES" sz="1600" err="1">
                <a:latin typeface="Aptos"/>
              </a:rPr>
              <a:t>Fecha_Venta</a:t>
            </a:r>
            <a:r>
              <a:rPr lang="es-ES" sz="1600">
                <a:latin typeface="Aptos"/>
              </a:rPr>
              <a:t>.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2. Pulsamos sobre Transformar → Extraer → Año y luego repite para Mes. </a:t>
            </a:r>
            <a:endParaRPr lang="es-ES">
              <a:latin typeface="Bierstadt"/>
            </a:endParaRP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3. Renombra las nuevas columnas como Año y Mes. </a:t>
            </a:r>
            <a:endParaRPr lang="es-ES"/>
          </a:p>
          <a:p>
            <a:pPr marL="285750" indent="-285750">
              <a:buFont typeface="Arial"/>
              <a:buChar char="•"/>
            </a:pPr>
            <a:endParaRPr lang="es-ES" sz="1600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4: </a:t>
            </a:r>
            <a:r>
              <a:rPr lang="es-ES" sz="1600">
                <a:latin typeface="Aptos"/>
              </a:rPr>
              <a:t>Reemplazar valores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1. Selecciona la columna Tienda.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2. Ve a Transformar → Reemplazar valores: </a:t>
            </a:r>
            <a:endParaRPr lang="es-ES">
              <a:latin typeface="Bierstadt"/>
            </a:endParaRPr>
          </a:p>
          <a:p>
            <a:pPr marL="1200150" lvl="2" indent="-285750">
              <a:buFont typeface="Wingdings"/>
              <a:buChar char="§"/>
            </a:pPr>
            <a:r>
              <a:rPr lang="es-ES" sz="1600">
                <a:latin typeface="Aptos"/>
              </a:rPr>
              <a:t>- Reemplaza 'Sucursal A' por 'Tienda Centro' </a:t>
            </a:r>
            <a:endParaRPr lang="es-ES">
              <a:latin typeface="Bierstadt"/>
            </a:endParaRPr>
          </a:p>
          <a:p>
            <a:pPr marL="1200150" lvl="2" indent="-285750">
              <a:buFont typeface="Wingdings"/>
              <a:buChar char="§"/>
            </a:pPr>
            <a:r>
              <a:rPr lang="es-ES" sz="1600">
                <a:latin typeface="Aptos"/>
              </a:rPr>
              <a:t>- Reemplaza 'Sucursal B' por 'Tienda Norte'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031164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751EA-B6E5-249F-1252-AA430FCFE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943E26-7B3C-FFDB-295E-1A1A59E84A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978408"/>
            <a:ext cx="11155680" cy="746533"/>
          </a:xfrm>
        </p:spPr>
        <p:txBody>
          <a:bodyPr>
            <a:noAutofit/>
          </a:bodyPr>
          <a:lstStyle/>
          <a:p>
            <a:r>
              <a:rPr lang="en-US" sz="4900"/>
              <a:t>EJERCICIO - CASO DE NEGOCIO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D3F3A1-2096-7DCC-92A7-72719CA41D75}"/>
              </a:ext>
            </a:extLst>
          </p:cNvPr>
          <p:cNvSpPr txBox="1">
            <a:spLocks/>
          </p:cNvSpPr>
          <p:nvPr/>
        </p:nvSpPr>
        <p:spPr>
          <a:xfrm>
            <a:off x="517869" y="1720517"/>
            <a:ext cx="11157866" cy="4264056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75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90000"/>
              </a:lnSpc>
            </a:pPr>
            <a:endParaRPr lang="en-US" sz="3600" u="sng"/>
          </a:p>
          <a:p>
            <a:pPr>
              <a:lnSpc>
                <a:spcPct val="90000"/>
              </a:lnSpc>
            </a:pPr>
            <a:br>
              <a:rPr lang="en-US" sz="2900" b="0"/>
            </a:br>
            <a:endParaRPr lang="en-US" sz="3300" b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BD1608-BB01-B0C6-2CCF-83F7A2D7B045}"/>
              </a:ext>
            </a:extLst>
          </p:cNvPr>
          <p:cNvSpPr txBox="1"/>
          <p:nvPr/>
        </p:nvSpPr>
        <p:spPr>
          <a:xfrm>
            <a:off x="525863" y="1712897"/>
            <a:ext cx="11142018" cy="415498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endParaRPr lang="es-ES" sz="2400" b="1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5: </a:t>
            </a:r>
            <a:r>
              <a:rPr lang="es-ES" sz="1600">
                <a:latin typeface="Aptos"/>
              </a:rPr>
              <a:t>Añadir columna condicional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1. Ir a Agregar columna → Columna condicional.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2. Configurar: - Nombre: </a:t>
            </a:r>
            <a:r>
              <a:rPr lang="es-ES" sz="1600" err="1">
                <a:latin typeface="Aptos"/>
              </a:rPr>
              <a:t>Tipo_Venta</a:t>
            </a:r>
            <a:r>
              <a:rPr lang="es-ES" sz="1600">
                <a:latin typeface="Aptos"/>
              </a:rPr>
              <a:t> - Condición: Si Cantidad &gt; 5 entonces 'Mayorista', si no 'Minorista</a:t>
            </a:r>
            <a:endParaRPr lang="es-ES"/>
          </a:p>
          <a:p>
            <a:pPr marL="285750" indent="-285750">
              <a:buFont typeface="Arial"/>
              <a:buChar char="•"/>
            </a:pPr>
            <a:endParaRPr lang="es-ES" sz="1600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6:</a:t>
            </a:r>
            <a:r>
              <a:rPr lang="es-ES" sz="1600">
                <a:latin typeface="Aptos"/>
              </a:rPr>
              <a:t> Anexar tablas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1. En </a:t>
            </a:r>
            <a:r>
              <a:rPr lang="es-ES" sz="1600" err="1">
                <a:latin typeface="Aptos"/>
              </a:rPr>
              <a:t>Power</a:t>
            </a:r>
            <a:r>
              <a:rPr lang="es-ES" sz="1600">
                <a:latin typeface="Aptos"/>
              </a:rPr>
              <a:t> </a:t>
            </a:r>
            <a:r>
              <a:rPr lang="es-ES" sz="1600" err="1">
                <a:latin typeface="Aptos"/>
              </a:rPr>
              <a:t>Query</a:t>
            </a:r>
            <a:r>
              <a:rPr lang="es-ES" sz="1600">
                <a:latin typeface="Aptos"/>
              </a:rPr>
              <a:t>, ve a Inicio → Anexar consultas → Anexar como nuevas.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2. Selecciona Ventas_2023 y Ventas_2024. </a:t>
            </a:r>
            <a:endParaRPr lang="es-ES">
              <a:latin typeface="Bierstadt"/>
            </a:endParaRP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3. Nombra la nueva tabla como </a:t>
            </a:r>
            <a:r>
              <a:rPr lang="es-ES" sz="1600" err="1">
                <a:latin typeface="Aptos"/>
              </a:rPr>
              <a:t>Ventas_Totales</a:t>
            </a:r>
            <a:r>
              <a:rPr lang="es-ES" sz="1600">
                <a:latin typeface="Aptos"/>
              </a:rPr>
              <a:t>.</a:t>
            </a:r>
            <a:endParaRPr lang="es-ES"/>
          </a:p>
          <a:p>
            <a:pPr marL="285750" indent="-285750">
              <a:buFont typeface="Arial"/>
              <a:buChar char="•"/>
            </a:pPr>
            <a:endParaRPr lang="es-ES" sz="1600">
              <a:latin typeface="Aptos"/>
            </a:endParaRPr>
          </a:p>
          <a:p>
            <a:pPr marL="285750" indent="-285750">
              <a:buFont typeface="Arial"/>
              <a:buChar char="•"/>
            </a:pPr>
            <a:r>
              <a:rPr lang="es-ES" sz="1600" b="1">
                <a:latin typeface="Aptos"/>
              </a:rPr>
              <a:t>Paso 7:</a:t>
            </a:r>
            <a:r>
              <a:rPr lang="es-ES" sz="1600">
                <a:latin typeface="Aptos"/>
              </a:rPr>
              <a:t> Importar y combinar productos </a:t>
            </a: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1. Importar el archivo Productos.csv como una nueva consulta. </a:t>
            </a:r>
            <a:endParaRPr lang="es-ES">
              <a:latin typeface="Bierstadt"/>
            </a:endParaRP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2. En </a:t>
            </a:r>
            <a:r>
              <a:rPr lang="es-ES" sz="1600" err="1">
                <a:latin typeface="Aptos"/>
              </a:rPr>
              <a:t>Ventas_Totales</a:t>
            </a:r>
            <a:r>
              <a:rPr lang="es-ES" sz="1600">
                <a:latin typeface="Aptos"/>
              </a:rPr>
              <a:t>, ve a Inicio → Combinar consultas → Combinar consultas como nuevas. </a:t>
            </a:r>
            <a:endParaRPr lang="es-ES">
              <a:latin typeface="Bierstadt"/>
            </a:endParaRP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3. Une </a:t>
            </a:r>
            <a:r>
              <a:rPr lang="es-ES" sz="1600" err="1">
                <a:latin typeface="Aptos"/>
              </a:rPr>
              <a:t>Ventas_Totales</a:t>
            </a:r>
            <a:r>
              <a:rPr lang="es-ES" sz="1600">
                <a:latin typeface="Aptos"/>
              </a:rPr>
              <a:t> con Productos usando </a:t>
            </a:r>
            <a:r>
              <a:rPr lang="es-ES" sz="1600" err="1">
                <a:latin typeface="Aptos"/>
              </a:rPr>
              <a:t>ID_Producto</a:t>
            </a:r>
            <a:r>
              <a:rPr lang="es-ES" sz="1600">
                <a:latin typeface="Aptos"/>
              </a:rPr>
              <a:t>. </a:t>
            </a:r>
            <a:endParaRPr lang="es-ES">
              <a:latin typeface="Bierstadt"/>
            </a:endParaRPr>
          </a:p>
          <a:p>
            <a:pPr marL="742950" lvl="1" indent="-285750">
              <a:buFont typeface="Courier New"/>
              <a:buChar char="o"/>
            </a:pPr>
            <a:r>
              <a:rPr lang="es-ES" sz="1600">
                <a:latin typeface="Aptos"/>
              </a:rPr>
              <a:t>4. Expande las columnas </a:t>
            </a:r>
            <a:r>
              <a:rPr lang="es-ES" sz="1600" err="1">
                <a:latin typeface="Aptos"/>
              </a:rPr>
              <a:t>Nombre_Producto</a:t>
            </a:r>
            <a:r>
              <a:rPr lang="es-ES" sz="1600">
                <a:latin typeface="Aptos"/>
              </a:rPr>
              <a:t> y Categoría.</a:t>
            </a:r>
            <a:endParaRPr lang="es-ES"/>
          </a:p>
          <a:p>
            <a:pPr marL="285750" indent="-285750">
              <a:buFont typeface="Arial"/>
              <a:buChar char="•"/>
            </a:pPr>
            <a:endParaRPr lang="es-ES" sz="1600"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12676834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80B0203-52F9-303F-42D5-57A67203F0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3" name="Rectangle 22">
            <a:extLst>
              <a:ext uri="{FF2B5EF4-FFF2-40B4-BE49-F238E27FC236}">
                <a16:creationId xmlns:a16="http://schemas.microsoft.com/office/drawing/2014/main" id="{16CE652F-78A1-1ECC-6C04-56067BCC8CF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Picture 15" descr="Gráfico económico digital">
            <a:extLst>
              <a:ext uri="{FF2B5EF4-FFF2-40B4-BE49-F238E27FC236}">
                <a16:creationId xmlns:a16="http://schemas.microsoft.com/office/drawing/2014/main" id="{9B90F332-A6B2-8D74-5A87-46543F5576F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"/>
          <a:stretch/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9338DD4D-704C-0643-AD1B-7EE043E081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389239" y="-389238"/>
            <a:ext cx="6858000" cy="7636476"/>
          </a:xfrm>
          <a:prstGeom prst="rect">
            <a:avLst/>
          </a:prstGeom>
          <a:gradFill>
            <a:gsLst>
              <a:gs pos="100000">
                <a:srgbClr val="000000">
                  <a:alpha val="0"/>
                </a:srgbClr>
              </a:gs>
              <a:gs pos="0">
                <a:schemeClr val="tx1"/>
              </a:gs>
              <a:gs pos="0">
                <a:srgbClr val="000000">
                  <a:alpha val="7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79CB29E-5567-119E-E868-94C3FF8B290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870" y="978407"/>
            <a:ext cx="9411854" cy="411530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 sz="8800">
                <a:solidFill>
                  <a:srgbClr val="FFFFFF"/>
                </a:solidFill>
              </a:rPr>
              <a:t>Gracias</a:t>
            </a:r>
            <a:br>
              <a:rPr lang="es-ES" sz="8000"/>
            </a:br>
            <a:br>
              <a:rPr lang="es-ES" sz="8000"/>
            </a:br>
            <a:r>
              <a:rPr lang="es-ES" sz="8000">
                <a:solidFill>
                  <a:srgbClr val="FFFFFF"/>
                </a:solidFill>
              </a:rPr>
              <a:t>FINAL SESION 08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DB692A6-D924-9C42-88FE-82E265BEDD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7870" y="508090"/>
            <a:ext cx="5021183" cy="14927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DF18186-CBB6-C874-399C-D74E134EA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039" y="6171871"/>
            <a:ext cx="1777233" cy="46136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3D043A5-587F-A33A-5DAD-E9BC44CA01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8876" y="6171543"/>
            <a:ext cx="1841281" cy="462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14365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GestaltVTI">
  <a:themeElements>
    <a:clrScheme name="Gestalt">
      <a:dk1>
        <a:srgbClr val="000000"/>
      </a:dk1>
      <a:lt1>
        <a:sysClr val="window" lastClr="FFFFFF"/>
      </a:lt1>
      <a:dk2>
        <a:srgbClr val="262626"/>
      </a:dk2>
      <a:lt2>
        <a:srgbClr val="F7F7F7"/>
      </a:lt2>
      <a:accent1>
        <a:srgbClr val="EBA000"/>
      </a:accent1>
      <a:accent2>
        <a:srgbClr val="00BAC8"/>
      </a:accent2>
      <a:accent3>
        <a:srgbClr val="E64823"/>
      </a:accent3>
      <a:accent4>
        <a:srgbClr val="4D5AFF"/>
      </a:accent4>
      <a:accent5>
        <a:srgbClr val="FE5D21"/>
      </a:accent5>
      <a:accent6>
        <a:srgbClr val="00C777"/>
      </a:accent6>
      <a:hlink>
        <a:srgbClr val="2998E3"/>
      </a:hlink>
      <a:folHlink>
        <a:srgbClr val="939393"/>
      </a:folHlink>
    </a:clrScheme>
    <a:fontScheme name="Gestalt">
      <a:majorFont>
        <a:latin typeface="Bierstadt"/>
        <a:ea typeface=""/>
        <a:cs typeface=""/>
      </a:majorFont>
      <a:minorFont>
        <a:latin typeface="Bierstad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GestaltVTI" id="{4F87C71D-53D1-4B71-BF97-FD0EA4B25665}" vid="{A110AFC4-8D8A-4C02-8885-7BA370B379B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46</Slides>
  <Notes>30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7" baseType="lpstr">
      <vt:lpstr>GestaltVTI</vt:lpstr>
      <vt:lpstr>ANALÍTICA DE DATOS  Y POWER BI  SESION 08  MODELADO Y VISUALIZACION DE DATOS</vt:lpstr>
      <vt:lpstr>SESIONES PENDIENTES</vt:lpstr>
      <vt:lpstr>TIPOS DE INFORMES EN POWER BI </vt:lpstr>
      <vt:lpstr>TIPOS DE INFORMES</vt:lpstr>
      <vt:lpstr>PASOS A SEGUIR EN LA PRÁCTICA </vt:lpstr>
      <vt:lpstr>PASOS A SEGUIR EN LA CREACIÓN DEL INFORME</vt:lpstr>
      <vt:lpstr>01 - IMPORTAR DATOS</vt:lpstr>
      <vt:lpstr>02 – TRANSFORMAR DATOS</vt:lpstr>
      <vt:lpstr>02 – TRANSFORMAR DATOS </vt:lpstr>
      <vt:lpstr>03 – MODELADO DE DATOS  </vt:lpstr>
      <vt:lpstr>03 – MODELADO DE DATOS</vt:lpstr>
      <vt:lpstr>04 – VISUALIZACIÓN DE DATOS </vt:lpstr>
      <vt:lpstr>04 – VISUALIZACIÓN DE DATOS </vt:lpstr>
      <vt:lpstr>04 – VISUALIZACIÓN DE DATOS </vt:lpstr>
      <vt:lpstr>05 – PERSONALIZACION DE DATOS </vt:lpstr>
      <vt:lpstr>05 – PERSONALIZACION DE DATOS </vt:lpstr>
      <vt:lpstr>06 – PUBLICACION DE DATOS </vt:lpstr>
      <vt:lpstr>CASOS PRÁCTICOS 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TIPOS DE INFORMES</vt:lpstr>
      <vt:lpstr>PROXIMOS PASOS: </vt:lpstr>
      <vt:lpstr>INFORME </vt:lpstr>
      <vt:lpstr>SOLUCIÓN CASO DE NEGOCIO</vt:lpstr>
      <vt:lpstr>EJERCICIO - CASO DE NEGOCIO</vt:lpstr>
      <vt:lpstr>EJERCICIO - CASO DE NEGOCIO</vt:lpstr>
      <vt:lpstr>EJERCICIO - CASO DE NEGOCIO</vt:lpstr>
      <vt:lpstr>Gracias  FINAL SESION 08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2</cp:revision>
  <dcterms:created xsi:type="dcterms:W3CDTF">2025-05-06T11:53:30Z</dcterms:created>
  <dcterms:modified xsi:type="dcterms:W3CDTF">2025-06-24T10:47:55Z</dcterms:modified>
</cp:coreProperties>
</file>