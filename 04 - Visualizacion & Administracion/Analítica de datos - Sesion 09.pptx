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5"/>
  </p:notesMasterIdLst>
  <p:sldIdLst>
    <p:sldId id="256" r:id="rId2"/>
    <p:sldId id="502" r:id="rId3"/>
    <p:sldId id="613" r:id="rId4"/>
    <p:sldId id="526" r:id="rId5"/>
    <p:sldId id="612" r:id="rId6"/>
    <p:sldId id="381" r:id="rId7"/>
    <p:sldId id="527" r:id="rId8"/>
    <p:sldId id="528" r:id="rId9"/>
    <p:sldId id="529" r:id="rId10"/>
    <p:sldId id="615" r:id="rId11"/>
    <p:sldId id="618" r:id="rId12"/>
    <p:sldId id="617" r:id="rId13"/>
    <p:sldId id="616" r:id="rId14"/>
    <p:sldId id="503" r:id="rId15"/>
    <p:sldId id="518" r:id="rId16"/>
    <p:sldId id="519" r:id="rId17"/>
    <p:sldId id="520" r:id="rId18"/>
    <p:sldId id="521" r:id="rId19"/>
    <p:sldId id="522" r:id="rId20"/>
    <p:sldId id="523" r:id="rId21"/>
    <p:sldId id="614" r:id="rId22"/>
    <p:sldId id="524" r:id="rId23"/>
    <p:sldId id="349" r:id="rId2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4487C-5282-E1C0-C7E0-BB5F89BEFF1F}" v="128" dt="2025-07-02T06:33:52.212"/>
    <p1510:client id="{3741A952-F6B1-ECB2-9FE1-F3A57E933148}" v="1910" dt="2025-07-02T09:49:31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8F867-230C-461D-8BB8-D2116231DDCA}" type="datetimeFigureOut">
              <a:t>7/17/2025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714E0-E1B7-414D-B561-17C6C526FC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72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B7E9-91BB-1910-5033-EB7A4BFD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ECA13-53F4-43D0-A087-BD9715BE3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491F7-5EA2-D7A8-FD36-27596846D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73AB9-5CD2-04B6-5886-255B2996E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99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B8C0-41F8-DB44-29FC-F5837BF1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96115-FA21-8ED6-FE18-521396217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4FA01-0DA9-E287-C7CF-CCBFA4760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C0AEF-76A6-38A5-E7C4-B347DAE8D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18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2779-3C07-BECC-F4E7-DBFFA872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95D53-D894-A187-9F20-267BA07FA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0E4B2-E4C7-1804-0CAB-28CCF9C17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C21B5-D416-D78D-AD34-7797688EB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56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375DC-4344-C781-C827-3A509FE78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DBC96-53EF-EF12-DB43-9813236B1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B419B-F399-F093-C94A-32A792FB8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12053-201B-473F-B986-CC90D3C01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50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EE4C-45DF-8557-D3C7-D03CD0B7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13D03-1768-5240-B357-FAF2ABE9D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6CB60-17C8-1ECB-0574-EE616020E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74719-2811-BBFC-7A5C-698DF78CF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52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C5319-8BD7-3493-5D8D-A1826246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AC297-92EA-4DF4-7563-9C14F4049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35811-9A2A-2063-E3AF-D0769E854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4A4D0-F8BE-A130-A1C0-85667DAC0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53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0958E-8E46-F8A7-1807-50641BF84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93D54-A14C-3D6E-98FD-ADFEA9679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30AE9-176F-7316-A2E2-C154898AD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DA726-6733-6225-4783-BC934AB75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371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F0325-9DD7-2455-BFDC-486DA878F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0DEBA-157A-4822-D995-AFF0F7897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CC56E-2206-FFD6-7FB2-0C174E2BA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D22B5-2936-2F25-4F62-073A70777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1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F1A61-F837-F8E5-8003-1087E8744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679E3-82B9-AD3B-6431-D3477A6AA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5210D-7167-4E22-BBC7-3D76A374E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77EC2-AD55-BEEA-6103-EFEC022E3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29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26449-95A1-9B9B-02C5-F4F3B4374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F6E0D-C1BD-4CF2-4A81-AE808EC67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E2537-3ADE-820B-D300-E239D76EC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01D32-02A0-36A7-165E-A6C16D983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98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747A8-3CE1-4538-631F-1A4D98FD7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FC486-1E3E-AAEE-7D99-275B7BF31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53A59-AED1-AB31-EA63-5589E2E02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98DFA-F330-6FA7-CF3C-7C15CFDE1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12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CE22-14E0-6071-FBAE-4A4A53C89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86680-8C1B-D234-94E2-3CC3ADAE4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A7693-7AB2-7A40-D169-4F760B6F3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19E67-CF92-1A64-B4A7-01AE8FE0E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42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F0F5F-F56B-8937-EFCA-B88522C64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529D8-C509-9561-0F12-AF14DEA38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11CF3-FB35-7541-047C-1984C69BB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65ACC-C960-32EF-791F-384A23847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77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CDC4-98D9-8C13-839A-272906AB8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62B64-533F-14E0-49E3-DF749520F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58531-F867-9B9E-2E70-3942695DD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74752-9F7B-F98E-6BEC-5575EE398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09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12148-3DAE-27CF-FBFE-06F1E888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72067-E998-09A6-62D1-6DC4E20F5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E6A6E-8C7B-F2A4-3AF1-9C4277882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BA2D5-5D79-5FEF-416B-E5485DF84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8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8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7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80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9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15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4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2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9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10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admin-porta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s-es/microsoft-fabric/getting-starte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Gráfico económico digital">
            <a:extLst>
              <a:ext uri="{FF2B5EF4-FFF2-40B4-BE49-F238E27FC236}">
                <a16:creationId xmlns:a16="http://schemas.microsoft.com/office/drawing/2014/main" id="{61B78A45-B1FB-99A6-9A7D-62BA39178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0920574" cy="459052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s-ES" sz="4800">
                <a:solidFill>
                  <a:srgbClr val="FFFFFF"/>
                </a:solidFill>
              </a:rPr>
              <a:t>ANALÍTICA DE DATOS </a:t>
            </a:r>
            <a:br>
              <a:rPr lang="es-ES" sz="4800"/>
            </a:br>
            <a:r>
              <a:rPr lang="es-ES" sz="4800">
                <a:solidFill>
                  <a:srgbClr val="FFFFFF"/>
                </a:solidFill>
              </a:rPr>
              <a:t>Y POWER BI</a:t>
            </a:r>
            <a:br>
              <a:rPr lang="es-ES" sz="5400"/>
            </a:br>
            <a:br>
              <a:rPr lang="es-ES" sz="5400"/>
            </a:br>
            <a:r>
              <a:rPr lang="es-ES" sz="7300">
                <a:solidFill>
                  <a:srgbClr val="FFFFFF"/>
                </a:solidFill>
              </a:rPr>
              <a:t>SESION 09</a:t>
            </a:r>
            <a:r>
              <a:rPr lang="es-ES" sz="6700">
                <a:solidFill>
                  <a:srgbClr val="FFFFFF"/>
                </a:solidFill>
              </a:rPr>
              <a:t> </a:t>
            </a:r>
            <a:br>
              <a:rPr lang="es-ES" sz="6700"/>
            </a:br>
            <a:r>
              <a:rPr lang="es-ES" sz="4900">
                <a:solidFill>
                  <a:srgbClr val="FFFFFF"/>
                </a:solidFill>
              </a:rPr>
              <a:t>MODELADO Y VISUALIZACION DE DATOS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170C6F-5843-788C-E66A-316BB2E71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039" y="6171871"/>
            <a:ext cx="1777233" cy="461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A126D8-33B9-5D37-7D77-F3DD0A16A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876" y="6171543"/>
            <a:ext cx="1841281" cy="46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46B6A-386A-54EB-3777-97232708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784D-03E4-B3AA-9BCA-C99A0A07D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506630"/>
            <a:ext cx="11160942" cy="88923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SESIONES PENDIENTES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091E60-4099-B3FF-A35B-A43B1F48A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950464"/>
              </p:ext>
            </p:extLst>
          </p:nvPr>
        </p:nvGraphicFramePr>
        <p:xfrm>
          <a:off x="604097" y="1526709"/>
          <a:ext cx="11050107" cy="462700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21656">
                  <a:extLst>
                    <a:ext uri="{9D8B030D-6E8A-4147-A177-3AD203B41FA5}">
                      <a16:colId xmlns:a16="http://schemas.microsoft.com/office/drawing/2014/main" val="3256238080"/>
                    </a:ext>
                  </a:extLst>
                </a:gridCol>
                <a:gridCol w="1797843">
                  <a:extLst>
                    <a:ext uri="{9D8B030D-6E8A-4147-A177-3AD203B41FA5}">
                      <a16:colId xmlns:a16="http://schemas.microsoft.com/office/drawing/2014/main" val="1312472185"/>
                    </a:ext>
                  </a:extLst>
                </a:gridCol>
                <a:gridCol w="7430608">
                  <a:extLst>
                    <a:ext uri="{9D8B030D-6E8A-4147-A177-3AD203B41FA5}">
                      <a16:colId xmlns:a16="http://schemas.microsoft.com/office/drawing/2014/main" val="2903575754"/>
                    </a:ext>
                  </a:extLst>
                </a:gridCol>
              </a:tblGrid>
              <a:tr h="444575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TEMARIO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06245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1"/>
                        <a:t>07/05/2025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07/05/2025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i="1"/>
                        <a:t>SESION 01 - ANALÍTICA DE DATOS (</a:t>
                      </a:r>
                      <a:r>
                        <a:rPr lang="en-US" sz="1600" i="1" err="1"/>
                        <a:t>Sesión</a:t>
                      </a:r>
                      <a:r>
                        <a:rPr lang="en-US" sz="1600" i="1"/>
                        <a:t> </a:t>
                      </a:r>
                      <a:r>
                        <a:rPr lang="en-US" sz="1600" i="1" err="1"/>
                        <a:t>conjunta</a:t>
                      </a:r>
                      <a:r>
                        <a:rPr lang="en-US" sz="1600" i="1"/>
                        <a:t> 02 horas)</a:t>
                      </a:r>
                      <a:endParaRPr lang="en-US" sz="1600" b="0" i="1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4745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14/05/2025</a:t>
                      </a:r>
                      <a:endParaRPr 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14/05/2025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02 – INTRODUCCION POWER BI (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Bierstadt"/>
                        </a:rPr>
                        <a:t>Sesión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Bierstadt"/>
                        </a:rPr>
                        <a:t>conjunta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05513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20/05/2025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21/05/2025</a:t>
                      </a:r>
                      <a:endParaRPr 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SESION 03 - TRANSFORMACIÓN DE DATOS I (</a:t>
                      </a:r>
                      <a:r>
                        <a:rPr lang="en-US" sz="1600" b="0" err="1"/>
                        <a:t>Básica</a:t>
                      </a:r>
                      <a:r>
                        <a:rPr lang="en-US" sz="1600" b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258542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27/05/2025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28/05/2025</a:t>
                      </a:r>
                      <a:endParaRPr 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SESION 04 - 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TRANSFORMACIÓN DE DATOS II  (Intermedia)</a:t>
                      </a:r>
                      <a:endParaRPr 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676922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03/06/2025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04/06/2025</a:t>
                      </a:r>
                      <a:endParaRPr 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05 – TRANSFORMACIÓN DE DATOS III (Avanzada)</a:t>
                      </a:r>
                      <a:endParaRPr 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455308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/>
                        <a:t>10/06/2025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/>
                        <a:t>11/06/2025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06 –MODELADO DE DATOS E INFORMES </a:t>
                      </a:r>
                      <a:endParaRPr lang="en-US" sz="18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140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/>
                        <a:t>17/06/2025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/>
                        <a:t>18/06/2025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07 – VISUALIZACIÓN DE DATOS</a:t>
                      </a:r>
                      <a:endParaRPr lang="en-US" sz="1800" b="0" i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804357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23/06/2025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23/06/2025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08 – CASOS PRÁCTICOS I (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Bierstadt"/>
                        </a:rPr>
                        <a:t>sesion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Bierstadt"/>
                        </a:rPr>
                        <a:t>conjunta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)</a:t>
                      </a:r>
                      <a:endParaRPr 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89651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/>
                        <a:t>24/06/2025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25/06/2025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SESION 09 – CASOS PRÁCTICOS II Y BUENAS PRÁCTICAS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718880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/>
                        <a:t>02/07/2025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latin typeface="Bierstadt"/>
                        </a:rPr>
                        <a:t>02/07/2025</a:t>
                      </a:r>
                      <a:endParaRPr lang="en-US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/>
                        <a:t>SESION 10 – EVALUACIÓN FINAL Y CIERRE </a:t>
                      </a:r>
                      <a:endParaRPr lang="en-US" sz="2400" b="1" i="0" u="none" strike="noStrike" noProof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312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12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7708E-0E45-7C3B-BCE2-D00E449E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7A32-381D-DD90-494C-CD2F727B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506630"/>
            <a:ext cx="11160942" cy="88923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SOBRE ESTE CURSO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2725E-5693-61C1-CC4C-12606B0D433E}"/>
              </a:ext>
            </a:extLst>
          </p:cNvPr>
          <p:cNvSpPr txBox="1"/>
          <p:nvPr/>
        </p:nvSpPr>
        <p:spPr>
          <a:xfrm>
            <a:off x="576470" y="1318591"/>
            <a:ext cx="11092069" cy="5232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800" b="1"/>
              <a:t>CRITERIOS DE EVALUACIÓN TELEFORMACIÓN:</a:t>
            </a:r>
            <a:endParaRPr lang="en-US" sz="2800"/>
          </a:p>
          <a:p>
            <a:pPr lvl="1"/>
            <a:endParaRPr lang="en-US"/>
          </a:p>
          <a:p>
            <a:pPr lvl="1"/>
            <a:r>
              <a:rPr lang="en-US" sz="2400" b="1" strike="sngStrike"/>
              <a:t>01 - </a:t>
            </a:r>
            <a:r>
              <a:rPr lang="en-US" sz="2400" strike="sngStrike"/>
              <a:t>VISUALIZACIÓN DE CONTENIDOS: </a:t>
            </a:r>
            <a:r>
              <a:rPr lang="en-US" sz="2400" b="1" strike="sngStrike"/>
              <a:t>75%</a:t>
            </a:r>
          </a:p>
          <a:p>
            <a:pPr lvl="1"/>
            <a:r>
              <a:rPr lang="en-US" sz="2400" b="1"/>
              <a:t>02 - </a:t>
            </a:r>
            <a:r>
              <a:rPr lang="en-US" sz="2400"/>
              <a:t>HORAS DE CONEXION</a:t>
            </a:r>
            <a:r>
              <a:rPr lang="en-US" sz="2400" b="1"/>
              <a:t>: AL MENOS 50h</a:t>
            </a:r>
          </a:p>
          <a:p>
            <a:pPr lvl="1"/>
            <a:endParaRPr lang="en-US" sz="2400" b="1"/>
          </a:p>
          <a:p>
            <a:pPr lvl="1"/>
            <a:endParaRPr lang="en-US" sz="2400" b="1"/>
          </a:p>
          <a:p>
            <a:pPr lvl="1"/>
            <a:endParaRPr lang="en-US" sz="2400" b="1"/>
          </a:p>
          <a:p>
            <a:pPr lvl="1"/>
            <a:endParaRPr lang="en-US" sz="2400" b="1"/>
          </a:p>
          <a:p>
            <a:pPr lvl="1"/>
            <a:r>
              <a:rPr lang="en-US" sz="2400" b="1"/>
              <a:t>03 - </a:t>
            </a:r>
            <a:r>
              <a:rPr lang="en-US" sz="2400"/>
              <a:t>REALIZACIÓN DE:  </a:t>
            </a:r>
            <a:r>
              <a:rPr lang="en-US" sz="2400" b="1"/>
              <a:t>EVALUACIÓN FINAL</a:t>
            </a:r>
            <a:endParaRPr lang="en-US"/>
          </a:p>
          <a:p>
            <a:pPr lvl="1"/>
            <a:endParaRPr lang="en-US" sz="2400" b="1" strike="sngStrike"/>
          </a:p>
          <a:p>
            <a:pPr lvl="1"/>
            <a:endParaRPr lang="en-US" sz="2400" b="1" strike="sngStrike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 sz="1400"/>
              <a:t>(EL RESTO DE EVALUACIONES SON OPTATIVAS)</a:t>
            </a:r>
          </a:p>
          <a:p>
            <a:pPr marL="1257300" lvl="2" indent="-342900">
              <a:buFont typeface="Wingdings"/>
              <a:buChar char="§"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2E501-F500-72B7-4307-1AB11852A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247" y="2952363"/>
            <a:ext cx="3836859" cy="9464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CBBF15-B8C9-DD3F-1D60-65D2E0457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00" y="4665792"/>
            <a:ext cx="4569426" cy="102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DE5FA-B5C6-6D92-9DD3-B53852430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6635-8952-4361-6C1F-3F5A9A740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506630"/>
            <a:ext cx="11160942" cy="88923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SOBRE ESTE CURSO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245F6-7A94-A38B-063F-9FF5D1EB66E2}"/>
              </a:ext>
            </a:extLst>
          </p:cNvPr>
          <p:cNvSpPr txBox="1"/>
          <p:nvPr/>
        </p:nvSpPr>
        <p:spPr>
          <a:xfrm>
            <a:off x="576470" y="1318591"/>
            <a:ext cx="11092069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800" b="1"/>
              <a:t>CRITERIOS DE EVALUACIÓN AULA VIRTUAL:</a:t>
            </a:r>
            <a:endParaRPr lang="en-US" sz="2800"/>
          </a:p>
          <a:p>
            <a:pPr lvl="1"/>
            <a:endParaRPr lang="en-US"/>
          </a:p>
          <a:p>
            <a:pPr lvl="1"/>
            <a:r>
              <a:rPr lang="en-US" sz="2400" b="1"/>
              <a:t>01 ASISTENCIA: 04 CLASES</a:t>
            </a:r>
          </a:p>
          <a:p>
            <a:pPr lvl="1"/>
            <a:endParaRPr lang="en-US" sz="2400" b="1" strike="sngStrike"/>
          </a:p>
          <a:p>
            <a:pPr lvl="1"/>
            <a:r>
              <a:rPr lang="en-US" sz="2400" b="1" strike="sngStrike"/>
              <a:t>02 EVALUACION FINAL O SUMATIVA (02/07/2025)</a:t>
            </a:r>
            <a:endParaRPr lang="en-US" sz="2400" strike="sngStrike"/>
          </a:p>
          <a:p>
            <a:pPr marL="800100" lvl="1" indent="-342900">
              <a:buFont typeface="Calibri"/>
              <a:buChar char="-"/>
            </a:pPr>
            <a:r>
              <a:rPr lang="en-US" sz="1600" strike="sngStrike" err="1"/>
              <a:t>Ejercicio</a:t>
            </a:r>
            <a:r>
              <a:rPr lang="en-US" sz="1600" strike="sngStrike"/>
              <a:t> que </a:t>
            </a:r>
            <a:r>
              <a:rPr lang="en-US" sz="1600" strike="sngStrike" err="1"/>
              <a:t>será</a:t>
            </a:r>
            <a:r>
              <a:rPr lang="en-US" sz="1600" strike="sngStrike"/>
              <a:t> </a:t>
            </a:r>
            <a:r>
              <a:rPr lang="en-US" sz="1600" strike="sngStrike" err="1"/>
              <a:t>casi</a:t>
            </a:r>
            <a:r>
              <a:rPr lang="en-US" sz="1600" strike="sngStrike"/>
              <a:t> </a:t>
            </a:r>
            <a:r>
              <a:rPr lang="en-US" sz="1600" strike="sngStrike" err="1"/>
              <a:t>igual</a:t>
            </a:r>
            <a:r>
              <a:rPr lang="en-US" sz="1600" strike="sngStrike"/>
              <a:t> que la </a:t>
            </a:r>
            <a:r>
              <a:rPr lang="en-US" sz="1600" strike="sngStrike" err="1"/>
              <a:t>actividad</a:t>
            </a:r>
            <a:r>
              <a:rPr lang="en-US" sz="1600" strike="sngStrike"/>
              <a:t> </a:t>
            </a:r>
            <a:r>
              <a:rPr lang="en-US" sz="1600" strike="sngStrike" err="1"/>
              <a:t>mandada</a:t>
            </a:r>
            <a:r>
              <a:rPr lang="en-US" sz="1600" strike="sngStrike"/>
              <a:t> para hoy. La </a:t>
            </a:r>
            <a:r>
              <a:rPr lang="en-US" sz="1600" strike="sngStrike" err="1"/>
              <a:t>prueba</a:t>
            </a:r>
            <a:r>
              <a:rPr lang="en-US" sz="1600" strike="sngStrike"/>
              <a:t> </a:t>
            </a:r>
            <a:r>
              <a:rPr lang="en-US" sz="1600" strike="sngStrike" err="1"/>
              <a:t>tendrá</a:t>
            </a:r>
            <a:r>
              <a:rPr lang="en-US" sz="1600" strike="sngStrike"/>
              <a:t> </a:t>
            </a:r>
            <a:r>
              <a:rPr lang="en-US" sz="1600" strike="sngStrike" err="1"/>
              <a:t>una</a:t>
            </a:r>
            <a:r>
              <a:rPr lang="en-US" sz="1600" strike="sngStrike"/>
              <a:t> </a:t>
            </a:r>
            <a:r>
              <a:rPr lang="en-US" sz="1600" strike="sngStrike" err="1"/>
              <a:t>duración</a:t>
            </a:r>
            <a:r>
              <a:rPr lang="en-US" sz="1600" strike="sngStrike"/>
              <a:t> de 01 hora.</a:t>
            </a:r>
          </a:p>
          <a:p>
            <a:pPr marL="800100" lvl="1" indent="-342900">
              <a:buFont typeface="Calibri"/>
              <a:buChar char="-"/>
            </a:pPr>
            <a:endParaRPr lang="en-US" sz="1600"/>
          </a:p>
          <a:p>
            <a:pPr lvl="1"/>
            <a:r>
              <a:rPr lang="en-US" sz="2400" b="1"/>
              <a:t>03 PRUEBA DE CREACIÓN DE INFORME:</a:t>
            </a:r>
            <a:endParaRPr lang="en-US" sz="2400"/>
          </a:p>
          <a:p>
            <a:pPr marL="1257300" lvl="2" indent="-342900">
              <a:buFont typeface="Wingdings"/>
              <a:buChar char="§"/>
            </a:pPr>
            <a:r>
              <a:rPr lang="en-US"/>
              <a:t>VENTAS Y RENTABILIDAD. </a:t>
            </a:r>
          </a:p>
          <a:p>
            <a:pPr marL="1257300" lvl="2" indent="-342900">
              <a:buFont typeface="Wingdings"/>
              <a:buChar char="§"/>
            </a:pPr>
            <a:r>
              <a:rPr lang="en-US"/>
              <a:t>RECURSOS HUMANOS.</a:t>
            </a:r>
          </a:p>
          <a:p>
            <a:pPr marL="1257300" lvl="2" indent="-342900">
              <a:buFont typeface="Wingdings"/>
              <a:buChar char="§"/>
            </a:pPr>
            <a:r>
              <a:rPr lang="en-US"/>
              <a:t>INVENTARIO Y STOCK.</a:t>
            </a:r>
          </a:p>
          <a:p>
            <a:pPr marL="1257300" lvl="2" indent="-342900">
              <a:buFont typeface="Wingdings"/>
              <a:buChar char="§"/>
            </a:pPr>
            <a:r>
              <a:rPr lang="en-US"/>
              <a:t>DESEMPEÑO DE PRODUCTOS. </a:t>
            </a:r>
          </a:p>
          <a:p>
            <a:pPr marL="1257300" lvl="2" indent="-342900">
              <a:buFont typeface="Wingdings"/>
              <a:buChar char="§"/>
            </a:pPr>
            <a:r>
              <a:rPr lang="en-US"/>
              <a:t>MARKETING DIGITAL.</a:t>
            </a:r>
          </a:p>
          <a:p>
            <a:pPr marL="1257300" lvl="2" indent="-342900">
              <a:buFont typeface="Wingdings"/>
              <a:buChar char="§"/>
            </a:pPr>
            <a:r>
              <a:rPr lang="en-US"/>
              <a:t>ATENCIÓN AL CLIENTE.</a:t>
            </a:r>
          </a:p>
          <a:p>
            <a:pPr marL="1257300" lvl="2" indent="-342900">
              <a:buFont typeface="Wingdings"/>
              <a:buChar char="§"/>
            </a:pPr>
            <a:r>
              <a:rPr lang="en-US"/>
              <a:t>SEGUIMIENTO DE PROYECTOS.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575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AF28-C479-88DD-E758-493FA6296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34CB-47C8-2F52-EE4C-0B4B9670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s-ES" sz="3200"/>
              <a:t>PRUEBA DE CREACIÓN DE INFORME</a:t>
            </a:r>
            <a:endParaRPr lang="en-US" sz="3200" b="0"/>
          </a:p>
          <a:p>
            <a:endParaRPr lang="en-US" sz="49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39D1BC-AF21-450A-1CAE-2157638F4E12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ADD0C-FB51-3B85-4C1F-630D7C33B0DE}"/>
              </a:ext>
            </a:extLst>
          </p:cNvPr>
          <p:cNvSpPr txBox="1"/>
          <p:nvPr/>
        </p:nvSpPr>
        <p:spPr>
          <a:xfrm>
            <a:off x="516094" y="1722666"/>
            <a:ext cx="1112061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01 – ELEGIR UN TIPO DE INFORME</a:t>
            </a:r>
          </a:p>
          <a:p>
            <a:r>
              <a:rPr lang="en-US" sz="2000">
                <a:solidFill>
                  <a:srgbClr val="000000"/>
                </a:solidFill>
              </a:rPr>
              <a:t>02 – </a:t>
            </a:r>
            <a:r>
              <a:rPr lang="en-US" sz="2000" b="1">
                <a:solidFill>
                  <a:srgbClr val="000000"/>
                </a:solidFill>
              </a:rPr>
              <a:t>OBTENER DATOS UTILIZANDO LA IMPORTACIÓN</a:t>
            </a:r>
          </a:p>
          <a:p>
            <a:r>
              <a:rPr lang="en-US" sz="2000">
                <a:solidFill>
                  <a:srgbClr val="000000"/>
                </a:solidFill>
              </a:rPr>
              <a:t>03 – UTILIZAR </a:t>
            </a:r>
            <a:r>
              <a:rPr lang="en-US" sz="2000" b="1">
                <a:solidFill>
                  <a:srgbClr val="000000"/>
                </a:solidFill>
              </a:rPr>
              <a:t>POWER QUERY</a:t>
            </a:r>
            <a:r>
              <a:rPr lang="en-US" sz="2000">
                <a:solidFill>
                  <a:srgbClr val="000000"/>
                </a:solidFill>
              </a:rPr>
              <a:t> PARA TRANSFORMAR LOS DATOS</a:t>
            </a:r>
          </a:p>
          <a:p>
            <a:r>
              <a:rPr lang="en-US" sz="2000">
                <a:solidFill>
                  <a:srgbClr val="000000"/>
                </a:solidFill>
              </a:rPr>
              <a:t>04 – EXPORTAR DATOS A POWER BI </a:t>
            </a:r>
          </a:p>
          <a:p>
            <a:r>
              <a:rPr lang="en-US" sz="2000">
                <a:solidFill>
                  <a:srgbClr val="000000"/>
                </a:solidFill>
              </a:rPr>
              <a:t>05 – MODELAR DATOS (RELACIONES ENTRE TABLAS Y DIRECCIÓN)</a:t>
            </a:r>
            <a:endParaRPr lang="en-US" sz="2000"/>
          </a:p>
          <a:p>
            <a:r>
              <a:rPr lang="en-US" sz="2000">
                <a:solidFill>
                  <a:srgbClr val="000000"/>
                </a:solidFill>
              </a:rPr>
              <a:t>06 – VISUALIZACIÓN DEL INFORME</a:t>
            </a:r>
          </a:p>
          <a:p>
            <a:r>
              <a:rPr lang="en-US" sz="2000">
                <a:solidFill>
                  <a:srgbClr val="000000"/>
                </a:solidFill>
              </a:rPr>
              <a:t>07 – PUBLICACIÓN (ENVIARLO POR CORREO)</a:t>
            </a:r>
            <a:endParaRPr lang="en-US"/>
          </a:p>
          <a:p>
            <a:endParaRPr lang="en-US" sz="2400">
              <a:solidFill>
                <a:srgbClr val="000000"/>
              </a:solidFill>
            </a:endParaRPr>
          </a:p>
          <a:p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3200">
                <a:solidFill>
                  <a:srgbClr val="000000"/>
                </a:solidFill>
                <a:ea typeface="+mn-lt"/>
                <a:cs typeface="+mn-lt"/>
              </a:rPr>
              <a:t>FECHA LÍMITE DE ENTREGA: </a:t>
            </a:r>
            <a:r>
              <a:rPr lang="en-US" sz="3200" b="1" u="sng">
                <a:solidFill>
                  <a:srgbClr val="000000"/>
                </a:solidFill>
                <a:ea typeface="+mn-lt"/>
                <a:cs typeface="+mn-lt"/>
              </a:rPr>
              <a:t>02 DE JULIO</a:t>
            </a:r>
          </a:p>
          <a:p>
            <a:pPr marL="342900" indent="-342900">
              <a:buFont typeface="Calibri"/>
              <a:buChar char="-"/>
            </a:pPr>
            <a:endParaRPr lang="en-US" sz="2000">
              <a:solidFill>
                <a:srgbClr val="FF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1106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2A9C6B-8CF6-4181-3BEA-DA04DD2E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C100CD8-F92C-FE85-A24B-4EFB4B638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1AF9CE0-AB89-D44B-F1E7-A64DDE2EC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AA3E703-63BF-BDC8-2E30-365D7FE5F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Gráficas financieras en una pantalla oscura">
            <a:extLst>
              <a:ext uri="{FF2B5EF4-FFF2-40B4-BE49-F238E27FC236}">
                <a16:creationId xmlns:a16="http://schemas.microsoft.com/office/drawing/2014/main" id="{B68DD651-815B-49CB-689C-A089A0D561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7" r="6" b="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D8AFBD2-3766-6B5C-1FBB-921254B46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D0C86-71CB-420F-DB8C-46DEE714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1368478"/>
            <a:ext cx="11086221" cy="330951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6600"/>
              <a:t>CENTRO DE ADMINISTRACION DE POWER BI</a:t>
            </a:r>
            <a:br>
              <a:rPr lang="en-US" sz="6600"/>
            </a:br>
            <a:endParaRPr lang="en-US" sz="5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20A50E-89F5-3598-47D0-8F9243BA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26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C73F8-9E12-C37A-A96E-5FCB25BB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2264-1A0C-CB7C-1CDE-773D269FC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CENTRO DE ADMINISTRACION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3F95FD-D53D-8BDE-8D44-A0874312D2A7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34965-6451-AF13-7161-FF115A700487}"/>
              </a:ext>
            </a:extLst>
          </p:cNvPr>
          <p:cNvSpPr txBox="1"/>
          <p:nvPr/>
        </p:nvSpPr>
        <p:spPr>
          <a:xfrm>
            <a:off x="4727160" y="1719763"/>
            <a:ext cx="5402991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REQUISITOS DE ACCESO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Debes ser 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administrador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global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o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tener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el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rol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de 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administrador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servicio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de Power BI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tu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organización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de Microsoft 365.</a:t>
            </a:r>
            <a:br>
              <a:rPr lang="en-US" sz="2400"/>
            </a:br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89B465-EBDB-2844-3100-B83C26B05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11" y="1716215"/>
            <a:ext cx="3603879" cy="497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482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E9148-DDF7-B251-1D5E-845AB39D0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B03D-A5C0-F130-8945-B0E2AD32D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CENTRO DE ADMINISTRACION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FD78B3-ECDB-878A-0B0B-4D13F9C1A782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2CDD3-DCCA-2BA6-D81A-4D02B769B4D8}"/>
              </a:ext>
            </a:extLst>
          </p:cNvPr>
          <p:cNvSpPr txBox="1"/>
          <p:nvPr/>
        </p:nvSpPr>
        <p:spPr>
          <a:xfrm>
            <a:off x="525863" y="1712897"/>
            <a:ext cx="1114201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ACCESO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01 -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Iniciar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sesión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Power BI con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tu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cuenta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administrador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02 - Hacer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clic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el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ícono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engranaje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(⚙️)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la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esquina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superior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derecha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03 -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Selecciona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"Portal de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administración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"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o 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"Admin portal"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el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menú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desplegable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endParaRPr lang="en-US" sz="2000">
              <a:solidFill>
                <a:srgbClr val="424242"/>
              </a:solidFill>
              <a:ea typeface="+mn-lt"/>
              <a:cs typeface="+mn-lt"/>
            </a:endParaRPr>
          </a:p>
          <a:p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NOTA: Si no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aparece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esta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opción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, es probable que no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tengas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los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permisos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necesarios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br>
              <a:rPr lang="en-US" sz="2400"/>
            </a:br>
            <a:r>
              <a:rPr lang="en-US" sz="2000" b="1">
                <a:solidFill>
                  <a:srgbClr val="424242"/>
                </a:solidFill>
              </a:rPr>
              <a:t>También </a:t>
            </a:r>
            <a:r>
              <a:rPr lang="en-US" sz="2000" b="1" err="1">
                <a:solidFill>
                  <a:srgbClr val="424242"/>
                </a:solidFill>
              </a:rPr>
              <a:t>puedes</a:t>
            </a:r>
            <a:r>
              <a:rPr lang="en-US" sz="2000" b="1">
                <a:solidFill>
                  <a:srgbClr val="424242"/>
                </a:solidFill>
              </a:rPr>
              <a:t> acceder </a:t>
            </a:r>
            <a:r>
              <a:rPr lang="en-US" sz="2000" b="1" err="1">
                <a:solidFill>
                  <a:srgbClr val="424242"/>
                </a:solidFill>
              </a:rPr>
              <a:t>directamente</a:t>
            </a:r>
            <a:r>
              <a:rPr lang="en-US" sz="2000" b="1">
                <a:solidFill>
                  <a:srgbClr val="424242"/>
                </a:solidFill>
              </a:rPr>
              <a:t> con </a:t>
            </a:r>
            <a:r>
              <a:rPr lang="en-US" sz="2000" b="1" err="1">
                <a:solidFill>
                  <a:srgbClr val="424242"/>
                </a:solidFill>
              </a:rPr>
              <a:t>este</a:t>
            </a:r>
            <a:r>
              <a:rPr lang="en-US" sz="2000" b="1">
                <a:solidFill>
                  <a:srgbClr val="424242"/>
                </a:solidFill>
              </a:rPr>
              <a:t> enlace (</a:t>
            </a:r>
            <a:r>
              <a:rPr lang="en-US" sz="2000" b="1" err="1">
                <a:solidFill>
                  <a:srgbClr val="424242"/>
                </a:solidFill>
              </a:rPr>
              <a:t>si</a:t>
            </a:r>
            <a:r>
              <a:rPr lang="en-US" sz="2000" b="1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tienes</a:t>
            </a:r>
            <a:r>
              <a:rPr lang="en-US" sz="2000" b="1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los</a:t>
            </a:r>
            <a:r>
              <a:rPr lang="en-US" sz="2000" b="1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permisos</a:t>
            </a:r>
            <a:r>
              <a:rPr lang="en-US" sz="2000" b="1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necesarios</a:t>
            </a:r>
            <a:r>
              <a:rPr lang="en-US" sz="2000" b="1">
                <a:solidFill>
                  <a:srgbClr val="424242"/>
                </a:solidFill>
              </a:rPr>
              <a:t>):</a:t>
            </a:r>
            <a:endParaRPr lang="en-US" sz="2000"/>
          </a:p>
          <a:p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👉 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  <a:hlinkClick r:id="rId3"/>
              </a:rPr>
              <a:t>https://app.powerbi.com/admin-portal</a:t>
            </a:r>
            <a:endParaRPr lang="en-US" sz="2000">
              <a:ea typeface="+mn-lt"/>
              <a:cs typeface="+mn-lt"/>
            </a:endParaRP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06487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D103F-A4C0-261A-1154-15CF3E5A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94381-7567-FD3D-280C-B116524CE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CENTRO DE ADMINISTRACION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0BACB7-7383-EB10-C8A6-5C1BE7FE7218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303CF-FD2F-2C3F-F3A3-8A41F41AE72D}"/>
              </a:ext>
            </a:extLst>
          </p:cNvPr>
          <p:cNvSpPr txBox="1"/>
          <p:nvPr/>
        </p:nvSpPr>
        <p:spPr>
          <a:xfrm>
            <a:off x="518999" y="1712897"/>
            <a:ext cx="11004720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QUE SE PUEDE HACER EN EL PORTAL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Ver y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administrar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capacidades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Premium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Configurar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políticas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endParaRPr lang="en-US" sz="2000" err="1"/>
          </a:p>
          <a:p>
            <a:pPr marL="285750" indent="-285750"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Supervisar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métricas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endParaRPr lang="en-US" sz="2000" err="1"/>
          </a:p>
          <a:p>
            <a:pPr marL="285750" indent="-285750"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Gestionar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usuarios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y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permisos</a:t>
            </a:r>
            <a:endParaRPr lang="en-US" sz="2000" err="1"/>
          </a:p>
          <a:p>
            <a:pPr marL="285750" indent="-285750"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Revisar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 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auditorías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y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actividad</a:t>
            </a:r>
            <a:endParaRPr lang="en-US" sz="200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F30D9-367B-D421-2BF9-533AF1E13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924" y="2375242"/>
            <a:ext cx="6167502" cy="409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59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E6A11-1811-FB9A-F254-C8BF5E58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6A4D-C842-44C5-1B2D-955391E4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MICROSOFT FABRIC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74581-508A-3DF2-2484-5E737871810F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0F97F-38CB-7896-8093-472B9904717C}"/>
              </a:ext>
            </a:extLst>
          </p:cNvPr>
          <p:cNvSpPr txBox="1"/>
          <p:nvPr/>
        </p:nvSpPr>
        <p:spPr>
          <a:xfrm>
            <a:off x="518999" y="1712897"/>
            <a:ext cx="1100472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¿QUE ES ?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424242"/>
                </a:solidFill>
              </a:rPr>
              <a:t>Microsoft Fabric es </a:t>
            </a:r>
            <a:r>
              <a:rPr lang="en-US" sz="2000" err="1">
                <a:solidFill>
                  <a:srgbClr val="424242"/>
                </a:solidFill>
              </a:rPr>
              <a:t>una</a:t>
            </a:r>
            <a:r>
              <a:rPr lang="en-US" sz="2000">
                <a:solidFill>
                  <a:srgbClr val="424242"/>
                </a:solidFill>
              </a:rPr>
              <a:t> </a:t>
            </a:r>
            <a:r>
              <a:rPr lang="en-US" sz="2000" b="1" err="1">
                <a:solidFill>
                  <a:srgbClr val="424242"/>
                </a:solidFill>
              </a:rPr>
              <a:t>plataforma</a:t>
            </a:r>
            <a:r>
              <a:rPr lang="en-US" sz="2000" b="1">
                <a:solidFill>
                  <a:srgbClr val="424242"/>
                </a:solidFill>
              </a:rPr>
              <a:t> de </a:t>
            </a:r>
            <a:r>
              <a:rPr lang="en-US" sz="2000" b="1" err="1">
                <a:solidFill>
                  <a:srgbClr val="424242"/>
                </a:solidFill>
              </a:rPr>
              <a:t>análisis</a:t>
            </a:r>
            <a:r>
              <a:rPr lang="en-US" sz="2000" b="1">
                <a:solidFill>
                  <a:srgbClr val="424242"/>
                </a:solidFill>
              </a:rPr>
              <a:t> de </a:t>
            </a:r>
            <a:r>
              <a:rPr lang="en-US" sz="2000" b="1" err="1">
                <a:solidFill>
                  <a:srgbClr val="424242"/>
                </a:solidFill>
              </a:rPr>
              <a:t>datos</a:t>
            </a:r>
            <a:r>
              <a:rPr lang="en-US" sz="2000" b="1">
                <a:solidFill>
                  <a:srgbClr val="424242"/>
                </a:solidFill>
              </a:rPr>
              <a:t> integral y </a:t>
            </a:r>
            <a:r>
              <a:rPr lang="en-US" sz="2000" b="1" err="1">
                <a:solidFill>
                  <a:srgbClr val="424242"/>
                </a:solidFill>
              </a:rPr>
              <a:t>unificada</a:t>
            </a:r>
            <a:r>
              <a:rPr lang="en-US" sz="2000">
                <a:solidFill>
                  <a:srgbClr val="424242"/>
                </a:solidFill>
              </a:rPr>
              <a:t>, </a:t>
            </a:r>
            <a:r>
              <a:rPr lang="en-US" sz="2000" err="1">
                <a:solidFill>
                  <a:srgbClr val="424242"/>
                </a:solidFill>
              </a:rPr>
              <a:t>diseñada</a:t>
            </a:r>
            <a:r>
              <a:rPr lang="en-US" sz="2000">
                <a:solidFill>
                  <a:srgbClr val="424242"/>
                </a:solidFill>
              </a:rPr>
              <a:t> para </a:t>
            </a:r>
            <a:r>
              <a:rPr lang="en-US" sz="2000" err="1">
                <a:solidFill>
                  <a:srgbClr val="424242"/>
                </a:solidFill>
              </a:rPr>
              <a:t>simplificar</a:t>
            </a:r>
            <a:r>
              <a:rPr lang="en-US" sz="2000">
                <a:solidFill>
                  <a:srgbClr val="424242"/>
                </a:solidFill>
              </a:rPr>
              <a:t> y </a:t>
            </a:r>
            <a:r>
              <a:rPr lang="en-US" sz="2000" err="1">
                <a:solidFill>
                  <a:srgbClr val="424242"/>
                </a:solidFill>
              </a:rPr>
              <a:t>potenciar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err="1">
                <a:solidFill>
                  <a:srgbClr val="424242"/>
                </a:solidFill>
              </a:rPr>
              <a:t>todo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err="1">
                <a:solidFill>
                  <a:srgbClr val="424242"/>
                </a:solidFill>
              </a:rPr>
              <a:t>el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err="1">
                <a:solidFill>
                  <a:srgbClr val="424242"/>
                </a:solidFill>
              </a:rPr>
              <a:t>ciclo</a:t>
            </a:r>
            <a:r>
              <a:rPr lang="en-US" sz="2000">
                <a:solidFill>
                  <a:srgbClr val="424242"/>
                </a:solidFill>
              </a:rPr>
              <a:t> de </a:t>
            </a:r>
            <a:r>
              <a:rPr lang="en-US" sz="2000" err="1">
                <a:solidFill>
                  <a:srgbClr val="424242"/>
                </a:solidFill>
              </a:rPr>
              <a:t>vida</a:t>
            </a:r>
            <a:r>
              <a:rPr lang="en-US" sz="2000">
                <a:solidFill>
                  <a:srgbClr val="424242"/>
                </a:solidFill>
              </a:rPr>
              <a:t> de </a:t>
            </a:r>
            <a:r>
              <a:rPr lang="en-US" sz="2000" err="1">
                <a:solidFill>
                  <a:srgbClr val="424242"/>
                </a:solidFill>
              </a:rPr>
              <a:t>los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err="1">
                <a:solidFill>
                  <a:srgbClr val="424242"/>
                </a:solidFill>
              </a:rPr>
              <a:t>datos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err="1">
                <a:solidFill>
                  <a:srgbClr val="424242"/>
                </a:solidFill>
              </a:rPr>
              <a:t>en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err="1">
                <a:solidFill>
                  <a:srgbClr val="424242"/>
                </a:solidFill>
              </a:rPr>
              <a:t>una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err="1">
                <a:solidFill>
                  <a:srgbClr val="424242"/>
                </a:solidFill>
              </a:rPr>
              <a:t>organización</a:t>
            </a:r>
            <a:r>
              <a:rPr lang="en-US" sz="2000">
                <a:solidFill>
                  <a:srgbClr val="424242"/>
                </a:solidFill>
              </a:rPr>
              <a:t>. Es </a:t>
            </a:r>
            <a:r>
              <a:rPr lang="en-US" sz="2000" err="1">
                <a:solidFill>
                  <a:srgbClr val="424242"/>
                </a:solidFill>
              </a:rPr>
              <a:t>una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err="1">
                <a:solidFill>
                  <a:srgbClr val="424242"/>
                </a:solidFill>
              </a:rPr>
              <a:t>solución</a:t>
            </a:r>
            <a:r>
              <a:rPr lang="en-US" sz="2000">
                <a:solidFill>
                  <a:srgbClr val="424242"/>
                </a:solidFill>
              </a:rPr>
              <a:t> SaaS (Software </a:t>
            </a:r>
            <a:r>
              <a:rPr lang="en-US" sz="2000" err="1">
                <a:solidFill>
                  <a:srgbClr val="424242"/>
                </a:solidFill>
              </a:rPr>
              <a:t>como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err="1">
                <a:solidFill>
                  <a:srgbClr val="424242"/>
                </a:solidFill>
              </a:rPr>
              <a:t>Servicio</a:t>
            </a:r>
            <a:r>
              <a:rPr lang="en-US" sz="2000">
                <a:solidFill>
                  <a:srgbClr val="424242"/>
                </a:solidFill>
              </a:rPr>
              <a:t>) que integra </a:t>
            </a:r>
            <a:r>
              <a:rPr lang="en-US" sz="2000" err="1">
                <a:solidFill>
                  <a:srgbClr val="424242"/>
                </a:solidFill>
              </a:rPr>
              <a:t>herramientas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err="1">
                <a:solidFill>
                  <a:srgbClr val="424242"/>
                </a:solidFill>
              </a:rPr>
              <a:t>como</a:t>
            </a:r>
            <a:r>
              <a:rPr lang="en-US" sz="2000">
                <a:solidFill>
                  <a:srgbClr val="424242"/>
                </a:solidFill>
              </a:rPr>
              <a:t> Power BI, Azure Synapse, Data Factory y </a:t>
            </a:r>
            <a:r>
              <a:rPr lang="en-US" sz="2000" err="1">
                <a:solidFill>
                  <a:srgbClr val="424242"/>
                </a:solidFill>
              </a:rPr>
              <a:t>más</a:t>
            </a:r>
            <a:r>
              <a:rPr lang="en-US" sz="2000">
                <a:solidFill>
                  <a:srgbClr val="424242"/>
                </a:solidFill>
              </a:rPr>
              <a:t>, </a:t>
            </a:r>
            <a:r>
              <a:rPr lang="en-US" sz="2000" err="1">
                <a:solidFill>
                  <a:srgbClr val="424242"/>
                </a:solidFill>
              </a:rPr>
              <a:t>en</a:t>
            </a:r>
            <a:r>
              <a:rPr lang="en-US" sz="2000">
                <a:solidFill>
                  <a:srgbClr val="424242"/>
                </a:solidFill>
              </a:rPr>
              <a:t> un solo </a:t>
            </a:r>
            <a:r>
              <a:rPr lang="en-US" sz="2000" err="1">
                <a:solidFill>
                  <a:srgbClr val="424242"/>
                </a:solidFill>
              </a:rPr>
              <a:t>entorno</a:t>
            </a:r>
            <a:r>
              <a:rPr lang="en-US" sz="2000">
                <a:solidFill>
                  <a:srgbClr val="424242"/>
                </a:solidFill>
              </a:rPr>
              <a:t>.</a:t>
            </a: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424242"/>
              </a:solidFill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BÁSICAMENTE: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Reune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un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único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lugar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</a:t>
            </a:r>
            <a:endParaRPr lang="en-US" sz="2000">
              <a:solidFill>
                <a:srgbClr val="424242"/>
              </a:solidFill>
            </a:endParaRPr>
          </a:p>
          <a:p>
            <a:pPr lvl="1"/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Ingeniería y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ciencia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datos</a:t>
            </a:r>
            <a:endParaRPr lang="en-US" sz="2000" err="1"/>
          </a:p>
          <a:p>
            <a:pPr lvl="1"/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Almacenamiento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y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análisis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tiempo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real</a:t>
            </a:r>
            <a:endParaRPr lang="en-US" sz="2000"/>
          </a:p>
          <a:p>
            <a:pPr lvl="1"/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Visualización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con Power BI</a:t>
            </a:r>
            <a:endParaRPr lang="en-US" sz="2000"/>
          </a:p>
          <a:p>
            <a:pPr lvl="1"/>
            <a:endParaRPr lang="en-US" sz="2000">
              <a:solidFill>
                <a:srgbClr val="424242"/>
              </a:solidFill>
            </a:endParaRPr>
          </a:p>
          <a:p>
            <a:pPr lvl="1"/>
            <a:r>
              <a:rPr lang="en-US" sz="2000">
                <a:solidFill>
                  <a:srgbClr val="424242"/>
                </a:solidFill>
                <a:ea typeface="+mn-lt"/>
                <a:cs typeface="+mn-lt"/>
                <a:hlinkClick r:id="rId3"/>
              </a:rPr>
              <a:t>Introducción | Microsoft Fabric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068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C4AB7-E90F-9B7A-F713-7F1BFBEBB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0ED3A-B4B1-8DB1-43FC-CE96FD27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MICROSOFT FABRIC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CE7EAB-247A-B99F-0A8B-1BE6305A0D7C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11464E-D1DC-1385-BBB2-00B4C2A42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02" y="1720027"/>
            <a:ext cx="10558162" cy="487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8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042A-0A1B-8369-F006-E2CFEF6E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F9B6-492F-B09C-2086-153CCFDF0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MICROSOFT FABRIC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8B42F6-ADA4-1911-D1D0-800859156618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6BB07-845A-6234-D41D-7C1EBC7F7271}"/>
              </a:ext>
            </a:extLst>
          </p:cNvPr>
          <p:cNvSpPr txBox="1"/>
          <p:nvPr/>
        </p:nvSpPr>
        <p:spPr>
          <a:xfrm>
            <a:off x="518999" y="1712897"/>
            <a:ext cx="1100472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¿QUE LO HACE DIFERENTE?</a:t>
            </a:r>
            <a:endParaRPr lang="en-US"/>
          </a:p>
          <a:p>
            <a:pPr marL="342900" indent="-342900">
              <a:buFont typeface="Calibri"/>
              <a:buChar char="-"/>
            </a:pPr>
            <a:endParaRPr lang="en-US" sz="2400"/>
          </a:p>
          <a:p>
            <a:pPr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Todo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uno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 antes, las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empresas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usaban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herramientas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separadas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(Power BI, Synapse, Data Factory). Fabric las integra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una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sola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experiencia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Colaboración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sin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fricciones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todos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los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usuarios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trabajan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sobre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la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misma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versión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los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datos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Escalabilidad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y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gobernanza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 ideal tanto para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pequeñas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empresas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como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para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grandes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corporaciones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424242"/>
              </a:solidFill>
            </a:endParaRP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86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48062-6653-AA3F-9B8E-C60C61106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EA29-41B8-5D35-F7C9-B83A8DD17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MICROSOFT FABRIC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130E25-774B-9962-E61B-4A246B3E4F11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A2D03-9A0E-82AF-B85E-D5CAF2029DBB}"/>
              </a:ext>
            </a:extLst>
          </p:cNvPr>
          <p:cNvSpPr txBox="1"/>
          <p:nvPr/>
        </p:nvSpPr>
        <p:spPr>
          <a:xfrm>
            <a:off x="518999" y="1712897"/>
            <a:ext cx="1100472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¿PARA QUE SE UTILIZA?</a:t>
            </a:r>
            <a:endParaRPr lang="en-US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>
              <a:buFont typeface="Arial"/>
              <a:buChar char="•"/>
            </a:pP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Crear dashboards e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informes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interactivos</a:t>
            </a:r>
            <a:endParaRPr lang="en-US" sz="2400" err="1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Procesar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grandes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volúmenes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datos</a:t>
            </a:r>
            <a:endParaRPr lang="en-US" sz="2400" err="1"/>
          </a:p>
          <a:p>
            <a:pPr>
              <a:buFont typeface="Arial"/>
              <a:buChar char="•"/>
            </a:pP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Desarrollar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modelos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de machine learning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Analizar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datos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tiempo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real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Centralizar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y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gobernar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datos</a:t>
            </a:r>
            <a:r>
              <a:rPr lang="en-US" sz="24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424242"/>
                </a:solidFill>
                <a:ea typeface="+mn-lt"/>
                <a:cs typeface="+mn-lt"/>
              </a:rPr>
              <a:t>empresariales</a:t>
            </a:r>
            <a:endParaRPr lang="en-US" sz="2400" err="1"/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577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6C80D-E218-72CD-E222-1AED8B76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06FF7F5-8BE7-4BAF-CE5B-06C11D92C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499A95D-2602-D607-D4D6-AB89FDA8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CF3F823-1112-C8F9-D2EA-74F01191E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Gráficas financieras en una pantalla oscura">
            <a:extLst>
              <a:ext uri="{FF2B5EF4-FFF2-40B4-BE49-F238E27FC236}">
                <a16:creationId xmlns:a16="http://schemas.microsoft.com/office/drawing/2014/main" id="{2071C793-1E7A-4164-BADD-D781249AA1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7" r="6" b="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AA1C3F2-5925-D023-373B-803FFDC9D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E9AB9-D1C3-9783-8F2C-956B600D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1368478"/>
            <a:ext cx="11086221" cy="330951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6600"/>
              <a:t>RECURSOS</a:t>
            </a:r>
            <a:br>
              <a:rPr lang="en-US" sz="6600"/>
            </a:br>
            <a:endParaRPr lang="en-US" sz="5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7A9B98-92F9-C811-C81E-816052259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99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50C6-293D-474D-63D6-730044F1F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CEDAE-86E4-81AA-3FFB-345DD6E12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RECURSOS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A68089-4431-E87F-48E3-C73F6DE93AE2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83D42-E806-08C4-DF19-1FD3EA1BB787}"/>
              </a:ext>
            </a:extLst>
          </p:cNvPr>
          <p:cNvSpPr txBox="1"/>
          <p:nvPr/>
        </p:nvSpPr>
        <p:spPr>
          <a:xfrm>
            <a:off x="525863" y="1712897"/>
            <a:ext cx="11142018" cy="30162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01 - RECURSOS OFICIALES DE MICROSOFT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Microsoft Learn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cursos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interactivos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gratuitos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Documentación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oficial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de Power BI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guías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técnicas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,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actualizaciones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y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ejemplos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Power BI Community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foros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, ideas,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eventos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y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soporte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técnico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Power BI Blog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novedades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mensuales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y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casos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uso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endParaRPr lang="en-US" sz="2000">
              <a:solidFill>
                <a:srgbClr val="424242"/>
              </a:solidFill>
            </a:endParaRPr>
          </a:p>
          <a:p>
            <a:r>
              <a:rPr lang="en-US" sz="2000" b="1" err="1">
                <a:solidFill>
                  <a:srgbClr val="424242"/>
                </a:solidFill>
              </a:rPr>
              <a:t>Certificacion</a:t>
            </a:r>
            <a:r>
              <a:rPr lang="en-US" sz="2000" b="1">
                <a:solidFill>
                  <a:srgbClr val="424242"/>
                </a:solidFill>
              </a:rPr>
              <a:t> PL-300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10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15758-6C37-12EA-4DCC-713C17C9A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7396-98EA-CD25-C56E-DF5D91D0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RECURSOS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DFFF4A-5085-DC04-9846-1CBE8E7B74D3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95018-EC96-3284-CD5E-4D6AD87DEC9D}"/>
              </a:ext>
            </a:extLst>
          </p:cNvPr>
          <p:cNvSpPr txBox="1"/>
          <p:nvPr/>
        </p:nvSpPr>
        <p:spPr>
          <a:xfrm>
            <a:off x="525863" y="1712897"/>
            <a:ext cx="11142018" cy="36317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02 - PLATAFORMAS DE APRENDIZAJE ONLINE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Gratuitas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Coursera, edX, YouTube, Kaggle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Cursos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gratuitos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universidades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y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empresas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endParaRPr lang="en-US" sz="2000">
              <a:solidFill>
                <a:srgbClr val="424242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De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pago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(con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opción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de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prueba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gratuita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)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Udemy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cursos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muy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valorados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como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“Power BI A-Z”.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LinkedIn Learning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acceso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con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cuenta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educativa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o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empresarial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pPr marL="742950" lvl="1" indent="-285750"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Pluralsight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cursos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técnicos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avanzados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/>
          </a:p>
          <a:p>
            <a:pPr>
              <a:buFont typeface="Arial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69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7FC34-07F7-9CE0-7A5D-6061AD1D3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8955E-C574-B931-B6CB-60123776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RECURSOS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838633-6036-7C8C-C79D-9FA3295C9586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CBAC3-A482-EC5C-8CE5-680E1D72D039}"/>
              </a:ext>
            </a:extLst>
          </p:cNvPr>
          <p:cNvSpPr txBox="1"/>
          <p:nvPr/>
        </p:nvSpPr>
        <p:spPr>
          <a:xfrm>
            <a:off x="525863" y="1712897"/>
            <a:ext cx="11142018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03 - CANALES DE YOUTUBE Y COMUNIDADES ACTIVAS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Canales </a:t>
            </a: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recomendados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</a:t>
            </a:r>
            <a:endParaRPr lang="en-US" sz="2000">
              <a:solidFill>
                <a:srgbClr val="424242"/>
              </a:solidFill>
            </a:endParaRPr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Guy in a Cube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Leila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Gharani</a:t>
            </a:r>
            <a:endParaRPr lang="en-US" sz="2000" err="1"/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How to Power BI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Curbal</a:t>
            </a:r>
            <a:endParaRPr lang="en-US" sz="2000" err="1"/>
          </a:p>
          <a:p>
            <a:pPr lvl="1">
              <a:buFont typeface="Arial"/>
              <a:buChar char="•"/>
            </a:pPr>
            <a:endParaRPr lang="en-US" sz="2000">
              <a:solidFill>
                <a:srgbClr val="424242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b="1" err="1">
                <a:solidFill>
                  <a:srgbClr val="424242"/>
                </a:solidFill>
                <a:ea typeface="+mn-lt"/>
                <a:cs typeface="+mn-lt"/>
              </a:rPr>
              <a:t>Comunidades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Reddit: r/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PowerBI</a:t>
            </a:r>
            <a:endParaRPr lang="en-US" sz="2000" err="1"/>
          </a:p>
          <a:p>
            <a:pPr lvl="1"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Grupos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de LinkedIn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Meetups locales -&gt; </a:t>
            </a: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POWER BI &amp; FABRIC MÁLAGA</a:t>
            </a:r>
            <a:endParaRPr lang="en-US" sz="2000" b="1">
              <a:solidFill>
                <a:srgbClr val="424242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solidFill>
                <a:srgbClr val="424242"/>
              </a:solidFill>
            </a:endParaRPr>
          </a:p>
          <a:p>
            <a:pPr>
              <a:buFont typeface="Arial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73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DC922-22E8-4027-AD8C-FC62FDC2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39E5-3B90-2BFF-ED1D-BADB4F511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RECURSOS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B5C9ED-F528-04E0-FB56-38F96F2BD522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63671-250D-766B-426A-D0438132EC24}"/>
              </a:ext>
            </a:extLst>
          </p:cNvPr>
          <p:cNvSpPr txBox="1"/>
          <p:nvPr/>
        </p:nvSpPr>
        <p:spPr>
          <a:xfrm>
            <a:off x="525863" y="1712897"/>
            <a:ext cx="11142018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04 - BLOGS Y LIBROS RECOMENDADOS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Blogs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</a:t>
            </a:r>
            <a:endParaRPr lang="en-US" sz="2000">
              <a:solidFill>
                <a:srgbClr val="424242"/>
              </a:solidFill>
            </a:endParaRPr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SQLBI.com (Marco Russo y Alberto Ferrari)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RADACAD (Reza Rad)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Newsletters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Power BI Weekly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DataChant</a:t>
            </a:r>
            <a:endParaRPr lang="en-US" sz="2000" err="1"/>
          </a:p>
          <a:p>
            <a:pPr>
              <a:buFont typeface="Arial"/>
              <a:buChar char="•"/>
            </a:pPr>
            <a:r>
              <a:rPr lang="en-US" sz="2000" b="1">
                <a:solidFill>
                  <a:srgbClr val="424242"/>
                </a:solidFill>
                <a:ea typeface="+mn-lt"/>
                <a:cs typeface="+mn-lt"/>
              </a:rPr>
              <a:t>Libros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“The Definitive Guide to DAX</a:t>
            </a:r>
            <a:r>
              <a:rPr lang="en-US" sz="1200">
                <a:solidFill>
                  <a:srgbClr val="424242"/>
                </a:solidFill>
                <a:ea typeface="+mn-lt"/>
                <a:cs typeface="+mn-lt"/>
              </a:rPr>
              <a:t>”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“Power BI Cookbook”</a:t>
            </a:r>
            <a:endParaRPr lang="en-US" sz="2000"/>
          </a:p>
          <a:p>
            <a:endParaRPr lang="en-US" sz="2000">
              <a:solidFill>
                <a:srgbClr val="424242"/>
              </a:solidFill>
            </a:endParaRPr>
          </a:p>
          <a:p>
            <a:pPr>
              <a:buFont typeface="Arial"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545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6549-26F9-BD1E-83A2-FA874301C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293A-3335-233E-3EF9-1FDC1099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RECURSOS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AF1260-A702-E5BD-B2BB-91D3D0F0BC5B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78ED2-2FBB-17EC-A395-2C913FD361C9}"/>
              </a:ext>
            </a:extLst>
          </p:cNvPr>
          <p:cNvSpPr txBox="1"/>
          <p:nvPr/>
        </p:nvSpPr>
        <p:spPr>
          <a:xfrm>
            <a:off x="525863" y="1712897"/>
            <a:ext cx="11142018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05 – CONSEJOS 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Aprender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haciendo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: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replicar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dashboards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reales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sz="2000" b="1">
              <a:solidFill>
                <a:srgbClr val="424242"/>
              </a:solidFill>
            </a:endParaRPr>
          </a:p>
          <a:p>
            <a:pPr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Usar conjuntos de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datos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públicos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(Kaggle, datos.gob.es).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Participar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desafíos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como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#MakeoverMonday o #WorkoutWednesday.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Documentar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el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aprendizaje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en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un blog o LinkedIn.</a:t>
            </a:r>
            <a:endParaRPr lang="en-US" sz="2000"/>
          </a:p>
          <a:p>
            <a:endParaRPr lang="en-US" sz="2000" b="1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957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79B33-40CA-330E-5AF8-96154A2EE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CE2FC-F832-93DC-BA71-6BE392F6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/>
              <a:t>RECURSOS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7E49B5-3D7F-B050-BFB1-A2ACCC9F4421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C5A9C-B901-75FE-15CD-022B916A959E}"/>
              </a:ext>
            </a:extLst>
          </p:cNvPr>
          <p:cNvSpPr txBox="1"/>
          <p:nvPr/>
        </p:nvSpPr>
        <p:spPr>
          <a:xfrm>
            <a:off x="525863" y="1712897"/>
            <a:ext cx="11142018" cy="2431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06 – EJERCICIOS PRÁCTICOS Y RETOS ONLINE </a:t>
            </a:r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pPr>
              <a:buFont typeface="Arial"/>
              <a:buChar char="•"/>
            </a:pP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Mostrar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424242"/>
                </a:solidFill>
                <a:ea typeface="+mn-lt"/>
                <a:cs typeface="+mn-lt"/>
              </a:rPr>
              <a:t>ejemplos</a:t>
            </a: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 de retos:</a:t>
            </a:r>
            <a:endParaRPr lang="en-US" sz="2000">
              <a:solidFill>
                <a:srgbClr val="424242"/>
              </a:solidFill>
            </a:endParaRPr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Power BI Challenges de Enterprise DNA</a:t>
            </a:r>
            <a:endParaRPr lang="en-US" sz="2000"/>
          </a:p>
          <a:p>
            <a:pPr lvl="1">
              <a:buFont typeface="Arial"/>
              <a:buChar char="•"/>
            </a:pPr>
            <a:r>
              <a:rPr lang="en-US" sz="2000">
                <a:solidFill>
                  <a:srgbClr val="424242"/>
                </a:solidFill>
                <a:ea typeface="+mn-lt"/>
                <a:cs typeface="+mn-lt"/>
              </a:rPr>
              <a:t>Data Visualization Challenges</a:t>
            </a:r>
            <a:endParaRPr lang="en-US" sz="2000"/>
          </a:p>
          <a:p>
            <a:pPr>
              <a:buFont typeface="Arial"/>
              <a:buChar char="•"/>
            </a:pPr>
            <a:endParaRPr lang="en-US" sz="2000">
              <a:solidFill>
                <a:srgbClr val="424242"/>
              </a:solidFill>
            </a:endParaRPr>
          </a:p>
          <a:p>
            <a:endParaRPr lang="en-US" sz="2000" b="1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624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A3EA1F-F3AB-06E8-2F2D-7B4E3A7B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0BF48-8D8F-8AE9-BCAF-327E4D3EF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BB13CFA-6FE4-526C-C6D7-7684142DE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D67C090-9597-EE42-FCC0-1E9337E98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Gráficas financieras en una pantalla oscura">
            <a:extLst>
              <a:ext uri="{FF2B5EF4-FFF2-40B4-BE49-F238E27FC236}">
                <a16:creationId xmlns:a16="http://schemas.microsoft.com/office/drawing/2014/main" id="{086F1A09-701B-7B6D-20D3-2CF5CB13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7" r="6" b="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D143217-5D25-B281-7FFB-FABEA9279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97601-6492-0ACA-7508-7770ADE79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1368478"/>
            <a:ext cx="11086221" cy="330951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endParaRPr lang="en-US" sz="66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F8F493-3924-B421-7854-DFB9EBB75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98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EBC4C-733E-E0F4-1DB3-EC568A1F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E7A3340-D0E4-E802-D288-9388FE493875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pic>
        <p:nvPicPr>
          <p:cNvPr id="3" name="Picture 2" descr="Resultado de imagen para gif de presentaciones | Día del ingeniero, Gif ...">
            <a:extLst>
              <a:ext uri="{FF2B5EF4-FFF2-40B4-BE49-F238E27FC236}">
                <a16:creationId xmlns:a16="http://schemas.microsoft.com/office/drawing/2014/main" id="{7394CD9D-FAA7-B071-D849-D4703F20D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8" y="913742"/>
            <a:ext cx="7706494" cy="34447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706651-4B61-D475-E5D5-3F0339ED133E}"/>
              </a:ext>
            </a:extLst>
          </p:cNvPr>
          <p:cNvSpPr txBox="1"/>
          <p:nvPr/>
        </p:nvSpPr>
        <p:spPr>
          <a:xfrm>
            <a:off x="525863" y="4596140"/>
            <a:ext cx="11142018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/>
              <a:t>NO!!! SI TENÉIS ALGUNA DUDA</a:t>
            </a:r>
          </a:p>
          <a:p>
            <a:pPr marL="342900" indent="-342900">
              <a:buFont typeface="Arial"/>
              <a:buChar char="•"/>
            </a:pPr>
            <a:r>
              <a:rPr lang="en-US" err="1"/>
              <a:t>Escribirme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Linkedin</a:t>
            </a:r>
            <a:r>
              <a:rPr lang="en-US"/>
              <a:t> - Enrique Roman Peláez</a:t>
            </a:r>
          </a:p>
          <a:p>
            <a:pPr marL="342900" indent="-342900"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</a:rPr>
              <a:t>Veniros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en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una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charla</a:t>
            </a:r>
            <a:r>
              <a:rPr lang="en-US">
                <a:solidFill>
                  <a:srgbClr val="000000"/>
                </a:solidFill>
              </a:rPr>
              <a:t> de Meetup.</a:t>
            </a:r>
          </a:p>
          <a:p>
            <a:pPr marL="342900" indent="-342900"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</a:rPr>
              <a:t>Quedamos</a:t>
            </a:r>
            <a:r>
              <a:rPr lang="en-US">
                <a:solidFill>
                  <a:srgbClr val="000000"/>
                </a:solidFill>
              </a:rPr>
              <a:t> para </a:t>
            </a:r>
            <a:r>
              <a:rPr lang="en-US" err="1">
                <a:solidFill>
                  <a:srgbClr val="000000"/>
                </a:solidFill>
              </a:rPr>
              <a:t>tomar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una</a:t>
            </a:r>
            <a:r>
              <a:rPr lang="en-US">
                <a:solidFill>
                  <a:srgbClr val="000000"/>
                </a:solidFill>
              </a:rPr>
              <a:t> cerveza.</a:t>
            </a:r>
          </a:p>
          <a:p>
            <a:endParaRPr lang="en-US" sz="2000" b="1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144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B0203-52F9-303F-42D5-57A67203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6CE652F-78A1-1ECC-6C04-56067BCC8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Gráfico económico digital">
            <a:extLst>
              <a:ext uri="{FF2B5EF4-FFF2-40B4-BE49-F238E27FC236}">
                <a16:creationId xmlns:a16="http://schemas.microsoft.com/office/drawing/2014/main" id="{9B90F332-A6B2-8D74-5A87-46543F5576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338DD4D-704C-0643-AD1B-7EE043E0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9CB29E-5567-119E-E868-94C3FF8B2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9411854" cy="41153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8800">
                <a:solidFill>
                  <a:srgbClr val="FFFFFF"/>
                </a:solidFill>
              </a:rPr>
              <a:t>Gracias</a:t>
            </a:r>
            <a:br>
              <a:rPr lang="es-ES" sz="8000"/>
            </a:br>
            <a:br>
              <a:rPr lang="es-ES" sz="8000"/>
            </a:br>
            <a:r>
              <a:rPr lang="es-ES" sz="8000">
                <a:solidFill>
                  <a:srgbClr val="FFFFFF"/>
                </a:solidFill>
              </a:rPr>
              <a:t>FINAL SESION 09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B692A6-D924-9C42-88FE-82E265BED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18186-CBB6-C874-399C-D74E134EA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039" y="6171871"/>
            <a:ext cx="1777233" cy="461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D043A5-587F-A33A-5DAD-E9BC44CA0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876" y="6171543"/>
            <a:ext cx="1841281" cy="46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43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GestaltVTI</vt:lpstr>
      <vt:lpstr>ANALÍTICA DE DATOS  Y POWER BI  SESION 09  MODELADO Y VISUALIZACION DE DATOS</vt:lpstr>
      <vt:lpstr>SESIONES PENDIENTES</vt:lpstr>
      <vt:lpstr>SOBRE ESTE CURSO</vt:lpstr>
      <vt:lpstr>SOBRE ESTE CURSO</vt:lpstr>
      <vt:lpstr>PRUEBA DE CREACIÓN DE INFORME </vt:lpstr>
      <vt:lpstr>CENTRO DE ADMINISTRACION DE POWER BI </vt:lpstr>
      <vt:lpstr>CENTRO DE ADMINISTRACION</vt:lpstr>
      <vt:lpstr>CENTRO DE ADMINISTRACION</vt:lpstr>
      <vt:lpstr>CENTRO DE ADMINISTRACION</vt:lpstr>
      <vt:lpstr>MICROSOFT FABRIC</vt:lpstr>
      <vt:lpstr>MICROSOFT FABRIC</vt:lpstr>
      <vt:lpstr>MICROSOFT FABRIC</vt:lpstr>
      <vt:lpstr>MICROSOFT FABRIC</vt:lpstr>
      <vt:lpstr>RECURSOS </vt:lpstr>
      <vt:lpstr>RECURSOS</vt:lpstr>
      <vt:lpstr>RECURSOS</vt:lpstr>
      <vt:lpstr>RECURSOS</vt:lpstr>
      <vt:lpstr>RECURSOS</vt:lpstr>
      <vt:lpstr>RECURSOS</vt:lpstr>
      <vt:lpstr>RECURSOS</vt:lpstr>
      <vt:lpstr>PowerPoint Presentation</vt:lpstr>
      <vt:lpstr>PowerPoint Presentation</vt:lpstr>
      <vt:lpstr>Gracias  FINAL SESION 09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2025-05-06T11:53:30Z</dcterms:created>
  <dcterms:modified xsi:type="dcterms:W3CDTF">2025-07-17T18:06:59Z</dcterms:modified>
</cp:coreProperties>
</file>